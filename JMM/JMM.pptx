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D0F14-7D7D-49D3-B19F-A3BEE684E58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2959B-5CF2-4A2F-AE1D-9ED7CB784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34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36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46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97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41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72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64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40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16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24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95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EED534-9AE0-4D8C-9793-BCAF7B952936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B790A0-D58A-4FEA-A8AF-14AB220B026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50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Memory Model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445562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Фищенко</a:t>
            </a:r>
            <a:r>
              <a:rPr lang="ru-RU" dirty="0" smtClean="0"/>
              <a:t> Алексей </a:t>
            </a:r>
            <a:r>
              <a:rPr lang="ru-RU" dirty="0" err="1" smtClean="0"/>
              <a:t>Садовин</a:t>
            </a:r>
            <a:r>
              <a:rPr lang="ru-RU" dirty="0" smtClean="0"/>
              <a:t> Александр 5030102</a:t>
            </a:r>
            <a:r>
              <a:rPr lang="en-US" dirty="0" smtClean="0"/>
              <a:t>/40002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01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As-if-serial </a:t>
            </a:r>
            <a:r>
              <a:rPr lang="ru-RU" dirty="0" smtClean="0"/>
              <a:t>семантика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0717" y="1845734"/>
            <a:ext cx="11300604" cy="4023360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int</a:t>
            </a:r>
            <a:r>
              <a:rPr lang="en-US" b="1" dirty="0" smtClean="0"/>
              <a:t> a = 1; // </a:t>
            </a:r>
            <a:r>
              <a:rPr lang="ru-RU" b="1" dirty="0" smtClean="0"/>
              <a:t>Шаг </a:t>
            </a:r>
            <a:r>
              <a:rPr lang="en-US" b="1" dirty="0" smtClean="0"/>
              <a:t>1</a:t>
            </a:r>
          </a:p>
          <a:p>
            <a:r>
              <a:rPr lang="en-US" b="1" dirty="0" err="1" smtClean="0"/>
              <a:t>Int</a:t>
            </a:r>
            <a:r>
              <a:rPr lang="en-US" b="1" dirty="0" smtClean="0"/>
              <a:t> b = 2; // </a:t>
            </a:r>
            <a:r>
              <a:rPr lang="ru-RU" b="1" dirty="0" smtClean="0"/>
              <a:t>Шаг </a:t>
            </a:r>
            <a:r>
              <a:rPr lang="en-US" b="1" dirty="0" smtClean="0"/>
              <a:t>2</a:t>
            </a:r>
          </a:p>
          <a:p>
            <a:r>
              <a:rPr lang="en-US" b="1" dirty="0" err="1" smtClean="0"/>
              <a:t>Int</a:t>
            </a:r>
            <a:r>
              <a:rPr lang="en-US" b="1" dirty="0" smtClean="0"/>
              <a:t> c = a + b; // </a:t>
            </a:r>
            <a:r>
              <a:rPr lang="ru-RU" b="1" dirty="0" smtClean="0"/>
              <a:t>Шаг </a:t>
            </a:r>
            <a:r>
              <a:rPr lang="en-US" b="1" dirty="0" smtClean="0"/>
              <a:t>3</a:t>
            </a:r>
            <a:endParaRPr lang="ru-RU" b="1" dirty="0" smtClean="0"/>
          </a:p>
          <a:p>
            <a:endParaRPr lang="en-US" dirty="0" smtClean="0"/>
          </a:p>
          <a:p>
            <a:pPr lvl="0"/>
            <a:r>
              <a:rPr lang="ru-RU" dirty="0"/>
              <a:t>Шаг 1 и Шаг 2 никак не зависят друг от друга. Неважно, что выполнится первым — a = 1 или b = 2.</a:t>
            </a:r>
          </a:p>
          <a:p>
            <a:pPr lvl="0"/>
            <a:r>
              <a:rPr lang="ru-RU" dirty="0"/>
              <a:t>А вот Шаг 3 напрямую зависит от первых двух. Его нельзя делать раньше, чем мы узнаем a и b.</a:t>
            </a:r>
          </a:p>
          <a:p>
            <a:pPr lvl="0"/>
            <a:r>
              <a:rPr lang="ru-RU" b="1" dirty="0"/>
              <a:t>И операции могут выполняться, как и в последовательность 1 – 2 - 3, так и в последовательности 2 – 1 - 3.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02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</a:t>
            </a:r>
            <a:r>
              <a:rPr lang="ru-RU" dirty="0" err="1" smtClean="0"/>
              <a:t>многопоточности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Правило </a:t>
            </a:r>
            <a:r>
              <a:rPr lang="ru-RU" i="1" dirty="0" err="1"/>
              <a:t>as-if-serial</a:t>
            </a:r>
            <a:r>
              <a:rPr lang="ru-RU" dirty="0"/>
              <a:t> защищает только </a:t>
            </a:r>
            <a:r>
              <a:rPr lang="ru-RU" b="1" dirty="0"/>
              <a:t>один</a:t>
            </a:r>
            <a:r>
              <a:rPr lang="ru-RU" dirty="0"/>
              <a:t> поток. Процессор не знает и не проверяет, читает ли параллельно другой поток эти же переменные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Поток </a:t>
            </a:r>
            <a:r>
              <a:rPr lang="ru-RU" dirty="0"/>
              <a:t>1 </a:t>
            </a:r>
            <a:r>
              <a:rPr lang="ru-RU" dirty="0" smtClean="0"/>
              <a:t>может переставить </a:t>
            </a:r>
            <a:r>
              <a:rPr lang="ru-RU" dirty="0"/>
              <a:t>строчки местами, Поток 2 видит, что </a:t>
            </a:r>
            <a:r>
              <a:rPr lang="ru-RU" dirty="0" err="1"/>
              <a:t>ready</a:t>
            </a:r>
            <a:r>
              <a:rPr lang="ru-RU" dirty="0"/>
              <a:t> == </a:t>
            </a:r>
            <a:r>
              <a:rPr lang="ru-RU" dirty="0" err="1"/>
              <a:t>true</a:t>
            </a:r>
            <a:r>
              <a:rPr lang="ru-RU" dirty="0"/>
              <a:t>, заходит в условие и печатает x.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Но </a:t>
            </a:r>
            <a:r>
              <a:rPr lang="ru-RU" dirty="0"/>
              <a:t>Шаг 1 в Потоке 1 еще не успел выполниться, и вместо 42 Поток 2 печатает 0.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2751826"/>
            <a:ext cx="2801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1:</a:t>
            </a:r>
            <a:endParaRPr lang="ru-RU" dirty="0"/>
          </a:p>
          <a:p>
            <a:r>
              <a:rPr lang="en-US" dirty="0"/>
              <a:t>x = 42;         </a:t>
            </a:r>
            <a:endParaRPr lang="ru-RU" dirty="0"/>
          </a:p>
          <a:p>
            <a:r>
              <a:rPr lang="en-US" dirty="0"/>
              <a:t>ready = true;   </a:t>
            </a:r>
            <a:endParaRPr lang="ru-RU" dirty="0"/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701574" y="2751826"/>
            <a:ext cx="3615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2:</a:t>
            </a:r>
            <a:endParaRPr lang="ru-RU" dirty="0"/>
          </a:p>
          <a:p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ready</a:t>
            </a:r>
            <a:r>
              <a:rPr lang="ru-RU" dirty="0"/>
              <a:t>) {</a:t>
            </a:r>
          </a:p>
          <a:p>
            <a:r>
              <a:rPr lang="ru-RU" dirty="0"/>
              <a:t>    </a:t>
            </a:r>
            <a:r>
              <a:rPr lang="en-US" dirty="0" err="1"/>
              <a:t>Sustem</a:t>
            </a:r>
            <a:r>
              <a:rPr lang="ru-RU" dirty="0"/>
              <a:t>.</a:t>
            </a:r>
            <a:r>
              <a:rPr lang="en-US" dirty="0"/>
              <a:t>out</a:t>
            </a:r>
            <a:r>
              <a:rPr lang="ru-RU" dirty="0"/>
              <a:t>.</a:t>
            </a:r>
            <a:r>
              <a:rPr lang="en-US" dirty="0" err="1"/>
              <a:t>println</a:t>
            </a:r>
            <a:r>
              <a:rPr lang="ru-RU" dirty="0"/>
              <a:t>(x);</a:t>
            </a:r>
          </a:p>
          <a:p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03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Одним из решений будет создание </a:t>
            </a:r>
            <a:r>
              <a:rPr lang="ru-RU" dirty="0"/>
              <a:t>так называемой модели памяти (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), которая строго описывает какое выполнение программы является валидным. Модель памяти делает легальными многие оптимизации компилятора, JVM и процессора, но в то же время закрепляет условия, при которых программа будет вести себя корректно в многопоточной среде даже в присутствие оптимизаций. </a:t>
            </a:r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модель памяти</a:t>
            </a:r>
            <a:r>
              <a:rPr lang="ru-RU" dirty="0" smtClean="0"/>
              <a:t>: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Разрешает выполнение различных оптимизаций компилятора, JVM или процессора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Строго закрепляет условия, при которых программа считается правильно синхронизированной, и закрепляет поведение правильно синхронизированных </a:t>
            </a:r>
            <a:r>
              <a:rPr lang="ru-RU" dirty="0" smtClean="0"/>
              <a:t>программ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Описывает отношение между высокоуровневым кодом и </a:t>
            </a:r>
            <a:r>
              <a:rPr lang="ru-RU" dirty="0" smtClean="0"/>
              <a:t>памятью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550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гарантии </a:t>
            </a:r>
            <a:r>
              <a:rPr lang="en-US" dirty="0" smtClean="0"/>
              <a:t>JMM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dirty="0"/>
              <a:t>Отсутствие значений «из воздуха</a:t>
            </a:r>
            <a:r>
              <a:rPr lang="ru-RU" dirty="0" smtClean="0"/>
              <a:t>»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Безопасность </a:t>
            </a:r>
            <a:r>
              <a:rPr lang="ru-RU" dirty="0" smtClean="0"/>
              <a:t>инициализации</a:t>
            </a:r>
            <a:endParaRPr lang="en-US" dirty="0" smtClean="0"/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О</a:t>
            </a:r>
            <a:r>
              <a:rPr lang="ru-RU" dirty="0" smtClean="0"/>
              <a:t>днопоточные </a:t>
            </a:r>
            <a:r>
              <a:rPr lang="ru-RU" dirty="0"/>
              <a:t>программы исполняются </a:t>
            </a:r>
            <a:r>
              <a:rPr lang="ru-RU" dirty="0" err="1" smtClean="0"/>
              <a:t>псевдопоследовательно</a:t>
            </a:r>
            <a:endParaRPr lang="ru-RU" dirty="0" smtClean="0"/>
          </a:p>
          <a:p>
            <a:pPr marL="457200" lvl="0" indent="-457200">
              <a:buFont typeface="+mj-lt"/>
              <a:buAutoNum type="arabicPeriod"/>
            </a:pPr>
            <a:r>
              <a:rPr lang="ru-RU" dirty="0" smtClean="0"/>
              <a:t>Гарантия </a:t>
            </a:r>
            <a:r>
              <a:rPr lang="ru-RU" dirty="0"/>
              <a:t>видимости (</a:t>
            </a:r>
            <a:r>
              <a:rPr lang="ru-RU" dirty="0" err="1" smtClean="0"/>
              <a:t>Visibility</a:t>
            </a:r>
            <a:r>
              <a:rPr lang="ru-RU" dirty="0" smtClean="0"/>
              <a:t>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JMM</a:t>
            </a:r>
            <a:r>
              <a:rPr lang="ru-RU" dirty="0" smtClean="0"/>
              <a:t> </a:t>
            </a:r>
            <a:r>
              <a:rPr lang="ru-RU" dirty="0"/>
              <a:t>намеренно разрешает переупорядочивание инструкций там, где это не нарушает </a:t>
            </a:r>
            <a:r>
              <a:rPr lang="ru-RU" dirty="0" smtClean="0"/>
              <a:t>логику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Упорядочивание (</a:t>
            </a:r>
            <a:r>
              <a:rPr lang="ru-RU" dirty="0" err="1" smtClean="0"/>
              <a:t>Ordering</a:t>
            </a:r>
            <a:r>
              <a:rPr lang="ru-RU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756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Ordering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Ordering</a:t>
            </a:r>
            <a:r>
              <a:rPr lang="ru-RU" dirty="0"/>
              <a:t> описывает наблюдаемый программой порядок, в котором происходят действия с </a:t>
            </a:r>
            <a:r>
              <a:rPr lang="ru-RU" dirty="0" smtClean="0"/>
              <a:t>памятью.</a:t>
            </a:r>
          </a:p>
          <a:p>
            <a:r>
              <a:rPr lang="ru-RU" dirty="0" smtClean="0"/>
              <a:t>Со стороны программы кажется, что:</a:t>
            </a:r>
            <a:br>
              <a:rPr lang="ru-RU" dirty="0" smtClean="0"/>
            </a:br>
            <a:r>
              <a:rPr lang="en-US" dirty="0"/>
              <a:t> </a:t>
            </a:r>
            <a:r>
              <a:rPr lang="ru-RU" dirty="0" smtClean="0"/>
              <a:t>1. Существует </a:t>
            </a:r>
            <a:r>
              <a:rPr lang="ru-RU" dirty="0"/>
              <a:t>единая общая </a:t>
            </a:r>
            <a:r>
              <a:rPr lang="ru-RU" dirty="0" smtClean="0"/>
              <a:t>память</a:t>
            </a:r>
            <a:br>
              <a:rPr lang="ru-RU" dirty="0" smtClean="0"/>
            </a:br>
            <a:r>
              <a:rPr lang="en-US" dirty="0" smtClean="0"/>
              <a:t> </a:t>
            </a:r>
            <a:r>
              <a:rPr lang="ru-RU" dirty="0" smtClean="0"/>
              <a:t>2. </a:t>
            </a:r>
            <a:r>
              <a:rPr lang="ru-RU" dirty="0"/>
              <a:t>З</a:t>
            </a:r>
            <a:r>
              <a:rPr lang="ru-RU" dirty="0" smtClean="0"/>
              <a:t>аписи </a:t>
            </a:r>
            <a:r>
              <a:rPr lang="ru-RU" dirty="0"/>
              <a:t>становятся видны другим </a:t>
            </a:r>
            <a:r>
              <a:rPr lang="ru-RU" dirty="0" smtClean="0"/>
              <a:t>потокам мгновенно</a:t>
            </a:r>
            <a:endParaRPr lang="en-US" dirty="0" smtClean="0"/>
          </a:p>
          <a:p>
            <a:r>
              <a:rPr lang="ru-RU" dirty="0" smtClean="0"/>
              <a:t>Если </a:t>
            </a:r>
            <a:r>
              <a:rPr lang="ru-RU" dirty="0"/>
              <a:t>результат </a:t>
            </a:r>
            <a:r>
              <a:rPr lang="ru-RU" dirty="0" err="1"/>
              <a:t>неконсистентен</a:t>
            </a:r>
            <a:r>
              <a:rPr lang="ru-RU" dirty="0"/>
              <a:t> с порядком кода, это выглядит так, будто действия с памятью были переупорядочены</a:t>
            </a:r>
            <a:r>
              <a:rPr lang="ru-RU" dirty="0" smtClean="0"/>
              <a:t>.</a:t>
            </a:r>
            <a:r>
              <a:rPr lang="ru-RU" dirty="0"/>
              <a:t>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 smtClean="0"/>
              <a:t>Если </a:t>
            </a:r>
            <a:r>
              <a:rPr lang="ru-RU" dirty="0"/>
              <a:t>результат (r1, r2) = (0, 0), значит произошел </a:t>
            </a:r>
            <a:r>
              <a:rPr lang="ru-RU" dirty="0" err="1"/>
              <a:t>StoreLoad</a:t>
            </a:r>
            <a:r>
              <a:rPr lang="ru-RU" dirty="0"/>
              <a:t> </a:t>
            </a:r>
            <a:r>
              <a:rPr lang="ru-RU" dirty="0" err="1"/>
              <a:t>reordering</a:t>
            </a:r>
            <a:r>
              <a:rPr lang="ru-RU" dirty="0"/>
              <a:t> (запись x=1 стала видна после чтения r2=x).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4252823"/>
            <a:ext cx="2801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1:</a:t>
            </a:r>
            <a:endParaRPr lang="ru-RU" dirty="0"/>
          </a:p>
          <a:p>
            <a:r>
              <a:rPr lang="en-US" dirty="0"/>
              <a:t>x = </a:t>
            </a:r>
            <a:r>
              <a:rPr lang="ru-RU" dirty="0" smtClean="0"/>
              <a:t>1</a:t>
            </a:r>
            <a:r>
              <a:rPr lang="en-US" dirty="0" smtClean="0"/>
              <a:t>;         </a:t>
            </a:r>
            <a:endParaRPr lang="ru-RU" dirty="0"/>
          </a:p>
          <a:p>
            <a:r>
              <a:rPr lang="en-US" dirty="0" smtClean="0"/>
              <a:t>r1 = y;</a:t>
            </a:r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701574" y="4252823"/>
            <a:ext cx="3615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2:</a:t>
            </a:r>
            <a:endParaRPr lang="ru-RU" dirty="0"/>
          </a:p>
          <a:p>
            <a:r>
              <a:rPr lang="en-US" dirty="0" smtClean="0"/>
              <a:t>y = 1;</a:t>
            </a:r>
          </a:p>
          <a:p>
            <a:r>
              <a:rPr lang="en-US" dirty="0" smtClean="0"/>
              <a:t>r2 = x;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18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Модели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Модель памяти должна отвечать на два </a:t>
            </a:r>
            <a:r>
              <a:rPr lang="ru-RU" dirty="0" smtClean="0"/>
              <a:t>вопроса: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1. </a:t>
            </a:r>
            <a:r>
              <a:rPr lang="ru-RU" dirty="0" smtClean="0"/>
              <a:t>Как </a:t>
            </a:r>
            <a:r>
              <a:rPr lang="ru-RU" dirty="0"/>
              <a:t>сохраняется порядок программы при работе с </a:t>
            </a:r>
            <a:r>
              <a:rPr lang="ru-RU" dirty="0" smtClean="0"/>
              <a:t>памятью?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2. </a:t>
            </a:r>
            <a:r>
              <a:rPr lang="ru-RU" dirty="0" smtClean="0"/>
              <a:t>Валиден </a:t>
            </a:r>
            <a:r>
              <a:rPr lang="ru-RU" dirty="0"/>
              <a:t>ли наблюдаемый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?</a:t>
            </a:r>
          </a:p>
          <a:p>
            <a:endParaRPr lang="ru-RU" i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337514"/>
              </p:ext>
            </p:extLst>
          </p:nvPr>
        </p:nvGraphicFramePr>
        <p:xfrm>
          <a:off x="2332256" y="3122762"/>
          <a:ext cx="7588447" cy="2647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9202">
                  <a:extLst>
                    <a:ext uri="{9D8B030D-6E8A-4147-A177-3AD203B41FA5}">
                      <a16:colId xmlns:a16="http://schemas.microsoft.com/office/drawing/2014/main" val="3982705117"/>
                    </a:ext>
                  </a:extLst>
                </a:gridCol>
                <a:gridCol w="2529202">
                  <a:extLst>
                    <a:ext uri="{9D8B030D-6E8A-4147-A177-3AD203B41FA5}">
                      <a16:colId xmlns:a16="http://schemas.microsoft.com/office/drawing/2014/main" val="1411322732"/>
                    </a:ext>
                  </a:extLst>
                </a:gridCol>
                <a:gridCol w="2530043">
                  <a:extLst>
                    <a:ext uri="{9D8B030D-6E8A-4147-A177-3AD203B41FA5}">
                      <a16:colId xmlns:a16="http://schemas.microsoft.com/office/drawing/2014/main" val="984213476"/>
                    </a:ext>
                  </a:extLst>
                </a:gridCol>
              </a:tblGrid>
              <a:tr h="753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Состояние программы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Разрешенные переупорядочивания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Валидность порядка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2120874"/>
                  </a:ext>
                </a:extLst>
              </a:tr>
              <a:tr h="11412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Не синхронизирована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Все возможные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Неконсистентный порядок валиден		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3990127"/>
                  </a:ext>
                </a:extLst>
              </a:tr>
              <a:tr h="753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Правильно синхронизирована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>
                          <a:effectLst/>
                        </a:rPr>
                        <a:t>Запрещены все</a:t>
                      </a:r>
                      <a:endParaRPr lang="ru-RU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Только консистентный порядок валиден</a:t>
                      </a:r>
                      <a:endParaRPr lang="ru-RU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213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61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</a:t>
            </a:r>
            <a:r>
              <a:rPr lang="en-US" dirty="0" smtClean="0"/>
              <a:t>Memory Reordering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Reordering</a:t>
            </a:r>
            <a:r>
              <a:rPr lang="ru-RU" dirty="0"/>
              <a:t> — это высокоуровневая абстракция низкоуровневых </a:t>
            </a:r>
            <a:r>
              <a:rPr lang="ru-RU" dirty="0" smtClean="0"/>
              <a:t>оптимизаций.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 err="1"/>
              <a:t>LoadLoad</a:t>
            </a:r>
            <a:r>
              <a:rPr lang="ru-RU" dirty="0"/>
              <a:t>: Чтение переставляется с другим </a:t>
            </a:r>
            <a:r>
              <a:rPr lang="ru-RU" dirty="0" smtClean="0"/>
              <a:t>чтением.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r1 </a:t>
            </a:r>
            <a:r>
              <a:rPr lang="en-US" dirty="0"/>
              <a:t>= A; r2 = B; → </a:t>
            </a:r>
            <a:r>
              <a:rPr lang="ru-RU" dirty="0"/>
              <a:t>может стать</a:t>
            </a:r>
            <a:r>
              <a:rPr lang="en-US" dirty="0"/>
              <a:t> r2 = B; r1 = A;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 err="1"/>
              <a:t>LoadStore</a:t>
            </a:r>
            <a:r>
              <a:rPr lang="ru-RU" dirty="0"/>
              <a:t>: Чтение переставляется с последующей </a:t>
            </a:r>
            <a:r>
              <a:rPr lang="ru-RU" dirty="0" smtClean="0"/>
              <a:t>записью.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r </a:t>
            </a:r>
            <a:r>
              <a:rPr lang="en-US" dirty="0"/>
              <a:t>= A; w = B; → </a:t>
            </a:r>
            <a:r>
              <a:rPr lang="ru-RU" dirty="0"/>
              <a:t>может стать</a:t>
            </a:r>
            <a:r>
              <a:rPr lang="en-US" dirty="0"/>
              <a:t> w = B; r = A;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 err="1"/>
              <a:t>StoreStore</a:t>
            </a:r>
            <a:r>
              <a:rPr lang="ru-RU" dirty="0"/>
              <a:t>: Запись переставляется с другой </a:t>
            </a:r>
            <a:r>
              <a:rPr lang="ru-RU" dirty="0" smtClean="0"/>
              <a:t>записью.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w1 </a:t>
            </a:r>
            <a:r>
              <a:rPr lang="en-US" dirty="0"/>
              <a:t>= A; w2 = B; → </a:t>
            </a:r>
            <a:r>
              <a:rPr lang="ru-RU" dirty="0"/>
              <a:t>может стать</a:t>
            </a:r>
            <a:r>
              <a:rPr lang="en-US" dirty="0"/>
              <a:t> w2 = B; w1 = A;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 err="1"/>
              <a:t>StoreLoad</a:t>
            </a:r>
            <a:r>
              <a:rPr lang="ru-RU" dirty="0"/>
              <a:t>: Запись переставляется с последующим </a:t>
            </a:r>
            <a:r>
              <a:rPr lang="ru-RU" dirty="0" smtClean="0"/>
              <a:t>чтением.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w </a:t>
            </a:r>
            <a:r>
              <a:rPr lang="ru-RU" dirty="0"/>
              <a:t>= A; r = B; → может стать r = B; w = A; (Самый "дорогой" барьер)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634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1301" y="321109"/>
            <a:ext cx="10410358" cy="1450757"/>
          </a:xfrm>
        </p:spPr>
        <p:txBody>
          <a:bodyPr/>
          <a:lstStyle/>
          <a:p>
            <a:r>
              <a:rPr lang="en-US" dirty="0" smtClean="0"/>
              <a:t>Memory Ordering vs Instructions Ordering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Ordering </a:t>
            </a:r>
            <a:r>
              <a:rPr lang="ru-RU" dirty="0"/>
              <a:t>и</a:t>
            </a:r>
            <a:r>
              <a:rPr lang="en-US" dirty="0"/>
              <a:t> Instructions Ordering — </a:t>
            </a:r>
            <a:r>
              <a:rPr lang="ru-RU" dirty="0"/>
              <a:t>это не одно и то же</a:t>
            </a:r>
            <a:r>
              <a:rPr lang="en-US" dirty="0"/>
              <a:t>. </a:t>
            </a:r>
            <a:r>
              <a:rPr lang="ru-RU" dirty="0"/>
              <a:t>Инструкции могут переупорядочиваться под капотом как угодно, но их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effect</a:t>
            </a:r>
            <a:r>
              <a:rPr lang="ru-RU" dirty="0"/>
              <a:t> должен подчиняться некоторым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Ordering</a:t>
            </a:r>
            <a:r>
              <a:rPr lang="ru-RU" dirty="0"/>
              <a:t> правилам, которые гарантируются (или не гарантируются)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. </a:t>
            </a:r>
            <a:r>
              <a:rPr lang="en-US" dirty="0"/>
              <a:t/>
            </a:r>
            <a:br>
              <a:rPr lang="en-US" dirty="0"/>
            </a:br>
            <a:r>
              <a:rPr lang="ru-RU" dirty="0" smtClean="0"/>
              <a:t>Наконец</a:t>
            </a:r>
            <a:r>
              <a:rPr lang="ru-RU" dirty="0"/>
              <a:t>,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ordering</a:t>
            </a:r>
            <a:r>
              <a:rPr lang="ru-RU" dirty="0"/>
              <a:t> — это высокоуровневое понятие, созданное для простоты понимания работы с памятью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Например, </a:t>
            </a:r>
            <a:r>
              <a:rPr lang="ru-RU" dirty="0" err="1"/>
              <a:t>Intel</a:t>
            </a:r>
            <a:r>
              <a:rPr lang="ru-RU" dirty="0"/>
              <a:t> запрещает </a:t>
            </a:r>
            <a:r>
              <a:rPr lang="ru-RU" dirty="0" err="1"/>
              <a:t>LoadLoad</a:t>
            </a:r>
            <a:r>
              <a:rPr lang="ru-RU" dirty="0"/>
              <a:t> переупорядочивания, но под капотом все равно делает спекулятивные чтения. </a:t>
            </a:r>
            <a:r>
              <a:rPr lang="ru-RU" dirty="0" smtClean="0"/>
              <a:t>Процессор </a:t>
            </a:r>
            <a:r>
              <a:rPr lang="ru-RU" dirty="0"/>
              <a:t>следит за тем, чтобы результат выполнения инструкций не нарушал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ordering</a:t>
            </a:r>
            <a:r>
              <a:rPr lang="ru-RU" dirty="0"/>
              <a:t> правил. Если какое-то правило нарушается, то процессор возвращается к более раннему состоянию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908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Sequential Consistency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(SC) — это очень строгая модель памяти, которая гарантирует отсутствие </a:t>
            </a:r>
            <a:r>
              <a:rPr lang="ru-RU" dirty="0" err="1" smtClean="0"/>
              <a:t>переупорядочиваний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/>
              <a:t>В SC возможны только такие исходы: (1,1), (1,0), (0,1). Исход (0,0) невозможен в SC, так как требует нарушения порядка (чтение до записи в обоих </a:t>
            </a:r>
            <a:r>
              <a:rPr lang="ru-RU" dirty="0" smtClean="0"/>
              <a:t>потоках).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2579299"/>
            <a:ext cx="2801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1:</a:t>
            </a:r>
            <a:endParaRPr lang="ru-RU" dirty="0"/>
          </a:p>
          <a:p>
            <a:r>
              <a:rPr lang="en-US" dirty="0"/>
              <a:t>x = </a:t>
            </a:r>
            <a:r>
              <a:rPr lang="ru-RU" dirty="0" smtClean="0"/>
              <a:t>1</a:t>
            </a:r>
            <a:r>
              <a:rPr lang="en-US" dirty="0" smtClean="0"/>
              <a:t>;         </a:t>
            </a:r>
            <a:endParaRPr lang="ru-RU" dirty="0"/>
          </a:p>
          <a:p>
            <a:r>
              <a:rPr lang="en-US" dirty="0" smtClean="0"/>
              <a:t>r1 = y;</a:t>
            </a:r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701574" y="2579299"/>
            <a:ext cx="3615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2:</a:t>
            </a:r>
            <a:endParaRPr lang="ru-RU" dirty="0"/>
          </a:p>
          <a:p>
            <a:r>
              <a:rPr lang="en-US" dirty="0" smtClean="0"/>
              <a:t>y = 1;</a:t>
            </a:r>
          </a:p>
          <a:p>
            <a:r>
              <a:rPr lang="en-US" dirty="0" smtClean="0"/>
              <a:t>r2 = x;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169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Причины Использования </a:t>
            </a:r>
            <a:r>
              <a:rPr lang="en-US" dirty="0" smtClean="0"/>
              <a:t>SC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SC допускает любые оптимизации, если результат остаётся SC-корректным.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Представить себе работу SC модели памяти можно следующим </a:t>
            </a:r>
            <a:r>
              <a:rPr lang="ru-RU" dirty="0" smtClean="0"/>
              <a:t>образом: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1) </a:t>
            </a:r>
            <a:r>
              <a:rPr lang="ru-RU" dirty="0" smtClean="0"/>
              <a:t>Модель </a:t>
            </a:r>
            <a:r>
              <a:rPr lang="ru-RU" dirty="0"/>
              <a:t>памяти "анализирует" оригинальную программу и исходя из порядка действий в программе "просчитывает" сет всех возможных </a:t>
            </a:r>
            <a:r>
              <a:rPr lang="ru-RU" dirty="0" err="1"/>
              <a:t>sequentially</a:t>
            </a:r>
            <a:r>
              <a:rPr lang="ru-RU" dirty="0"/>
              <a:t> </a:t>
            </a:r>
            <a:r>
              <a:rPr lang="ru-RU" dirty="0" err="1"/>
              <a:t>consistent</a:t>
            </a:r>
            <a:r>
              <a:rPr lang="ru-RU" dirty="0"/>
              <a:t> порядков и их </a:t>
            </a:r>
            <a:r>
              <a:rPr lang="ru-RU" dirty="0" smtClean="0"/>
              <a:t>результатов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2) </a:t>
            </a:r>
            <a:r>
              <a:rPr lang="ru-RU" dirty="0" smtClean="0"/>
              <a:t>С </a:t>
            </a:r>
            <a:r>
              <a:rPr lang="ru-RU" dirty="0"/>
              <a:t>учетом получившегося сета результатов модель памяти разрешает делать любые оптимизации, пока они приводят к одному из </a:t>
            </a:r>
            <a:r>
              <a:rPr lang="ru-RU" dirty="0" err="1"/>
              <a:t>sequentially</a:t>
            </a:r>
            <a:r>
              <a:rPr lang="ru-RU" dirty="0"/>
              <a:t> </a:t>
            </a:r>
            <a:r>
              <a:rPr lang="ru-RU" dirty="0" err="1"/>
              <a:t>consistent</a:t>
            </a:r>
            <a:r>
              <a:rPr lang="ru-RU" dirty="0"/>
              <a:t> результатов, и запрещает оптимизации, приводящие к </a:t>
            </a:r>
            <a:r>
              <a:rPr lang="ru-RU" dirty="0" err="1"/>
              <a:t>sequentially</a:t>
            </a:r>
            <a:r>
              <a:rPr lang="ru-RU" dirty="0"/>
              <a:t> </a:t>
            </a:r>
            <a:r>
              <a:rPr lang="ru-RU" dirty="0" err="1"/>
              <a:t>inconsistent</a:t>
            </a:r>
            <a:r>
              <a:rPr lang="ru-RU" dirty="0"/>
              <a:t> результату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err="1"/>
              <a:t>Java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— это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Consistency-Data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 </a:t>
            </a:r>
            <a:r>
              <a:rPr lang="ru-RU" dirty="0" err="1"/>
              <a:t>Free</a:t>
            </a:r>
            <a:r>
              <a:rPr lang="ru-RU" dirty="0"/>
              <a:t> (SC-DRF) модель: нам предоставляется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, но только в том случае, если мы избавимся от всех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 в программе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09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Race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race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:</a:t>
            </a:r>
            <a:endParaRPr lang="ru-RU" dirty="0"/>
          </a:p>
          <a:p>
            <a:pPr marL="749808" lvl="1" indent="-457200">
              <a:buFont typeface="+mj-lt"/>
              <a:buAutoNum type="arabicPeriod"/>
            </a:pPr>
            <a:r>
              <a:rPr lang="ru-RU" dirty="0" smtClean="0"/>
              <a:t>Несколько </a:t>
            </a:r>
            <a:r>
              <a:rPr lang="ru-RU" dirty="0"/>
              <a:t>потоков работают с одной переменной</a:t>
            </a:r>
          </a:p>
          <a:p>
            <a:pPr marL="749808" lvl="1" indent="-457200">
              <a:buFont typeface="+mj-lt"/>
              <a:buAutoNum type="arabicPeriod"/>
            </a:pPr>
            <a:r>
              <a:rPr lang="ru-RU" dirty="0" err="1"/>
              <a:t>Х</a:t>
            </a:r>
            <a:r>
              <a:rPr lang="en-US" dirty="0" err="1" smtClean="0"/>
              <a:t>отя</a:t>
            </a:r>
            <a:r>
              <a:rPr lang="en-US" dirty="0" smtClean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пишет</a:t>
            </a:r>
            <a:endParaRPr lang="ru-RU" dirty="0"/>
          </a:p>
          <a:p>
            <a:pPr marL="749808" lvl="1" indent="-457200">
              <a:buFont typeface="+mj-lt"/>
              <a:buAutoNum type="arabicPeriod"/>
            </a:pPr>
            <a:r>
              <a:rPr lang="ru-RU" dirty="0" err="1"/>
              <a:t>Н</a:t>
            </a:r>
            <a:r>
              <a:rPr lang="en-US" dirty="0" err="1" smtClean="0"/>
              <a:t>ет</a:t>
            </a:r>
            <a:r>
              <a:rPr lang="en-US" dirty="0" smtClean="0"/>
              <a:t> </a:t>
            </a:r>
            <a:r>
              <a:rPr lang="en-US" dirty="0"/>
              <a:t>happens-before </a:t>
            </a:r>
            <a:r>
              <a:rPr lang="en-US" dirty="0" err="1"/>
              <a:t>связи</a:t>
            </a:r>
            <a:endParaRPr lang="ru-RU" dirty="0"/>
          </a:p>
          <a:p>
            <a:r>
              <a:rPr lang="ru-RU" dirty="0"/>
              <a:t>Для действий в гонке: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Н</a:t>
            </a:r>
            <a:r>
              <a:rPr lang="ru-RU" dirty="0" smtClean="0"/>
              <a:t>ет </a:t>
            </a:r>
            <a:r>
              <a:rPr lang="ru-RU" dirty="0"/>
              <a:t>гарантий порядка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Н</a:t>
            </a:r>
            <a:r>
              <a:rPr lang="ru-RU" dirty="0" smtClean="0"/>
              <a:t>ет </a:t>
            </a:r>
            <a:r>
              <a:rPr lang="ru-RU" dirty="0"/>
              <a:t>гарантий видимости</a:t>
            </a:r>
          </a:p>
          <a:p>
            <a:r>
              <a:rPr lang="ru-RU" dirty="0"/>
              <a:t>Два способа избавиться от гонок: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Связать действия в </a:t>
            </a:r>
            <a:r>
              <a:rPr lang="ru-RU" dirty="0" err="1"/>
              <a:t>Synchronization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 (SO)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Связать действия в </a:t>
            </a:r>
            <a:r>
              <a:rPr lang="ru-RU" dirty="0" err="1"/>
              <a:t>Happens-Before</a:t>
            </a:r>
            <a:r>
              <a:rPr lang="ru-RU" dirty="0"/>
              <a:t> (HB) порядок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997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Synchronization</a:t>
            </a:r>
            <a:r>
              <a:rPr lang="ru-RU" dirty="0"/>
              <a:t> </a:t>
            </a:r>
            <a:r>
              <a:rPr lang="ru-RU" dirty="0" err="1"/>
              <a:t>Actions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J</a:t>
            </a:r>
            <a:r>
              <a:rPr lang="ru-RU" sz="2400" dirty="0"/>
              <a:t>MM предоставляет специальные примитивы под названием </a:t>
            </a:r>
            <a:r>
              <a:rPr lang="ru-RU" sz="2400" dirty="0" err="1"/>
              <a:t>Synchronization</a:t>
            </a:r>
            <a:r>
              <a:rPr lang="ru-RU" sz="2400" dirty="0"/>
              <a:t> </a:t>
            </a:r>
            <a:r>
              <a:rPr lang="ru-RU" sz="2400" dirty="0" err="1"/>
              <a:t>Actions</a:t>
            </a:r>
            <a:r>
              <a:rPr lang="ru-RU" sz="2400" dirty="0"/>
              <a:t> (SA). </a:t>
            </a:r>
            <a:endParaRPr lang="ru-RU" sz="2400" dirty="0" smtClean="0"/>
          </a:p>
          <a:p>
            <a:r>
              <a:rPr lang="ru-RU" sz="2400" dirty="0" smtClean="0"/>
              <a:t>Для </a:t>
            </a:r>
            <a:r>
              <a:rPr lang="ru-RU" sz="2400" dirty="0"/>
              <a:t>таких действий образуется полный порядок под названием </a:t>
            </a:r>
            <a:r>
              <a:rPr lang="ru-RU" sz="2400" dirty="0" err="1"/>
              <a:t>Synchronization</a:t>
            </a:r>
            <a:r>
              <a:rPr lang="ru-RU" sz="2400" dirty="0"/>
              <a:t> </a:t>
            </a:r>
            <a:r>
              <a:rPr lang="ru-RU" sz="2400" dirty="0" err="1"/>
              <a:t>Order</a:t>
            </a:r>
            <a:r>
              <a:rPr lang="ru-RU" sz="2400" dirty="0"/>
              <a:t> (SO), в котором</a:t>
            </a:r>
            <a:r>
              <a:rPr lang="ru-RU" sz="2400" dirty="0" smtClean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 smtClean="0"/>
              <a:t>Порядок </a:t>
            </a:r>
            <a:r>
              <a:rPr lang="ru-RU" sz="2400" dirty="0"/>
              <a:t>действий </a:t>
            </a:r>
            <a:r>
              <a:rPr lang="ru-RU" sz="2400" dirty="0" err="1"/>
              <a:t>консистентен</a:t>
            </a:r>
            <a:r>
              <a:rPr lang="ru-RU" sz="2400" dirty="0"/>
              <a:t> с порядком программы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Каждое чтение всегда видит предыдущую </a:t>
            </a:r>
            <a:r>
              <a:rPr lang="ru-RU" sz="2400" dirty="0" smtClean="0"/>
              <a:t>запись</a:t>
            </a:r>
          </a:p>
          <a:p>
            <a:pPr marL="201168" lvl="1" indent="0">
              <a:buNone/>
            </a:pPr>
            <a:endParaRPr lang="ru-RU" sz="2400" dirty="0"/>
          </a:p>
          <a:p>
            <a:r>
              <a:rPr lang="ru-RU" sz="2400" dirty="0"/>
              <a:t>Существуют следующие </a:t>
            </a:r>
            <a:r>
              <a:rPr lang="ru-RU" sz="2400" dirty="0" err="1"/>
              <a:t>synchronization</a:t>
            </a:r>
            <a:r>
              <a:rPr lang="ru-RU" sz="2400" dirty="0"/>
              <a:t> </a:t>
            </a:r>
            <a:r>
              <a:rPr lang="ru-RU" sz="2400" dirty="0" err="1"/>
              <a:t>actions</a:t>
            </a:r>
            <a:r>
              <a:rPr lang="ru-RU" sz="2400" dirty="0" smtClean="0"/>
              <a:t>:</a:t>
            </a:r>
            <a:endParaRPr lang="ru-RU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Запись и чтение </a:t>
            </a:r>
            <a:r>
              <a:rPr lang="ru-RU" sz="2200" dirty="0" err="1"/>
              <a:t>volatile</a:t>
            </a:r>
            <a:r>
              <a:rPr lang="ru-RU" sz="2200" dirty="0"/>
              <a:t> переменной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Взятие и освобождение монитора</a:t>
            </a:r>
          </a:p>
          <a:p>
            <a:r>
              <a:rPr lang="ru-RU" sz="2400" dirty="0"/>
              <a:t>Если сделать полную синхронизацию, то это будет неудобно помечать каждую переменную и ссылки на объекты как </a:t>
            </a:r>
            <a:r>
              <a:rPr lang="en-US" sz="2400" dirty="0"/>
              <a:t>volatile</a:t>
            </a:r>
            <a:r>
              <a:rPr lang="ru-RU" sz="2400" dirty="0"/>
              <a:t>, а также избыточность оптимизации может повредить оптимизации программы.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54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Happens-Before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Happens-Before</a:t>
            </a:r>
            <a:r>
              <a:rPr lang="ru-RU" dirty="0"/>
              <a:t> (HB) — это ключевое отношение в </a:t>
            </a:r>
            <a:r>
              <a:rPr lang="ru-RU" dirty="0" err="1"/>
              <a:t>Java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, которое определяет: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К</a:t>
            </a:r>
            <a:r>
              <a:rPr lang="ru-RU" dirty="0" smtClean="0"/>
              <a:t>акие </a:t>
            </a:r>
            <a:r>
              <a:rPr lang="ru-RU" dirty="0"/>
              <a:t>записи гарантированно видны другим потокам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К</a:t>
            </a:r>
            <a:r>
              <a:rPr lang="ru-RU" dirty="0" smtClean="0"/>
              <a:t>акой </a:t>
            </a:r>
            <a:r>
              <a:rPr lang="ru-RU" dirty="0"/>
              <a:t>порядок действий обязан сохраняться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К</a:t>
            </a:r>
            <a:r>
              <a:rPr lang="ru-RU" dirty="0" smtClean="0"/>
              <a:t>огда </a:t>
            </a:r>
            <a:r>
              <a:rPr lang="ru-RU" dirty="0"/>
              <a:t>программа считается корректно синхронизированной </a:t>
            </a:r>
            <a:endParaRPr lang="ru-RU" dirty="0" smtClean="0"/>
          </a:p>
          <a:p>
            <a:pPr marL="0" lvl="0" indent="0">
              <a:buNone/>
            </a:pPr>
            <a:endParaRPr lang="ru-RU" dirty="0"/>
          </a:p>
          <a:p>
            <a:r>
              <a:rPr lang="ru-RU" dirty="0"/>
              <a:t>Если действие A происходит </a:t>
            </a:r>
            <a:r>
              <a:rPr lang="ru-RU" dirty="0" smtClean="0"/>
              <a:t>раньше</a:t>
            </a:r>
            <a:r>
              <a:rPr lang="ru-RU" dirty="0"/>
              <a:t>(</a:t>
            </a:r>
            <a:r>
              <a:rPr lang="en-US" dirty="0"/>
              <a:t>happens-before</a:t>
            </a:r>
            <a:r>
              <a:rPr lang="ru-RU" dirty="0"/>
              <a:t>)</a:t>
            </a:r>
            <a:r>
              <a:rPr lang="ru-RU" dirty="0" smtClean="0"/>
              <a:t> действия </a:t>
            </a:r>
            <a:r>
              <a:rPr lang="ru-RU" dirty="0"/>
              <a:t>B, то JMM гарантирует: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Все изменения памяти, сделанные A, будут видны B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A логически происходит раньше B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Компилятор, JVM и процессор не имеют права переупорядочить эти действия так, чтобы нарушить HB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780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правила </a:t>
            </a:r>
            <a:r>
              <a:rPr lang="ru-RU" dirty="0" err="1"/>
              <a:t>Happens-Before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2923"/>
          </a:xfrm>
        </p:spPr>
        <p:txBody>
          <a:bodyPr>
            <a:normAutofit lnSpcReduction="10000"/>
          </a:bodyPr>
          <a:lstStyle/>
          <a:p>
            <a:r>
              <a:rPr lang="ru-RU" b="1" u="sng" dirty="0"/>
              <a:t>1. </a:t>
            </a:r>
            <a:r>
              <a:rPr lang="ru-RU" b="1" u="sng" dirty="0" err="1"/>
              <a:t>Program</a:t>
            </a:r>
            <a:r>
              <a:rPr lang="ru-RU" b="1" u="sng" dirty="0"/>
              <a:t> </a:t>
            </a:r>
            <a:r>
              <a:rPr lang="ru-RU" b="1" u="sng" dirty="0" err="1"/>
              <a:t>Order</a:t>
            </a:r>
            <a:r>
              <a:rPr lang="ru-RU" b="1" u="sng" dirty="0"/>
              <a:t> </a:t>
            </a:r>
            <a:r>
              <a:rPr lang="ru-RU" b="1" u="sng" dirty="0" err="1" smtClean="0"/>
              <a:t>Rule</a:t>
            </a:r>
            <a:endParaRPr lang="en-US" b="1" i="1" dirty="0"/>
          </a:p>
          <a:p>
            <a:r>
              <a:rPr lang="ru-RU" dirty="0" smtClean="0"/>
              <a:t>Внутри </a:t>
            </a:r>
            <a:r>
              <a:rPr lang="ru-RU" dirty="0"/>
              <a:t>одного потока каждая операция происходит раньше следующей по коду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x = 1;</a:t>
            </a:r>
            <a:br>
              <a:rPr lang="en-US" dirty="0" smtClean="0"/>
            </a:br>
            <a:r>
              <a:rPr lang="en-US" dirty="0" smtClean="0"/>
              <a:t>y = 2;</a:t>
            </a:r>
          </a:p>
          <a:p>
            <a:r>
              <a:rPr lang="ru-RU" dirty="0" smtClean="0"/>
              <a:t>Запись </a:t>
            </a:r>
            <a:r>
              <a:rPr lang="en-US" dirty="0" smtClean="0"/>
              <a:t>x = 1</a:t>
            </a:r>
            <a:r>
              <a:rPr lang="ru-RU" dirty="0" smtClean="0"/>
              <a:t> происходит раньше </a:t>
            </a:r>
            <a:r>
              <a:rPr lang="en-US" dirty="0" smtClean="0"/>
              <a:t>y = 2</a:t>
            </a:r>
          </a:p>
          <a:p>
            <a:r>
              <a:rPr lang="ru-RU" b="1" u="sng" dirty="0"/>
              <a:t>2. </a:t>
            </a:r>
            <a:r>
              <a:rPr lang="ru-RU" b="1" u="sng" dirty="0" err="1"/>
              <a:t>Monitor</a:t>
            </a:r>
            <a:r>
              <a:rPr lang="ru-RU" b="1" u="sng" dirty="0"/>
              <a:t> </a:t>
            </a:r>
            <a:r>
              <a:rPr lang="ru-RU" b="1" u="sng" dirty="0" err="1"/>
              <a:t>Lock</a:t>
            </a:r>
            <a:r>
              <a:rPr lang="ru-RU" b="1" u="sng" dirty="0"/>
              <a:t> </a:t>
            </a:r>
            <a:r>
              <a:rPr lang="ru-RU" b="1" u="sng" dirty="0" err="1"/>
              <a:t>Rule</a:t>
            </a:r>
            <a:endParaRPr lang="ru-RU" b="1" i="1" dirty="0"/>
          </a:p>
          <a:p>
            <a:r>
              <a:rPr lang="ru-RU" dirty="0"/>
              <a:t>Освобождение монитора происходит раньше следующего захвата того же монитора.</a:t>
            </a:r>
          </a:p>
          <a:p>
            <a:r>
              <a:rPr lang="en-US" dirty="0"/>
              <a:t>s</a:t>
            </a:r>
            <a:r>
              <a:rPr lang="en-US" dirty="0" smtClean="0"/>
              <a:t>ynchronized(lock) {</a:t>
            </a:r>
            <a:br>
              <a:rPr lang="en-US" dirty="0" smtClean="0"/>
            </a:br>
            <a:r>
              <a:rPr lang="en-US" dirty="0" smtClean="0"/>
              <a:t>x = 42</a:t>
            </a:r>
            <a:br>
              <a:rPr lang="en-US" dirty="0" smtClean="0"/>
            </a:br>
            <a:r>
              <a:rPr lang="en-US" dirty="0" smtClean="0"/>
              <a:t>}</a:t>
            </a:r>
            <a:endParaRPr lang="ru-RU" dirty="0"/>
          </a:p>
          <a:p>
            <a:r>
              <a:rPr lang="ru-RU" dirty="0"/>
              <a:t>Все изменения внутри </a:t>
            </a:r>
            <a:r>
              <a:rPr lang="ru-RU" dirty="0" err="1"/>
              <a:t>synchronized</a:t>
            </a:r>
            <a:r>
              <a:rPr lang="ru-RU" dirty="0"/>
              <a:t>-блока станут видны другому потоку, который позже войдет в </a:t>
            </a:r>
            <a:r>
              <a:rPr lang="ru-RU" dirty="0" err="1"/>
              <a:t>synchronized</a:t>
            </a:r>
            <a:r>
              <a:rPr lang="ru-RU" dirty="0"/>
              <a:t>(</a:t>
            </a:r>
            <a:r>
              <a:rPr lang="ru-RU" dirty="0" err="1"/>
              <a:t>lock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739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sng" dirty="0"/>
              <a:t>3. </a:t>
            </a:r>
            <a:r>
              <a:rPr lang="ru-RU" b="1" u="sng" dirty="0" err="1"/>
              <a:t>Volatile</a:t>
            </a:r>
            <a:r>
              <a:rPr lang="ru-RU" b="1" u="sng" dirty="0"/>
              <a:t> </a:t>
            </a:r>
            <a:r>
              <a:rPr lang="ru-RU" b="1" u="sng" dirty="0" err="1"/>
              <a:t>Rule</a:t>
            </a:r>
            <a:endParaRPr lang="ru-RU" b="1" i="1" dirty="0"/>
          </a:p>
          <a:p>
            <a:r>
              <a:rPr lang="ru-RU" dirty="0"/>
              <a:t>Запись </a:t>
            </a:r>
            <a:r>
              <a:rPr lang="ru-RU" dirty="0" err="1"/>
              <a:t>volatile</a:t>
            </a:r>
            <a:r>
              <a:rPr lang="ru-RU" dirty="0"/>
              <a:t> происходит раньше последующего чтения этой же </a:t>
            </a:r>
            <a:r>
              <a:rPr lang="ru-RU" dirty="0" err="1"/>
              <a:t>volatile</a:t>
            </a:r>
            <a:r>
              <a:rPr lang="ru-RU" dirty="0"/>
              <a:t>-переменной.</a:t>
            </a:r>
          </a:p>
          <a:p>
            <a:r>
              <a:rPr lang="ru-RU" dirty="0"/>
              <a:t> </a:t>
            </a:r>
            <a:r>
              <a:rPr lang="en-US" sz="1800" dirty="0" smtClean="0"/>
              <a:t>volatile </a:t>
            </a:r>
            <a:r>
              <a:rPr lang="en-US" sz="1800" dirty="0" err="1" smtClean="0"/>
              <a:t>boolean</a:t>
            </a:r>
            <a:r>
              <a:rPr lang="en-US" sz="1800" dirty="0" smtClean="0"/>
              <a:t> ready;</a:t>
            </a:r>
          </a:p>
          <a:p>
            <a:endParaRPr lang="en-US" dirty="0"/>
          </a:p>
          <a:p>
            <a:endParaRPr lang="en-US" dirty="0" smtClean="0"/>
          </a:p>
          <a:p>
            <a:endParaRPr lang="ru-RU" dirty="0"/>
          </a:p>
          <a:p>
            <a:r>
              <a:rPr lang="ru-RU" dirty="0" smtClean="0"/>
              <a:t>Если Поток 2 увидел </a:t>
            </a:r>
            <a:r>
              <a:rPr lang="en-US" dirty="0" smtClean="0"/>
              <a:t>ready == true</a:t>
            </a:r>
            <a:r>
              <a:rPr lang="ru-RU" dirty="0" smtClean="0"/>
              <a:t>, то он гарантированно увидит и х = 42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200797" y="3122762"/>
            <a:ext cx="2801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1:</a:t>
            </a:r>
            <a:endParaRPr lang="ru-RU" dirty="0"/>
          </a:p>
          <a:p>
            <a:r>
              <a:rPr lang="en-US" dirty="0"/>
              <a:t>x = 42;         </a:t>
            </a:r>
            <a:endParaRPr lang="ru-RU" dirty="0"/>
          </a:p>
          <a:p>
            <a:r>
              <a:rPr lang="en-US" dirty="0"/>
              <a:t>ready = true;   </a:t>
            </a:r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701574" y="3122762"/>
            <a:ext cx="3615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2:</a:t>
            </a:r>
            <a:endParaRPr lang="ru-RU" dirty="0"/>
          </a:p>
          <a:p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ready</a:t>
            </a:r>
            <a:r>
              <a:rPr lang="ru-RU" dirty="0"/>
              <a:t>) {</a:t>
            </a:r>
          </a:p>
          <a:p>
            <a:r>
              <a:rPr lang="ru-RU" dirty="0"/>
              <a:t>    </a:t>
            </a:r>
            <a:r>
              <a:rPr lang="en-US" dirty="0" err="1"/>
              <a:t>Sustem</a:t>
            </a:r>
            <a:r>
              <a:rPr lang="ru-RU" dirty="0"/>
              <a:t>.</a:t>
            </a:r>
            <a:r>
              <a:rPr lang="en-US" dirty="0"/>
              <a:t>out</a:t>
            </a:r>
            <a:r>
              <a:rPr lang="ru-RU" dirty="0"/>
              <a:t>.</a:t>
            </a:r>
            <a:r>
              <a:rPr lang="en-US" dirty="0" err="1"/>
              <a:t>println</a:t>
            </a:r>
            <a:r>
              <a:rPr lang="ru-RU" dirty="0"/>
              <a:t>(x);</a:t>
            </a:r>
          </a:p>
          <a:p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204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/>
              <a:t>4</a:t>
            </a:r>
            <a:r>
              <a:rPr lang="ru-RU" b="1" u="sng" dirty="0" smtClean="0"/>
              <a:t>. </a:t>
            </a:r>
            <a:r>
              <a:rPr lang="en-US" b="1" u="sng" dirty="0" smtClean="0"/>
              <a:t>Transitivity Rule</a:t>
            </a:r>
          </a:p>
          <a:p>
            <a:r>
              <a:rPr lang="ru-RU" dirty="0" smtClean="0"/>
              <a:t>Если </a:t>
            </a:r>
            <a:r>
              <a:rPr lang="ru-RU" dirty="0"/>
              <a:t>А раньше В, а В раньше С, то А раньше С </a:t>
            </a:r>
            <a:r>
              <a:rPr lang="ru-RU" dirty="0" smtClean="0"/>
              <a:t>.Это позволяет строить цепочки гарантий видимости.</a:t>
            </a:r>
            <a:endParaRPr lang="en-US" dirty="0"/>
          </a:p>
          <a:p>
            <a:r>
              <a:rPr lang="en-US" sz="1800" dirty="0"/>
              <a:t>volatile </a:t>
            </a:r>
            <a:r>
              <a:rPr lang="en-US" sz="1800" dirty="0" err="1"/>
              <a:t>boolean</a:t>
            </a:r>
            <a:r>
              <a:rPr lang="en-US" sz="1800" dirty="0"/>
              <a:t> ready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endParaRPr lang="en-US" sz="1800" dirty="0" smtClean="0"/>
          </a:p>
          <a:p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ru-RU" sz="1800" dirty="0" smtClean="0"/>
              <a:t>Запись х = 42 раньше </a:t>
            </a:r>
            <a:r>
              <a:rPr lang="en-US" sz="1800" dirty="0" smtClean="0"/>
              <a:t>ready = true</a:t>
            </a:r>
            <a:br>
              <a:rPr lang="en-US" sz="1800" dirty="0" smtClean="0"/>
            </a:br>
            <a:r>
              <a:rPr lang="ru-RU" sz="1800" dirty="0" smtClean="0"/>
              <a:t>Запись </a:t>
            </a:r>
            <a:r>
              <a:rPr lang="en-US" sz="1800" dirty="0" smtClean="0"/>
              <a:t>ready = true </a:t>
            </a:r>
            <a:r>
              <a:rPr lang="ru-RU" sz="1800" dirty="0" smtClean="0"/>
              <a:t>раньше чтения </a:t>
            </a:r>
            <a:r>
              <a:rPr lang="en-US" sz="1800" dirty="0" smtClean="0"/>
              <a:t>ready</a:t>
            </a:r>
            <a:br>
              <a:rPr lang="en-US" sz="1800" dirty="0" smtClean="0"/>
            </a:br>
            <a:r>
              <a:rPr lang="ru-RU" sz="1800" dirty="0" smtClean="0"/>
              <a:t>Чтение </a:t>
            </a:r>
            <a:r>
              <a:rPr lang="en-US" sz="1800" dirty="0" smtClean="0"/>
              <a:t>ready </a:t>
            </a:r>
            <a:r>
              <a:rPr lang="ru-RU" sz="1800" dirty="0" smtClean="0"/>
              <a:t>раньше чтения  </a:t>
            </a:r>
            <a:r>
              <a:rPr lang="en-US" sz="1800" dirty="0" smtClean="0"/>
              <a:t>x</a:t>
            </a:r>
            <a:endParaRPr lang="ru-RU" sz="1800" dirty="0"/>
          </a:p>
          <a:p>
            <a:r>
              <a:rPr lang="ru-RU" sz="1800" dirty="0" smtClean="0"/>
              <a:t>Следовательно: Запись </a:t>
            </a:r>
            <a:r>
              <a:rPr lang="en-US" sz="1800" dirty="0" smtClean="0"/>
              <a:t>x = 42 </a:t>
            </a:r>
            <a:r>
              <a:rPr lang="ru-RU" sz="1800" dirty="0" smtClean="0"/>
              <a:t>раньше чтения х</a:t>
            </a:r>
            <a:endParaRPr lang="ru-RU" dirty="0" smtClean="0"/>
          </a:p>
          <a:p>
            <a:endParaRPr lang="ru-RU" b="1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3286664"/>
            <a:ext cx="28018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1:</a:t>
            </a:r>
            <a:endParaRPr lang="ru-RU" dirty="0"/>
          </a:p>
          <a:p>
            <a:r>
              <a:rPr lang="en-US" dirty="0"/>
              <a:t>x = 42;         </a:t>
            </a:r>
            <a:endParaRPr lang="ru-RU" dirty="0"/>
          </a:p>
          <a:p>
            <a:r>
              <a:rPr lang="en-US" dirty="0"/>
              <a:t>ready = true;   </a:t>
            </a:r>
            <a:endParaRPr lang="ru-RU" dirty="0"/>
          </a:p>
          <a:p>
            <a:endParaRPr lang="en-US" dirty="0" smtClean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598057" y="3286664"/>
            <a:ext cx="3615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Поток </a:t>
            </a:r>
            <a:r>
              <a:rPr lang="ru-RU" b="1" dirty="0" smtClean="0"/>
              <a:t>2:</a:t>
            </a:r>
            <a:endParaRPr lang="ru-RU" dirty="0"/>
          </a:p>
          <a:p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ready</a:t>
            </a:r>
            <a:r>
              <a:rPr lang="ru-RU" dirty="0"/>
              <a:t>) {</a:t>
            </a:r>
          </a:p>
          <a:p>
            <a:r>
              <a:rPr lang="en-US" dirty="0"/>
              <a:t>y</a:t>
            </a:r>
            <a:r>
              <a:rPr lang="en-US" dirty="0" smtClean="0"/>
              <a:t> = x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99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</TotalTime>
  <Words>830</Words>
  <Application>Microsoft Office PowerPoint</Application>
  <PresentationFormat>Широкоэкранный</PresentationFormat>
  <Paragraphs>154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Ретро</vt:lpstr>
      <vt:lpstr>Java Memory Model</vt:lpstr>
      <vt:lpstr>As-if-serial семантика</vt:lpstr>
      <vt:lpstr>В многопоточности</vt:lpstr>
      <vt:lpstr>Решения</vt:lpstr>
      <vt:lpstr>Основные гарантии JMM</vt:lpstr>
      <vt:lpstr>Memory Ordering</vt:lpstr>
      <vt:lpstr>Задача Модели Памяти</vt:lpstr>
      <vt:lpstr>Типы Memory Reordering</vt:lpstr>
      <vt:lpstr>Memory Ordering vs Instructions Ordering</vt:lpstr>
      <vt:lpstr>Sequential Consistency</vt:lpstr>
      <vt:lpstr>Причины Использования SC</vt:lpstr>
      <vt:lpstr>Data Race</vt:lpstr>
      <vt:lpstr>Synchronization Actions</vt:lpstr>
      <vt:lpstr>Happens-Before</vt:lpstr>
      <vt:lpstr>Основные правила Happens-Before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JMM</dc:title>
  <dc:creator>САнчо</dc:creator>
  <cp:lastModifiedBy> Санёк</cp:lastModifiedBy>
  <cp:revision>58</cp:revision>
  <dcterms:created xsi:type="dcterms:W3CDTF">2026-05-05T13:46:51Z</dcterms:created>
  <dcterms:modified xsi:type="dcterms:W3CDTF">2026-05-14T19:36:36Z</dcterms:modified>
</cp:coreProperties>
</file>