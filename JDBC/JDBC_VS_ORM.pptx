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0" r:id="rId4"/>
    <p:sldId id="274" r:id="rId5"/>
    <p:sldId id="264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5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079EA-BB06-4EB2-B300-E8EAAF155FD8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90076-B9E0-49D0-BBEA-AA482BA8F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034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2DB89-3A14-45B3-8249-DCEA311F11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048041-464D-44E6-8B5A-3C5879B53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72AA2A-33FE-4468-A9D2-383C67DDB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903C6F-EAB6-4DD3-A95C-01A40EDC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F3304-54D6-4070-BD0A-3267B6E3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41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9EABF0-E02E-4D31-8AE5-FAE1FB15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BD7E25-A42D-4B30-B878-77D49AA81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D21803-C445-4450-A6B8-3DBF6FED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F7DA2E-5088-43D1-9F40-9D74499D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065BBC-F020-4D3F-9965-3CFD231B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71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39F2FC-9C5A-49D3-93A1-B22CB7AAA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9E53FB-BAF3-4E74-913A-A97BF11F2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E1273E-9339-4FDC-A5D4-2BA9DC0F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03F81B-661B-4C32-8960-2D5EA6535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08EC34-3ADA-42FB-A851-4F3FA20C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896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5095C-FFDC-40F1-979F-A8FBA98A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04DCE2-4807-416D-A69F-B3B27BD258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37443B-7D93-4DD0-B7E0-54A5CB490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26F4DE-C1F1-46BE-92D7-66B27252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2EF4B4-AD77-49D2-9CB3-4BCF7F60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A7E379-C92F-4613-BA19-FC33EDD9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409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31D02-15F8-449B-AC21-456007B33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610338-FCCC-40E3-A0FF-29E1EADD1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D12D1D-B973-4155-81F4-813FE70BC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1B8CE9-EEBD-4DBC-848C-8ACE7E870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2B4063-A58D-4AE8-BDEA-D9A43C7708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C3139F4-878F-4D2A-A07E-271C6F3C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E6D1E81-ED18-4917-8298-6B656477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31A50A-40F3-43AA-AC85-BD9B16CB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58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E0F33-5723-424E-8BFB-D63B2FAC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9CA7B49-8B3E-4BB3-B97C-E68E9396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8B02F-CB42-4B0F-8BDC-905A6FD3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6BCEC1-9010-4EFF-9B9B-EDECBA3BB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47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C85EC1-3E5D-4254-879A-962FFA57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A9F373-6CE8-4494-BDD3-E4453863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F8AC5FC-EC21-416C-AB88-BA436198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3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958801-97EA-4C90-BB4C-DFB66B39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89A9ED-91C7-4787-B73A-B0CFABC27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147712-72EA-424D-9B04-19D328372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A99581-3A35-459F-B684-6AE2ABE8E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0CAF3A-C1FD-4B27-A8A7-16C2BC73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D37E8F-F97D-49DB-AFC6-5237FD01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4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C7421-E98E-4F5E-A2AD-84AC9132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90E0E9-6F3B-4F29-816C-D955D17B05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09FB19-66DC-499D-B9B8-142070FF4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37F41C-7D05-41FC-9816-C483EA68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ECE3EE-9E8B-4E12-A2C6-D78FB4D3C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503B34-2A12-4218-A73C-9B90970D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85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4E112-7C16-4412-9864-ADEF741C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1533F7-8D7C-4FC2-A81B-A1A442600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EF857E-81D6-4106-A873-0F833106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BCA1FE-C03D-4445-BE4B-9A2704D5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81F6D2-57E4-431E-ABE1-19C65A82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5016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48AE11B-AFB6-4D1F-B88F-D992880C5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F279FC-ECA5-47D5-BB70-31DA271F1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6760D2-652B-464C-9494-1496D38C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B61AED-A104-4C43-B03C-F5B79FB6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871056-E00A-4C6B-8A5F-5004756D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87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0AA9D-ABB6-48AC-80D5-56FF25894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81D9EA-E9E7-4F22-B7D0-07AB50889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9A229D-6A97-4636-9072-A8E0B720A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39FF6-915D-4047-9D75-C55F2E920CE9}" type="datetimeFigureOut">
              <a:rPr lang="ru-RU" smtClean="0"/>
              <a:t>03.04.2026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99EB57-48D6-4818-9665-8D02F279E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9D5136-F346-4372-A437-39082CC36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582F-9D17-4D67-872C-F334FD3EC3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1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400000">
            <a:off x="-2706111" y="2885013"/>
            <a:ext cx="8903027" cy="0"/>
          </a:xfrm>
          <a:prstGeom prst="straightConnector1">
            <a:avLst/>
          </a:prstGeom>
          <a:noFill/>
          <a:ln w="38100" cap="flat" cmpd="sng">
            <a:solidFill>
              <a:srgbClr val="4DA1A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5" name="Google Shape;85;p13"/>
          <p:cNvCxnSpPr/>
          <p:nvPr/>
        </p:nvCxnSpPr>
        <p:spPr>
          <a:xfrm rot="-5400000">
            <a:off x="-2061053" y="2783413"/>
            <a:ext cx="8903027" cy="0"/>
          </a:xfrm>
          <a:prstGeom prst="straightConnector1">
            <a:avLst/>
          </a:prstGeom>
          <a:noFill/>
          <a:ln w="38100" cap="flat" cmpd="sng">
            <a:solidFill>
              <a:srgbClr val="FF9F1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13"/>
          <p:cNvCxnSpPr/>
          <p:nvPr/>
        </p:nvCxnSpPr>
        <p:spPr>
          <a:xfrm rot="-5400000">
            <a:off x="-1344647" y="2885013"/>
            <a:ext cx="8903027" cy="0"/>
          </a:xfrm>
          <a:prstGeom prst="straightConnector1">
            <a:avLst/>
          </a:prstGeom>
          <a:noFill/>
          <a:ln w="38100" cap="flat" cmpd="sng">
            <a:solidFill>
              <a:srgbClr val="6874E8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7" name="Google Shape;87;p13"/>
          <p:cNvGrpSpPr/>
          <p:nvPr/>
        </p:nvGrpSpPr>
        <p:grpSpPr>
          <a:xfrm>
            <a:off x="685800" y="781830"/>
            <a:ext cx="10820400" cy="5582841"/>
            <a:chOff x="0" y="-38100"/>
            <a:chExt cx="4274726" cy="2205567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 extrusionOk="0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F3F6FA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1036360" y="1255548"/>
            <a:ext cx="9055577" cy="511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998"/>
              </a:lnSpc>
            </a:pPr>
            <a:r>
              <a:rPr lang="en-US" sz="7358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JDBC</a:t>
            </a:r>
            <a:r>
              <a:rPr lang="en-US" sz="6000" baseline="30000" dirty="0">
                <a:solidFill>
                  <a:srgbClr val="0B1320"/>
                </a:solidFill>
                <a:latin typeface="Playfair Display Black"/>
                <a:sym typeface="Playfair Display Black"/>
              </a:rPr>
              <a:t>+ORM</a:t>
            </a:r>
          </a:p>
          <a:p>
            <a:pPr marL="381019" indent="-381019">
              <a:lnSpc>
                <a:spcPct val="119998"/>
              </a:lnSpc>
              <a:buSzPct val="120000"/>
              <a:buFont typeface="Playfair Display Black" panose="00000A00000000000000" pitchFamily="2" charset="-52"/>
              <a:buChar char="†"/>
            </a:pPr>
            <a:r>
              <a:rPr lang="ru-RU" sz="2933" dirty="0">
                <a:latin typeface="Playfair Display Black" panose="00000A00000000000000" pitchFamily="2" charset="-52"/>
              </a:rPr>
              <a:t>Или </a:t>
            </a:r>
            <a:r>
              <a:rPr lang="en-US" sz="2933" dirty="0" err="1">
                <a:latin typeface="Playfair Display Black" panose="00000A00000000000000" pitchFamily="2" charset="-52"/>
              </a:rPr>
              <a:t>sql</a:t>
            </a:r>
            <a:r>
              <a:rPr lang="en-US" sz="2933" dirty="0">
                <a:latin typeface="Playfair Display Black" panose="00000A00000000000000" pitchFamily="2" charset="-52"/>
              </a:rPr>
              <a:t> </a:t>
            </a:r>
            <a:r>
              <a:rPr lang="ru-RU" sz="2933" dirty="0">
                <a:latin typeface="Playfair Display Black" panose="00000A00000000000000" pitchFamily="2" charset="-52"/>
              </a:rPr>
              <a:t>на минималках </a:t>
            </a:r>
            <a:endParaRPr lang="en-US" sz="2933" dirty="0">
              <a:latin typeface="Playfair Display Black" panose="00000A00000000000000" pitchFamily="2" charset="-52"/>
            </a:endParaRPr>
          </a:p>
          <a:p>
            <a:pPr lvl="0">
              <a:lnSpc>
                <a:spcPct val="119998"/>
              </a:lnSpc>
            </a:pPr>
            <a:endParaRPr lang="ru-RU" sz="7358" dirty="0">
              <a:solidFill>
                <a:srgbClr val="0B1320"/>
              </a:solidFill>
              <a:latin typeface="Playfair Display Black"/>
              <a:sym typeface="Playfair Display Black"/>
            </a:endParaRPr>
          </a:p>
          <a:p>
            <a:pPr lvl="0">
              <a:lnSpc>
                <a:spcPct val="119998"/>
              </a:lnSpc>
            </a:pPr>
            <a:endParaRPr lang="en-US" sz="7358" dirty="0">
              <a:solidFill>
                <a:srgbClr val="0B1320"/>
              </a:solidFill>
              <a:latin typeface="Playfair Display Black"/>
              <a:sym typeface="Playfair Display Black"/>
            </a:endParaRPr>
          </a:p>
          <a:p>
            <a:pPr lvl="0">
              <a:lnSpc>
                <a:spcPct val="119998"/>
              </a:lnSpc>
            </a:pPr>
            <a:r>
              <a:rPr lang="en-US" sz="1333" dirty="0">
                <a:solidFill>
                  <a:srgbClr val="0B1320"/>
                </a:solidFill>
                <a:latin typeface="Playfair Display Black" panose="00000A00000000000000" pitchFamily="2" charset="-52"/>
                <a:sym typeface="Playfair Display Black"/>
              </a:rPr>
              <a:t>*</a:t>
            </a:r>
            <a:r>
              <a:rPr lang="en-US" sz="1333" dirty="0">
                <a:latin typeface="Playfair Display Black" panose="00000A00000000000000" pitchFamily="2" charset="-52"/>
              </a:rPr>
              <a:t>Java Database Connectivity</a:t>
            </a:r>
          </a:p>
          <a:p>
            <a:pPr>
              <a:lnSpc>
                <a:spcPct val="119998"/>
              </a:lnSpc>
            </a:pPr>
            <a:r>
              <a:rPr lang="en-US" sz="1333" dirty="0">
                <a:latin typeface="Playfair Display Black" panose="00000A00000000000000" pitchFamily="2" charset="-52"/>
              </a:rPr>
              <a:t>*Object-Relational Mapping</a:t>
            </a:r>
            <a:endParaRPr lang="en-US" sz="1333" dirty="0">
              <a:latin typeface="Playfair Display Black" panose="00000A00000000000000" pitchFamily="2" charset="-52"/>
              <a:sym typeface="Playfair Display Black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8256738" y="4056416"/>
            <a:ext cx="2984165" cy="3672818"/>
            <a:chOff x="0" y="0"/>
            <a:chExt cx="660400" cy="812800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6874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8431077" y="4270986"/>
            <a:ext cx="2635487" cy="3243677"/>
            <a:chOff x="0" y="0"/>
            <a:chExt cx="660400" cy="812800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FF9F1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8603184" y="4482812"/>
            <a:ext cx="2291270" cy="2820025"/>
            <a:chOff x="0" y="0"/>
            <a:chExt cx="660400" cy="812800"/>
          </a:xfrm>
        </p:grpSpPr>
        <p:sp>
          <p:nvSpPr>
            <p:cNvPr id="99" name="Google Shape;99;p13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4DA1A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0" y="69850"/>
              <a:ext cx="660400" cy="742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1" name="Google Shape;101;p13"/>
          <p:cNvCxnSpPr/>
          <p:nvPr/>
        </p:nvCxnSpPr>
        <p:spPr>
          <a:xfrm>
            <a:off x="1061583" y="1255549"/>
            <a:ext cx="8903027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2" name="Google Shape;102;p13"/>
          <p:cNvGrpSpPr/>
          <p:nvPr/>
        </p:nvGrpSpPr>
        <p:grpSpPr>
          <a:xfrm>
            <a:off x="10219265" y="1119333"/>
            <a:ext cx="271215" cy="272431"/>
            <a:chOff x="1813" y="0"/>
            <a:chExt cx="809173" cy="812800"/>
          </a:xfrm>
        </p:grpSpPr>
        <p:sp>
          <p:nvSpPr>
            <p:cNvPr id="103" name="Google Shape;103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04" name="Google Shape;104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10595047" y="1119333"/>
            <a:ext cx="271215" cy="272431"/>
            <a:chOff x="1813" y="0"/>
            <a:chExt cx="809173" cy="812800"/>
          </a:xfrm>
        </p:grpSpPr>
        <p:sp>
          <p:nvSpPr>
            <p:cNvPr id="106" name="Google Shape;106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07" name="Google Shape;107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13"/>
          <p:cNvGrpSpPr/>
          <p:nvPr/>
        </p:nvGrpSpPr>
        <p:grpSpPr>
          <a:xfrm>
            <a:off x="10969079" y="1119333"/>
            <a:ext cx="271215" cy="272431"/>
            <a:chOff x="1813" y="0"/>
            <a:chExt cx="809173" cy="812800"/>
          </a:xfrm>
        </p:grpSpPr>
        <p:sp>
          <p:nvSpPr>
            <p:cNvPr id="109" name="Google Shape;109;p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110" name="Google Shape;110;p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9"/>
          <p:cNvGrpSpPr/>
          <p:nvPr/>
        </p:nvGrpSpPr>
        <p:grpSpPr>
          <a:xfrm>
            <a:off x="708501" y="353767"/>
            <a:ext cx="6504283" cy="2976433"/>
            <a:chOff x="-365924" y="-1697432"/>
            <a:chExt cx="13008566" cy="5952866"/>
          </a:xfrm>
        </p:grpSpPr>
        <p:sp>
          <p:nvSpPr>
            <p:cNvPr id="288" name="Google Shape;288;p19"/>
            <p:cNvSpPr txBox="1"/>
            <p:nvPr/>
          </p:nvSpPr>
          <p:spPr>
            <a:xfrm>
              <a:off x="-365924" y="-1697432"/>
              <a:ext cx="13008566" cy="22159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ru-RU" sz="6000" dirty="0">
                  <a:solidFill>
                    <a:srgbClr val="0B1320"/>
                  </a:solidFill>
                  <a:latin typeface="Playfair Display Black"/>
                  <a:sym typeface="Playfair Display Black"/>
                </a:rPr>
                <a:t> </a:t>
              </a:r>
              <a:r>
                <a:rPr lang="en-US" sz="6000" dirty="0">
                  <a:solidFill>
                    <a:srgbClr val="0B1320"/>
                  </a:solidFill>
                  <a:latin typeface="Playfair Display Black"/>
                  <a:sym typeface="Playfair Display Black"/>
                </a:rPr>
                <a:t>ORM?</a:t>
              </a:r>
              <a:endParaRPr sz="1200" dirty="0"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-365924" y="3775302"/>
              <a:ext cx="12276722" cy="4801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endParaRPr sz="1200" dirty="0"/>
            </a:p>
          </p:txBody>
        </p:sp>
      </p:grpSp>
      <p:grpSp>
        <p:nvGrpSpPr>
          <p:cNvPr id="290" name="Google Shape;290;p19"/>
          <p:cNvGrpSpPr/>
          <p:nvPr/>
        </p:nvGrpSpPr>
        <p:grpSpPr>
          <a:xfrm rot="16654336">
            <a:off x="-4672831" y="393691"/>
            <a:ext cx="4666437" cy="5743307"/>
            <a:chOff x="0" y="0"/>
            <a:chExt cx="9332874" cy="11486614"/>
          </a:xfrm>
        </p:grpSpPr>
        <p:grpSp>
          <p:nvGrpSpPr>
            <p:cNvPr id="291" name="Google Shape;291;p19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293" name="Google Shape;29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9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296" name="Google Shape;29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9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298" name="Google Shape;29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299" name="Google Shape;29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0" name="Google Shape;300;p19"/>
          <p:cNvGrpSpPr/>
          <p:nvPr/>
        </p:nvGrpSpPr>
        <p:grpSpPr>
          <a:xfrm rot="5400000">
            <a:off x="9100519" y="5485880"/>
            <a:ext cx="2771672" cy="3411289"/>
            <a:chOff x="0" y="0"/>
            <a:chExt cx="5543344" cy="6822577"/>
          </a:xfrm>
        </p:grpSpPr>
        <p:grpSp>
          <p:nvGrpSpPr>
            <p:cNvPr id="301" name="Google Shape;301;p19"/>
            <p:cNvGrpSpPr/>
            <p:nvPr/>
          </p:nvGrpSpPr>
          <p:grpSpPr>
            <a:xfrm>
              <a:off x="0" y="0"/>
              <a:ext cx="5543344" cy="6822577"/>
              <a:chOff x="0" y="0"/>
              <a:chExt cx="660400" cy="812800"/>
            </a:xfrm>
          </p:grpSpPr>
          <p:sp>
            <p:nvSpPr>
              <p:cNvPr id="302" name="Google Shape;30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03" name="Google Shape;30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4" name="Google Shape;304;p19"/>
            <p:cNvGrpSpPr/>
            <p:nvPr/>
          </p:nvGrpSpPr>
          <p:grpSpPr>
            <a:xfrm>
              <a:off x="323849" y="398583"/>
              <a:ext cx="4895646" cy="6025410"/>
              <a:chOff x="0" y="0"/>
              <a:chExt cx="660400" cy="812800"/>
            </a:xfrm>
          </p:grpSpPr>
          <p:sp>
            <p:nvSpPr>
              <p:cNvPr id="305" name="Google Shape;30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06" name="Google Shape;30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19"/>
            <p:cNvGrpSpPr/>
            <p:nvPr/>
          </p:nvGrpSpPr>
          <p:grpSpPr>
            <a:xfrm>
              <a:off x="643556" y="792068"/>
              <a:ext cx="4256232" cy="5238440"/>
              <a:chOff x="0" y="0"/>
              <a:chExt cx="660400" cy="812800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09" name="Google Shape;30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10" name="Google Shape;310;p19"/>
          <p:cNvGrpSpPr/>
          <p:nvPr/>
        </p:nvGrpSpPr>
        <p:grpSpPr>
          <a:xfrm rot="5400000">
            <a:off x="11137245" y="-239376"/>
            <a:ext cx="2869365" cy="3531527"/>
            <a:chOff x="0" y="0"/>
            <a:chExt cx="5738731" cy="7063053"/>
          </a:xfrm>
        </p:grpSpPr>
        <p:grpSp>
          <p:nvGrpSpPr>
            <p:cNvPr id="311" name="Google Shape;311;p19"/>
            <p:cNvGrpSpPr/>
            <p:nvPr/>
          </p:nvGrpSpPr>
          <p:grpSpPr>
            <a:xfrm rot="10800000">
              <a:off x="0" y="0"/>
              <a:ext cx="5738731" cy="7063053"/>
              <a:chOff x="0" y="0"/>
              <a:chExt cx="660400" cy="812800"/>
            </a:xfrm>
          </p:grpSpPr>
          <p:sp>
            <p:nvSpPr>
              <p:cNvPr id="312" name="Google Shape;312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13" name="Google Shape;313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4" name="Google Shape;314;p19"/>
            <p:cNvGrpSpPr/>
            <p:nvPr/>
          </p:nvGrpSpPr>
          <p:grpSpPr>
            <a:xfrm rot="10800000">
              <a:off x="335264" y="412632"/>
              <a:ext cx="5068203" cy="6237789"/>
              <a:chOff x="0" y="0"/>
              <a:chExt cx="660400" cy="812800"/>
            </a:xfrm>
          </p:grpSpPr>
          <p:sp>
            <p:nvSpPr>
              <p:cNvPr id="315" name="Google Shape;315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16" name="Google Shape;316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19"/>
            <p:cNvGrpSpPr/>
            <p:nvPr/>
          </p:nvGrpSpPr>
          <p:grpSpPr>
            <a:xfrm rot="10800000">
              <a:off x="666239" y="819987"/>
              <a:ext cx="4406253" cy="5423080"/>
              <a:chOff x="0" y="0"/>
              <a:chExt cx="660400" cy="812800"/>
            </a:xfrm>
          </p:grpSpPr>
          <p:sp>
            <p:nvSpPr>
              <p:cNvPr id="318" name="Google Shape;318;p19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19" name="Google Shape;319;p19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6B18614-0CF6-40E7-B943-F302E85F4023}"/>
              </a:ext>
            </a:extLst>
          </p:cNvPr>
          <p:cNvSpPr txBox="1"/>
          <p:nvPr/>
        </p:nvSpPr>
        <p:spPr>
          <a:xfrm>
            <a:off x="765928" y="2080316"/>
            <a:ext cx="11426072" cy="10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19" indent="-381019">
              <a:buFont typeface="Courier New" panose="02070309020205020404" pitchFamily="49" charset="0"/>
              <a:buChar char="o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ORM (Object-</a:t>
            </a:r>
            <a:r>
              <a:rPr lang="ru-RU" sz="2133" dirty="0" err="1">
                <a:solidFill>
                  <a:srgbClr val="0B1320"/>
                </a:solidFill>
                <a:latin typeface="Playfair Display Black"/>
              </a:rPr>
              <a:t>Relational</a:t>
            </a: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 </a:t>
            </a:r>
            <a:r>
              <a:rPr lang="ru-RU" sz="2133" dirty="0" err="1">
                <a:solidFill>
                  <a:srgbClr val="0B1320"/>
                </a:solidFill>
                <a:latin typeface="Playfair Display Black"/>
              </a:rPr>
              <a:t>Mapping</a:t>
            </a: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) — это технология, которая позволяет разработчикам работать с базами данных, используя объектно-ориентированный подход.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4B0196-1CF2-437A-8F5D-BBEC9177BEE6}"/>
              </a:ext>
            </a:extLst>
          </p:cNvPr>
          <p:cNvSpPr txBox="1"/>
          <p:nvPr/>
        </p:nvSpPr>
        <p:spPr>
          <a:xfrm>
            <a:off x="1189592" y="3700659"/>
            <a:ext cx="10259587" cy="10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 Цель ORM — минимизировать необходимость написания SQL-запросов и ручной обработки полученных данных, позволяя манипулировать данными через привычные объекты и методы.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591E50-25CE-4EAE-BB48-E8C3719A8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2997368" y="-3811865"/>
            <a:ext cx="4690263" cy="5767316"/>
          </a:xfrm>
          <a:prstGeom prst="rect">
            <a:avLst/>
          </a:prstGeom>
        </p:spPr>
      </p:pic>
      <p:sp>
        <p:nvSpPr>
          <p:cNvPr id="220" name="Google Shape;220;p17"/>
          <p:cNvSpPr txBox="1"/>
          <p:nvPr/>
        </p:nvSpPr>
        <p:spPr>
          <a:xfrm>
            <a:off x="551398" y="510319"/>
            <a:ext cx="10829386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4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Сравнение</a:t>
            </a:r>
            <a:r>
              <a:rPr lang="en-US" sz="4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:</a:t>
            </a:r>
            <a:endParaRPr lang="ru-RU" sz="4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algn="ctr">
              <a:lnSpc>
                <a:spcPct val="120000"/>
              </a:lnSpc>
            </a:pPr>
            <a:endParaRPr sz="1200" dirty="0"/>
          </a:p>
        </p:txBody>
      </p:sp>
      <p:sp>
        <p:nvSpPr>
          <p:cNvPr id="229" name="Google Shape;229;p17"/>
          <p:cNvSpPr txBox="1"/>
          <p:nvPr/>
        </p:nvSpPr>
        <p:spPr>
          <a:xfrm>
            <a:off x="8033747" y="2345134"/>
            <a:ext cx="2057401" cy="2153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867" tIns="33867" rIns="33867" bIns="33867" anchor="ctr" anchorCtr="0">
            <a:noAutofit/>
          </a:bodyPr>
          <a:lstStyle/>
          <a:p>
            <a:pPr algn="ctr">
              <a:lnSpc>
                <a:spcPct val="147722"/>
              </a:lnSpc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" name="Таблица 9">
            <a:extLst>
              <a:ext uri="{FF2B5EF4-FFF2-40B4-BE49-F238E27FC236}">
                <a16:creationId xmlns:a16="http://schemas.microsoft.com/office/drawing/2014/main" id="{66D2161F-3F9D-46F6-B5A5-F5C111324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927266"/>
              </p:ext>
            </p:extLst>
          </p:nvPr>
        </p:nvGraphicFramePr>
        <p:xfrm>
          <a:off x="1049406" y="1665049"/>
          <a:ext cx="9689930" cy="4142364"/>
        </p:xfrm>
        <a:graphic>
          <a:graphicData uri="http://schemas.openxmlformats.org/drawingml/2006/table">
            <a:tbl>
              <a:tblPr/>
              <a:tblGrid>
                <a:gridCol w="4844965">
                  <a:extLst>
                    <a:ext uri="{9D8B030D-6E8A-4147-A177-3AD203B41FA5}">
                      <a16:colId xmlns:a16="http://schemas.microsoft.com/office/drawing/2014/main" val="2133571952"/>
                    </a:ext>
                  </a:extLst>
                </a:gridCol>
                <a:gridCol w="4844965">
                  <a:extLst>
                    <a:ext uri="{9D8B030D-6E8A-4147-A177-3AD203B41FA5}">
                      <a16:colId xmlns:a16="http://schemas.microsoft.com/office/drawing/2014/main" val="363396887"/>
                    </a:ext>
                  </a:extLst>
                </a:gridCol>
              </a:tblGrid>
              <a:tr h="2071182">
                <a:tc>
                  <a:txBody>
                    <a:bodyPr/>
                    <a:lstStyle/>
                    <a:p>
                      <a:r>
                        <a:rPr lang="en-US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JDBC</a:t>
                      </a:r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2133" kern="1200" dirty="0" err="1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HikariCP</a:t>
                      </a:r>
                      <a:r>
                        <a:rPr lang="en-US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Низкоуровневый API для прямого взаимодействия с БД через SQL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639723"/>
                  </a:ext>
                </a:extLst>
              </a:tr>
              <a:tr h="2071182">
                <a:tc>
                  <a:txBody>
                    <a:bodyPr/>
                    <a:lstStyle/>
                    <a:p>
                      <a:r>
                        <a:rPr lang="en-US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ORM (Hibernate)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Технология, которая автоматически связывает Java-объекты с таблицами БД</a:t>
                      </a:r>
                    </a:p>
                  </a:txBody>
                  <a:tcPr marL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422018"/>
                  </a:ext>
                </a:extLst>
              </a:tr>
            </a:tbl>
          </a:graphicData>
        </a:graphic>
      </p:graphicFrame>
      <p:grpSp>
        <p:nvGrpSpPr>
          <p:cNvPr id="15" name="Google Shape;695;p29">
            <a:extLst>
              <a:ext uri="{FF2B5EF4-FFF2-40B4-BE49-F238E27FC236}">
                <a16:creationId xmlns:a16="http://schemas.microsoft.com/office/drawing/2014/main" id="{021F8B28-18E6-4D81-B80C-6D08E774588F}"/>
              </a:ext>
            </a:extLst>
          </p:cNvPr>
          <p:cNvGrpSpPr/>
          <p:nvPr/>
        </p:nvGrpSpPr>
        <p:grpSpPr>
          <a:xfrm rot="10800000">
            <a:off x="10833784" y="-14591"/>
            <a:ext cx="6999655" cy="8614961"/>
            <a:chOff x="0" y="0"/>
            <a:chExt cx="9332874" cy="11486614"/>
          </a:xfrm>
        </p:grpSpPr>
        <p:grpSp>
          <p:nvGrpSpPr>
            <p:cNvPr id="16" name="Google Shape;696;p29">
              <a:extLst>
                <a:ext uri="{FF2B5EF4-FFF2-40B4-BE49-F238E27FC236}">
                  <a16:creationId xmlns:a16="http://schemas.microsoft.com/office/drawing/2014/main" id="{832EBB89-3D3E-4B1B-AB3B-A038C785A2BB}"/>
                </a:ext>
              </a:extLst>
            </p:cNvPr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23" name="Google Shape;697;p29">
                <a:extLst>
                  <a:ext uri="{FF2B5EF4-FFF2-40B4-BE49-F238E27FC236}">
                    <a16:creationId xmlns:a16="http://schemas.microsoft.com/office/drawing/2014/main" id="{26F37538-4AB1-4FBA-93FD-E35F150C88B7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98;p29">
                <a:extLst>
                  <a:ext uri="{FF2B5EF4-FFF2-40B4-BE49-F238E27FC236}">
                    <a16:creationId xmlns:a16="http://schemas.microsoft.com/office/drawing/2014/main" id="{0F46958B-344D-4DD6-AB8A-CC41E6F3E4E6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" name="Google Shape;699;p29">
              <a:extLst>
                <a:ext uri="{FF2B5EF4-FFF2-40B4-BE49-F238E27FC236}">
                  <a16:creationId xmlns:a16="http://schemas.microsoft.com/office/drawing/2014/main" id="{D36F9AC0-B75A-4845-A120-123F82E38938}"/>
                </a:ext>
              </a:extLst>
            </p:cNvPr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21" name="Google Shape;700;p29">
                <a:extLst>
                  <a:ext uri="{FF2B5EF4-FFF2-40B4-BE49-F238E27FC236}">
                    <a16:creationId xmlns:a16="http://schemas.microsoft.com/office/drawing/2014/main" id="{115E8330-2D5F-4693-80B0-D6696DEA3056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701;p29">
                <a:extLst>
                  <a:ext uri="{FF2B5EF4-FFF2-40B4-BE49-F238E27FC236}">
                    <a16:creationId xmlns:a16="http://schemas.microsoft.com/office/drawing/2014/main" id="{DBE96846-E36F-47FC-B34C-2F1B782FE147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" name="Google Shape;702;p29">
              <a:extLst>
                <a:ext uri="{FF2B5EF4-FFF2-40B4-BE49-F238E27FC236}">
                  <a16:creationId xmlns:a16="http://schemas.microsoft.com/office/drawing/2014/main" id="{1BE75369-9724-44E0-AB28-A882014C9712}"/>
                </a:ext>
              </a:extLst>
            </p:cNvPr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19" name="Google Shape;703;p29">
                <a:extLst>
                  <a:ext uri="{FF2B5EF4-FFF2-40B4-BE49-F238E27FC236}">
                    <a16:creationId xmlns:a16="http://schemas.microsoft.com/office/drawing/2014/main" id="{9E016E61-7281-4DD0-8F50-9C49E11B83FD}"/>
                  </a:ext>
                </a:extLst>
              </p:cNvPr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04;p29">
                <a:extLst>
                  <a:ext uri="{FF2B5EF4-FFF2-40B4-BE49-F238E27FC236}">
                    <a16:creationId xmlns:a16="http://schemas.microsoft.com/office/drawing/2014/main" id="{28AEE2DC-88EF-4B75-A9D6-C508BFF571C0}"/>
                  </a:ext>
                </a:extLst>
              </p:cNvPr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" name="Google Shape;538;p25">
            <a:extLst>
              <a:ext uri="{FF2B5EF4-FFF2-40B4-BE49-F238E27FC236}">
                <a16:creationId xmlns:a16="http://schemas.microsoft.com/office/drawing/2014/main" id="{C2EAE626-A6F2-46D8-9C58-B410A039E082}"/>
              </a:ext>
            </a:extLst>
          </p:cNvPr>
          <p:cNvGrpSpPr/>
          <p:nvPr/>
        </p:nvGrpSpPr>
        <p:grpSpPr>
          <a:xfrm>
            <a:off x="322901" y="4391339"/>
            <a:ext cx="3928086" cy="1211793"/>
            <a:chOff x="0" y="-38100"/>
            <a:chExt cx="1714009" cy="850900"/>
          </a:xfrm>
        </p:grpSpPr>
        <p:sp>
          <p:nvSpPr>
            <p:cNvPr id="26" name="Google Shape;539;p25">
              <a:extLst>
                <a:ext uri="{FF2B5EF4-FFF2-40B4-BE49-F238E27FC236}">
                  <a16:creationId xmlns:a16="http://schemas.microsoft.com/office/drawing/2014/main" id="{D812B81E-85E7-4CB9-98F1-14092D530129}"/>
                </a:ext>
              </a:extLst>
            </p:cNvPr>
            <p:cNvSpPr/>
            <p:nvPr/>
          </p:nvSpPr>
          <p:spPr>
            <a:xfrm>
              <a:off x="0" y="0"/>
              <a:ext cx="1714009" cy="489354"/>
            </a:xfrm>
            <a:custGeom>
              <a:avLst/>
              <a:gdLst/>
              <a:ahLst/>
              <a:cxnLst/>
              <a:rect l="l" t="t" r="r" b="b"/>
              <a:pathLst>
                <a:path w="1714009" h="269897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40;p25">
              <a:extLst>
                <a:ext uri="{FF2B5EF4-FFF2-40B4-BE49-F238E27FC236}">
                  <a16:creationId xmlns:a16="http://schemas.microsoft.com/office/drawing/2014/main" id="{9284412E-6C75-4FEF-A442-4FB6BD65D6C9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" name="Google Shape;538;p25">
            <a:extLst>
              <a:ext uri="{FF2B5EF4-FFF2-40B4-BE49-F238E27FC236}">
                <a16:creationId xmlns:a16="http://schemas.microsoft.com/office/drawing/2014/main" id="{11C820C8-CCFB-4C60-9DBE-F13B8C03D894}"/>
              </a:ext>
            </a:extLst>
          </p:cNvPr>
          <p:cNvGrpSpPr/>
          <p:nvPr/>
        </p:nvGrpSpPr>
        <p:grpSpPr>
          <a:xfrm>
            <a:off x="250238" y="2355126"/>
            <a:ext cx="3928086" cy="1211793"/>
            <a:chOff x="0" y="-38100"/>
            <a:chExt cx="1714009" cy="850900"/>
          </a:xfrm>
        </p:grpSpPr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B52AA4E3-198C-40C0-A0CF-A3FA5ADAB2A7}"/>
                </a:ext>
              </a:extLst>
            </p:cNvPr>
            <p:cNvSpPr/>
            <p:nvPr/>
          </p:nvSpPr>
          <p:spPr>
            <a:xfrm>
              <a:off x="0" y="0"/>
              <a:ext cx="1714009" cy="489354"/>
            </a:xfrm>
            <a:custGeom>
              <a:avLst/>
              <a:gdLst/>
              <a:ahLst/>
              <a:cxnLst/>
              <a:rect l="l" t="t" r="r" b="b"/>
              <a:pathLst>
                <a:path w="1714009" h="269897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06E5006C-8490-4165-92A4-9680EAC280C0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" name="Google Shape;538;p25">
            <a:extLst>
              <a:ext uri="{FF2B5EF4-FFF2-40B4-BE49-F238E27FC236}">
                <a16:creationId xmlns:a16="http://schemas.microsoft.com/office/drawing/2014/main" id="{D06D7B54-F8B5-44DE-BCE1-C03BC5B03933}"/>
              </a:ext>
            </a:extLst>
          </p:cNvPr>
          <p:cNvGrpSpPr/>
          <p:nvPr/>
        </p:nvGrpSpPr>
        <p:grpSpPr>
          <a:xfrm>
            <a:off x="5889668" y="4040910"/>
            <a:ext cx="4811303" cy="2304081"/>
            <a:chOff x="0" y="-38100"/>
            <a:chExt cx="1714009" cy="850900"/>
          </a:xfrm>
        </p:grpSpPr>
        <p:sp>
          <p:nvSpPr>
            <p:cNvPr id="34" name="Google Shape;539;p25">
              <a:extLst>
                <a:ext uri="{FF2B5EF4-FFF2-40B4-BE49-F238E27FC236}">
                  <a16:creationId xmlns:a16="http://schemas.microsoft.com/office/drawing/2014/main" id="{A973BD45-00EA-4B07-8177-86ADCBB86707}"/>
                </a:ext>
              </a:extLst>
            </p:cNvPr>
            <p:cNvSpPr/>
            <p:nvPr/>
          </p:nvSpPr>
          <p:spPr>
            <a:xfrm>
              <a:off x="0" y="0"/>
              <a:ext cx="1714009" cy="489354"/>
            </a:xfrm>
            <a:custGeom>
              <a:avLst/>
              <a:gdLst/>
              <a:ahLst/>
              <a:cxnLst/>
              <a:rect l="l" t="t" r="r" b="b"/>
              <a:pathLst>
                <a:path w="1714009" h="269897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40;p25">
              <a:extLst>
                <a:ext uri="{FF2B5EF4-FFF2-40B4-BE49-F238E27FC236}">
                  <a16:creationId xmlns:a16="http://schemas.microsoft.com/office/drawing/2014/main" id="{CAE13E07-C838-458A-8D49-B228FDA340A0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" name="Google Shape;538;p25">
            <a:extLst>
              <a:ext uri="{FF2B5EF4-FFF2-40B4-BE49-F238E27FC236}">
                <a16:creationId xmlns:a16="http://schemas.microsoft.com/office/drawing/2014/main" id="{3106B438-95E0-4B0A-822B-F2103D39C5E7}"/>
              </a:ext>
            </a:extLst>
          </p:cNvPr>
          <p:cNvGrpSpPr/>
          <p:nvPr/>
        </p:nvGrpSpPr>
        <p:grpSpPr>
          <a:xfrm>
            <a:off x="5765583" y="1954248"/>
            <a:ext cx="4811303" cy="2304081"/>
            <a:chOff x="0" y="-38100"/>
            <a:chExt cx="1714009" cy="850900"/>
          </a:xfrm>
        </p:grpSpPr>
        <p:sp>
          <p:nvSpPr>
            <p:cNvPr id="37" name="Google Shape;539;p25">
              <a:extLst>
                <a:ext uri="{FF2B5EF4-FFF2-40B4-BE49-F238E27FC236}">
                  <a16:creationId xmlns:a16="http://schemas.microsoft.com/office/drawing/2014/main" id="{BA6D4A72-0359-4D26-B958-F3CF6B9F9574}"/>
                </a:ext>
              </a:extLst>
            </p:cNvPr>
            <p:cNvSpPr/>
            <p:nvPr/>
          </p:nvSpPr>
          <p:spPr>
            <a:xfrm>
              <a:off x="0" y="0"/>
              <a:ext cx="1714009" cy="489354"/>
            </a:xfrm>
            <a:custGeom>
              <a:avLst/>
              <a:gdLst/>
              <a:ahLst/>
              <a:cxnLst/>
              <a:rect l="l" t="t" r="r" b="b"/>
              <a:pathLst>
                <a:path w="1714009" h="269897" extrusionOk="0">
                  <a:moveTo>
                    <a:pt x="57102" y="0"/>
                  </a:moveTo>
                  <a:lnTo>
                    <a:pt x="1656907" y="0"/>
                  </a:lnTo>
                  <a:cubicBezTo>
                    <a:pt x="1688443" y="0"/>
                    <a:pt x="1714009" y="25565"/>
                    <a:pt x="1714009" y="57102"/>
                  </a:cubicBezTo>
                  <a:lnTo>
                    <a:pt x="1714009" y="212795"/>
                  </a:lnTo>
                  <a:cubicBezTo>
                    <a:pt x="1714009" y="227940"/>
                    <a:pt x="1707992" y="242464"/>
                    <a:pt x="1697284" y="253173"/>
                  </a:cubicBezTo>
                  <a:cubicBezTo>
                    <a:pt x="1686575" y="263881"/>
                    <a:pt x="1672051" y="269897"/>
                    <a:pt x="1656907" y="269897"/>
                  </a:cubicBezTo>
                  <a:lnTo>
                    <a:pt x="57102" y="269897"/>
                  </a:lnTo>
                  <a:cubicBezTo>
                    <a:pt x="25565" y="269897"/>
                    <a:pt x="0" y="244332"/>
                    <a:pt x="0" y="212795"/>
                  </a:cubicBezTo>
                  <a:lnTo>
                    <a:pt x="0" y="57102"/>
                  </a:lnTo>
                  <a:cubicBezTo>
                    <a:pt x="0" y="25565"/>
                    <a:pt x="25565" y="0"/>
                    <a:pt x="5710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540;p25">
              <a:extLst>
                <a:ext uri="{FF2B5EF4-FFF2-40B4-BE49-F238E27FC236}">
                  <a16:creationId xmlns:a16="http://schemas.microsoft.com/office/drawing/2014/main" id="{0E2BB307-E667-44A0-B1E3-0CA4FFCCDCCD}"/>
                </a:ext>
              </a:extLst>
            </p:cNvPr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313303D2-C14E-47A1-86EB-8FAE5CBAA538}"/>
              </a:ext>
            </a:extLst>
          </p:cNvPr>
          <p:cNvSpPr/>
          <p:nvPr/>
        </p:nvSpPr>
        <p:spPr>
          <a:xfrm>
            <a:off x="4178325" y="2008318"/>
            <a:ext cx="1536675" cy="1603146"/>
          </a:xfrm>
          <a:custGeom>
            <a:avLst/>
            <a:gdLst>
              <a:gd name="connsiteX0" fmla="*/ 0 w 1605064"/>
              <a:gd name="connsiteY0" fmla="*/ 756114 h 1603146"/>
              <a:gd name="connsiteX1" fmla="*/ 612843 w 1605064"/>
              <a:gd name="connsiteY1" fmla="*/ 26540 h 1603146"/>
              <a:gd name="connsiteX2" fmla="*/ 953311 w 1605064"/>
              <a:gd name="connsiteY2" fmla="*/ 1592693 h 1603146"/>
              <a:gd name="connsiteX3" fmla="*/ 1605064 w 1605064"/>
              <a:gd name="connsiteY3" fmla="*/ 697748 h 160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5064" h="1603146">
                <a:moveTo>
                  <a:pt x="0" y="756114"/>
                </a:moveTo>
                <a:cubicBezTo>
                  <a:pt x="226979" y="321612"/>
                  <a:pt x="453958" y="-112890"/>
                  <a:pt x="612843" y="26540"/>
                </a:cubicBezTo>
                <a:cubicBezTo>
                  <a:pt x="771728" y="165970"/>
                  <a:pt x="787941" y="1480825"/>
                  <a:pt x="953311" y="1592693"/>
                </a:cubicBezTo>
                <a:cubicBezTo>
                  <a:pt x="1118681" y="1704561"/>
                  <a:pt x="1489954" y="885816"/>
                  <a:pt x="1605064" y="697748"/>
                </a:cubicBezTo>
              </a:path>
            </a:pathLst>
          </a:custGeom>
          <a:ln w="444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Соединитель: уступ 40">
            <a:extLst>
              <a:ext uri="{FF2B5EF4-FFF2-40B4-BE49-F238E27FC236}">
                <a16:creationId xmlns:a16="http://schemas.microsoft.com/office/drawing/2014/main" id="{B39A7E44-864C-40C1-81DB-FB8C03CC12DB}"/>
              </a:ext>
            </a:extLst>
          </p:cNvPr>
          <p:cNvCxnSpPr>
            <a:cxnSpLocks/>
          </p:cNvCxnSpPr>
          <p:nvPr/>
        </p:nvCxnSpPr>
        <p:spPr>
          <a:xfrm>
            <a:off x="4250987" y="4753116"/>
            <a:ext cx="1638681" cy="345801"/>
          </a:xfrm>
          <a:prstGeom prst="bentConnector3">
            <a:avLst>
              <a:gd name="adj1" fmla="val 51860"/>
            </a:avLst>
          </a:prstGeom>
          <a:ln w="508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Равнобедренный треугольник 50">
            <a:extLst>
              <a:ext uri="{FF2B5EF4-FFF2-40B4-BE49-F238E27FC236}">
                <a16:creationId xmlns:a16="http://schemas.microsoft.com/office/drawing/2014/main" id="{2890AD34-D3F0-4360-B1E9-198CE70F2310}"/>
              </a:ext>
            </a:extLst>
          </p:cNvPr>
          <p:cNvSpPr/>
          <p:nvPr/>
        </p:nvSpPr>
        <p:spPr>
          <a:xfrm rot="1556145">
            <a:off x="5662980" y="2604170"/>
            <a:ext cx="118378" cy="114088"/>
          </a:xfrm>
          <a:prstGeom prst="triangle">
            <a:avLst>
              <a:gd name="adj" fmla="val 59486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F6F2114-6E38-4679-BC53-6EC910DDCBD0}"/>
              </a:ext>
            </a:extLst>
          </p:cNvPr>
          <p:cNvSpPr/>
          <p:nvPr/>
        </p:nvSpPr>
        <p:spPr>
          <a:xfrm>
            <a:off x="916137" y="1307967"/>
            <a:ext cx="10359341" cy="4707350"/>
          </a:xfrm>
          <a:custGeom>
            <a:avLst/>
            <a:gdLst>
              <a:gd name="connsiteX0" fmla="*/ 0 w 10359341"/>
              <a:gd name="connsiteY0" fmla="*/ 784574 h 4707350"/>
              <a:gd name="connsiteX1" fmla="*/ 784574 w 10359341"/>
              <a:gd name="connsiteY1" fmla="*/ 0 h 4707350"/>
              <a:gd name="connsiteX2" fmla="*/ 1370587 w 10359341"/>
              <a:gd name="connsiteY2" fmla="*/ 0 h 4707350"/>
              <a:gd name="connsiteX3" fmla="*/ 2132404 w 10359341"/>
              <a:gd name="connsiteY3" fmla="*/ 0 h 4707350"/>
              <a:gd name="connsiteX4" fmla="*/ 2718416 w 10359341"/>
              <a:gd name="connsiteY4" fmla="*/ 0 h 4707350"/>
              <a:gd name="connsiteX5" fmla="*/ 3480233 w 10359341"/>
              <a:gd name="connsiteY5" fmla="*/ 0 h 4707350"/>
              <a:gd name="connsiteX6" fmla="*/ 3978344 w 10359341"/>
              <a:gd name="connsiteY6" fmla="*/ 0 h 4707350"/>
              <a:gd name="connsiteX7" fmla="*/ 4388553 w 10359341"/>
              <a:gd name="connsiteY7" fmla="*/ 0 h 4707350"/>
              <a:gd name="connsiteX8" fmla="*/ 4974566 w 10359341"/>
              <a:gd name="connsiteY8" fmla="*/ 0 h 4707350"/>
              <a:gd name="connsiteX9" fmla="*/ 5648481 w 10359341"/>
              <a:gd name="connsiteY9" fmla="*/ 0 h 4707350"/>
              <a:gd name="connsiteX10" fmla="*/ 6410298 w 10359341"/>
              <a:gd name="connsiteY10" fmla="*/ 0 h 4707350"/>
              <a:gd name="connsiteX11" fmla="*/ 7084212 w 10359341"/>
              <a:gd name="connsiteY11" fmla="*/ 0 h 4707350"/>
              <a:gd name="connsiteX12" fmla="*/ 7846029 w 10359341"/>
              <a:gd name="connsiteY12" fmla="*/ 0 h 4707350"/>
              <a:gd name="connsiteX13" fmla="*/ 8519944 w 10359341"/>
              <a:gd name="connsiteY13" fmla="*/ 0 h 4707350"/>
              <a:gd name="connsiteX14" fmla="*/ 8930153 w 10359341"/>
              <a:gd name="connsiteY14" fmla="*/ 0 h 4707350"/>
              <a:gd name="connsiteX15" fmla="*/ 9574767 w 10359341"/>
              <a:gd name="connsiteY15" fmla="*/ 0 h 4707350"/>
              <a:gd name="connsiteX16" fmla="*/ 10359341 w 10359341"/>
              <a:gd name="connsiteY16" fmla="*/ 784574 h 4707350"/>
              <a:gd name="connsiteX17" fmla="*/ 10359341 w 10359341"/>
              <a:gd name="connsiteY17" fmla="*/ 1338990 h 4707350"/>
              <a:gd name="connsiteX18" fmla="*/ 10359341 w 10359341"/>
              <a:gd name="connsiteY18" fmla="*/ 1799259 h 4707350"/>
              <a:gd name="connsiteX19" fmla="*/ 10359341 w 10359341"/>
              <a:gd name="connsiteY19" fmla="*/ 2259529 h 4707350"/>
              <a:gd name="connsiteX20" fmla="*/ 10359341 w 10359341"/>
              <a:gd name="connsiteY20" fmla="*/ 2782563 h 4707350"/>
              <a:gd name="connsiteX21" fmla="*/ 10359341 w 10359341"/>
              <a:gd name="connsiteY21" fmla="*/ 3305596 h 4707350"/>
              <a:gd name="connsiteX22" fmla="*/ 10359341 w 10359341"/>
              <a:gd name="connsiteY22" fmla="*/ 3922776 h 4707350"/>
              <a:gd name="connsiteX23" fmla="*/ 9574767 w 10359341"/>
              <a:gd name="connsiteY23" fmla="*/ 4707350 h 4707350"/>
              <a:gd name="connsiteX24" fmla="*/ 8812950 w 10359341"/>
              <a:gd name="connsiteY24" fmla="*/ 4707350 h 4707350"/>
              <a:gd name="connsiteX25" fmla="*/ 8402741 w 10359341"/>
              <a:gd name="connsiteY25" fmla="*/ 4707350 h 4707350"/>
              <a:gd name="connsiteX26" fmla="*/ 7728826 w 10359341"/>
              <a:gd name="connsiteY26" fmla="*/ 4707350 h 4707350"/>
              <a:gd name="connsiteX27" fmla="*/ 6967010 w 10359341"/>
              <a:gd name="connsiteY27" fmla="*/ 4707350 h 4707350"/>
              <a:gd name="connsiteX28" fmla="*/ 6644703 w 10359341"/>
              <a:gd name="connsiteY28" fmla="*/ 4707350 h 4707350"/>
              <a:gd name="connsiteX29" fmla="*/ 5882886 w 10359341"/>
              <a:gd name="connsiteY29" fmla="*/ 4707350 h 4707350"/>
              <a:gd name="connsiteX30" fmla="*/ 5121069 w 10359341"/>
              <a:gd name="connsiteY30" fmla="*/ 4707350 h 4707350"/>
              <a:gd name="connsiteX31" fmla="*/ 4798762 w 10359341"/>
              <a:gd name="connsiteY31" fmla="*/ 4707350 h 4707350"/>
              <a:gd name="connsiteX32" fmla="*/ 4212749 w 10359341"/>
              <a:gd name="connsiteY32" fmla="*/ 4707350 h 4707350"/>
              <a:gd name="connsiteX33" fmla="*/ 3714638 w 10359341"/>
              <a:gd name="connsiteY33" fmla="*/ 4707350 h 4707350"/>
              <a:gd name="connsiteX34" fmla="*/ 3216527 w 10359341"/>
              <a:gd name="connsiteY34" fmla="*/ 4707350 h 4707350"/>
              <a:gd name="connsiteX35" fmla="*/ 2718416 w 10359341"/>
              <a:gd name="connsiteY35" fmla="*/ 4707350 h 4707350"/>
              <a:gd name="connsiteX36" fmla="*/ 2396109 w 10359341"/>
              <a:gd name="connsiteY36" fmla="*/ 4707350 h 4707350"/>
              <a:gd name="connsiteX37" fmla="*/ 1634293 w 10359341"/>
              <a:gd name="connsiteY37" fmla="*/ 4707350 h 4707350"/>
              <a:gd name="connsiteX38" fmla="*/ 784574 w 10359341"/>
              <a:gd name="connsiteY38" fmla="*/ 4707350 h 4707350"/>
              <a:gd name="connsiteX39" fmla="*/ 0 w 10359341"/>
              <a:gd name="connsiteY39" fmla="*/ 3922776 h 4707350"/>
              <a:gd name="connsiteX40" fmla="*/ 0 w 10359341"/>
              <a:gd name="connsiteY40" fmla="*/ 3368360 h 4707350"/>
              <a:gd name="connsiteX41" fmla="*/ 0 w 10359341"/>
              <a:gd name="connsiteY41" fmla="*/ 2813945 h 4707350"/>
              <a:gd name="connsiteX42" fmla="*/ 0 w 10359341"/>
              <a:gd name="connsiteY42" fmla="*/ 2322293 h 4707350"/>
              <a:gd name="connsiteX43" fmla="*/ 0 w 10359341"/>
              <a:gd name="connsiteY43" fmla="*/ 1862023 h 4707350"/>
              <a:gd name="connsiteX44" fmla="*/ 0 w 10359341"/>
              <a:gd name="connsiteY44" fmla="*/ 1401754 h 4707350"/>
              <a:gd name="connsiteX45" fmla="*/ 0 w 10359341"/>
              <a:gd name="connsiteY45" fmla="*/ 784574 h 470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0359341" h="4707350" fill="none" extrusionOk="0">
                <a:moveTo>
                  <a:pt x="0" y="784574"/>
                </a:moveTo>
                <a:cubicBezTo>
                  <a:pt x="2496" y="464889"/>
                  <a:pt x="414181" y="-56455"/>
                  <a:pt x="784574" y="0"/>
                </a:cubicBezTo>
                <a:cubicBezTo>
                  <a:pt x="904788" y="-30356"/>
                  <a:pt x="1087568" y="13368"/>
                  <a:pt x="1370587" y="0"/>
                </a:cubicBezTo>
                <a:cubicBezTo>
                  <a:pt x="1653606" y="-13368"/>
                  <a:pt x="1854422" y="77711"/>
                  <a:pt x="2132404" y="0"/>
                </a:cubicBezTo>
                <a:cubicBezTo>
                  <a:pt x="2410386" y="-77711"/>
                  <a:pt x="2464041" y="29827"/>
                  <a:pt x="2718416" y="0"/>
                </a:cubicBezTo>
                <a:cubicBezTo>
                  <a:pt x="2972791" y="-29827"/>
                  <a:pt x="3294072" y="1883"/>
                  <a:pt x="3480233" y="0"/>
                </a:cubicBezTo>
                <a:cubicBezTo>
                  <a:pt x="3666394" y="-1883"/>
                  <a:pt x="3868419" y="9428"/>
                  <a:pt x="3978344" y="0"/>
                </a:cubicBezTo>
                <a:cubicBezTo>
                  <a:pt x="4088269" y="-9428"/>
                  <a:pt x="4223598" y="37128"/>
                  <a:pt x="4388553" y="0"/>
                </a:cubicBezTo>
                <a:cubicBezTo>
                  <a:pt x="4553508" y="-37128"/>
                  <a:pt x="4795174" y="7577"/>
                  <a:pt x="4974566" y="0"/>
                </a:cubicBezTo>
                <a:cubicBezTo>
                  <a:pt x="5153958" y="-7577"/>
                  <a:pt x="5370468" y="3022"/>
                  <a:pt x="5648481" y="0"/>
                </a:cubicBezTo>
                <a:cubicBezTo>
                  <a:pt x="5926494" y="-3022"/>
                  <a:pt x="6079044" y="23905"/>
                  <a:pt x="6410298" y="0"/>
                </a:cubicBezTo>
                <a:cubicBezTo>
                  <a:pt x="6741552" y="-23905"/>
                  <a:pt x="6884313" y="68121"/>
                  <a:pt x="7084212" y="0"/>
                </a:cubicBezTo>
                <a:cubicBezTo>
                  <a:pt x="7284111" y="-68121"/>
                  <a:pt x="7487569" y="74459"/>
                  <a:pt x="7846029" y="0"/>
                </a:cubicBezTo>
                <a:cubicBezTo>
                  <a:pt x="8204489" y="-74459"/>
                  <a:pt x="8248117" y="727"/>
                  <a:pt x="8519944" y="0"/>
                </a:cubicBezTo>
                <a:cubicBezTo>
                  <a:pt x="8791772" y="-727"/>
                  <a:pt x="8725156" y="4607"/>
                  <a:pt x="8930153" y="0"/>
                </a:cubicBezTo>
                <a:cubicBezTo>
                  <a:pt x="9135150" y="-4607"/>
                  <a:pt x="9396831" y="11913"/>
                  <a:pt x="9574767" y="0"/>
                </a:cubicBezTo>
                <a:cubicBezTo>
                  <a:pt x="10121621" y="17491"/>
                  <a:pt x="10418953" y="442724"/>
                  <a:pt x="10359341" y="784574"/>
                </a:cubicBezTo>
                <a:cubicBezTo>
                  <a:pt x="10399289" y="1037658"/>
                  <a:pt x="10303030" y="1216074"/>
                  <a:pt x="10359341" y="1338990"/>
                </a:cubicBezTo>
                <a:cubicBezTo>
                  <a:pt x="10415652" y="1461906"/>
                  <a:pt x="10318155" y="1651119"/>
                  <a:pt x="10359341" y="1799259"/>
                </a:cubicBezTo>
                <a:cubicBezTo>
                  <a:pt x="10400527" y="1947399"/>
                  <a:pt x="10352041" y="2120990"/>
                  <a:pt x="10359341" y="2259529"/>
                </a:cubicBezTo>
                <a:cubicBezTo>
                  <a:pt x="10366641" y="2398068"/>
                  <a:pt x="10357565" y="2633270"/>
                  <a:pt x="10359341" y="2782563"/>
                </a:cubicBezTo>
                <a:cubicBezTo>
                  <a:pt x="10361117" y="2931856"/>
                  <a:pt x="10318747" y="3136743"/>
                  <a:pt x="10359341" y="3305596"/>
                </a:cubicBezTo>
                <a:cubicBezTo>
                  <a:pt x="10399935" y="3474449"/>
                  <a:pt x="10326068" y="3663563"/>
                  <a:pt x="10359341" y="3922776"/>
                </a:cubicBezTo>
                <a:cubicBezTo>
                  <a:pt x="10328947" y="4363280"/>
                  <a:pt x="9926541" y="4783872"/>
                  <a:pt x="9574767" y="4707350"/>
                </a:cubicBezTo>
                <a:cubicBezTo>
                  <a:pt x="9296319" y="4720398"/>
                  <a:pt x="8988402" y="4665167"/>
                  <a:pt x="8812950" y="4707350"/>
                </a:cubicBezTo>
                <a:cubicBezTo>
                  <a:pt x="8637498" y="4749533"/>
                  <a:pt x="8570172" y="4696014"/>
                  <a:pt x="8402741" y="4707350"/>
                </a:cubicBezTo>
                <a:cubicBezTo>
                  <a:pt x="8235310" y="4718686"/>
                  <a:pt x="7938273" y="4694531"/>
                  <a:pt x="7728826" y="4707350"/>
                </a:cubicBezTo>
                <a:cubicBezTo>
                  <a:pt x="7519379" y="4720169"/>
                  <a:pt x="7336758" y="4676660"/>
                  <a:pt x="6967010" y="4707350"/>
                </a:cubicBezTo>
                <a:cubicBezTo>
                  <a:pt x="6597262" y="4738040"/>
                  <a:pt x="6801026" y="4690669"/>
                  <a:pt x="6644703" y="4707350"/>
                </a:cubicBezTo>
                <a:cubicBezTo>
                  <a:pt x="6488380" y="4724031"/>
                  <a:pt x="6184049" y="4649499"/>
                  <a:pt x="5882886" y="4707350"/>
                </a:cubicBezTo>
                <a:cubicBezTo>
                  <a:pt x="5581723" y="4765201"/>
                  <a:pt x="5283019" y="4699849"/>
                  <a:pt x="5121069" y="4707350"/>
                </a:cubicBezTo>
                <a:cubicBezTo>
                  <a:pt x="4959119" y="4714851"/>
                  <a:pt x="4902070" y="4679020"/>
                  <a:pt x="4798762" y="4707350"/>
                </a:cubicBezTo>
                <a:cubicBezTo>
                  <a:pt x="4695454" y="4735680"/>
                  <a:pt x="4469399" y="4689790"/>
                  <a:pt x="4212749" y="4707350"/>
                </a:cubicBezTo>
                <a:cubicBezTo>
                  <a:pt x="3956099" y="4724910"/>
                  <a:pt x="3928712" y="4686319"/>
                  <a:pt x="3714638" y="4707350"/>
                </a:cubicBezTo>
                <a:cubicBezTo>
                  <a:pt x="3500564" y="4728381"/>
                  <a:pt x="3320472" y="4664144"/>
                  <a:pt x="3216527" y="4707350"/>
                </a:cubicBezTo>
                <a:cubicBezTo>
                  <a:pt x="3112582" y="4750556"/>
                  <a:pt x="2965729" y="4698682"/>
                  <a:pt x="2718416" y="4707350"/>
                </a:cubicBezTo>
                <a:cubicBezTo>
                  <a:pt x="2471103" y="4716018"/>
                  <a:pt x="2474206" y="4692388"/>
                  <a:pt x="2396109" y="4707350"/>
                </a:cubicBezTo>
                <a:cubicBezTo>
                  <a:pt x="2318012" y="4722312"/>
                  <a:pt x="1926809" y="4685947"/>
                  <a:pt x="1634293" y="4707350"/>
                </a:cubicBezTo>
                <a:cubicBezTo>
                  <a:pt x="1341777" y="4728753"/>
                  <a:pt x="1148713" y="4646736"/>
                  <a:pt x="784574" y="4707350"/>
                </a:cubicBezTo>
                <a:cubicBezTo>
                  <a:pt x="281923" y="4690747"/>
                  <a:pt x="-4099" y="4244488"/>
                  <a:pt x="0" y="3922776"/>
                </a:cubicBezTo>
                <a:cubicBezTo>
                  <a:pt x="-46464" y="3718545"/>
                  <a:pt x="9924" y="3498960"/>
                  <a:pt x="0" y="3368360"/>
                </a:cubicBezTo>
                <a:cubicBezTo>
                  <a:pt x="-9924" y="3237760"/>
                  <a:pt x="64205" y="3005237"/>
                  <a:pt x="0" y="2813945"/>
                </a:cubicBezTo>
                <a:cubicBezTo>
                  <a:pt x="-64205" y="2622654"/>
                  <a:pt x="24881" y="2464807"/>
                  <a:pt x="0" y="2322293"/>
                </a:cubicBezTo>
                <a:cubicBezTo>
                  <a:pt x="-24881" y="2179779"/>
                  <a:pt x="31198" y="2013942"/>
                  <a:pt x="0" y="1862023"/>
                </a:cubicBezTo>
                <a:cubicBezTo>
                  <a:pt x="-31198" y="1710104"/>
                  <a:pt x="8638" y="1574146"/>
                  <a:pt x="0" y="1401754"/>
                </a:cubicBezTo>
                <a:cubicBezTo>
                  <a:pt x="-8638" y="1229362"/>
                  <a:pt x="56897" y="965403"/>
                  <a:pt x="0" y="784574"/>
                </a:cubicBezTo>
                <a:close/>
              </a:path>
              <a:path w="10359341" h="4707350" stroke="0" extrusionOk="0">
                <a:moveTo>
                  <a:pt x="0" y="784574"/>
                </a:moveTo>
                <a:cubicBezTo>
                  <a:pt x="-50384" y="320188"/>
                  <a:pt x="253367" y="36743"/>
                  <a:pt x="784574" y="0"/>
                </a:cubicBezTo>
                <a:cubicBezTo>
                  <a:pt x="1085982" y="-47710"/>
                  <a:pt x="1266870" y="30869"/>
                  <a:pt x="1546391" y="0"/>
                </a:cubicBezTo>
                <a:cubicBezTo>
                  <a:pt x="1825912" y="-30869"/>
                  <a:pt x="1907440" y="45550"/>
                  <a:pt x="2044502" y="0"/>
                </a:cubicBezTo>
                <a:cubicBezTo>
                  <a:pt x="2181564" y="-45550"/>
                  <a:pt x="2355941" y="42158"/>
                  <a:pt x="2454711" y="0"/>
                </a:cubicBezTo>
                <a:cubicBezTo>
                  <a:pt x="2553481" y="-42158"/>
                  <a:pt x="2896139" y="27606"/>
                  <a:pt x="3128625" y="0"/>
                </a:cubicBezTo>
                <a:cubicBezTo>
                  <a:pt x="3361111" y="-27606"/>
                  <a:pt x="3514935" y="55388"/>
                  <a:pt x="3626736" y="0"/>
                </a:cubicBezTo>
                <a:cubicBezTo>
                  <a:pt x="3738537" y="-55388"/>
                  <a:pt x="4176567" y="14389"/>
                  <a:pt x="4388553" y="0"/>
                </a:cubicBezTo>
                <a:cubicBezTo>
                  <a:pt x="4600539" y="-14389"/>
                  <a:pt x="4706651" y="3776"/>
                  <a:pt x="4798762" y="0"/>
                </a:cubicBezTo>
                <a:cubicBezTo>
                  <a:pt x="4890873" y="-3776"/>
                  <a:pt x="5274831" y="33837"/>
                  <a:pt x="5560579" y="0"/>
                </a:cubicBezTo>
                <a:cubicBezTo>
                  <a:pt x="5846327" y="-33837"/>
                  <a:pt x="5770095" y="31477"/>
                  <a:pt x="5882886" y="0"/>
                </a:cubicBezTo>
                <a:cubicBezTo>
                  <a:pt x="5995677" y="-31477"/>
                  <a:pt x="6201200" y="56915"/>
                  <a:pt x="6468899" y="0"/>
                </a:cubicBezTo>
                <a:cubicBezTo>
                  <a:pt x="6736598" y="-56915"/>
                  <a:pt x="6812350" y="33432"/>
                  <a:pt x="7054912" y="0"/>
                </a:cubicBezTo>
                <a:cubicBezTo>
                  <a:pt x="7297474" y="-33432"/>
                  <a:pt x="7329900" y="11520"/>
                  <a:pt x="7553023" y="0"/>
                </a:cubicBezTo>
                <a:cubicBezTo>
                  <a:pt x="7776146" y="-11520"/>
                  <a:pt x="8097110" y="29726"/>
                  <a:pt x="8314839" y="0"/>
                </a:cubicBezTo>
                <a:cubicBezTo>
                  <a:pt x="8532568" y="-29726"/>
                  <a:pt x="8875083" y="10911"/>
                  <a:pt x="9076656" y="0"/>
                </a:cubicBezTo>
                <a:cubicBezTo>
                  <a:pt x="9278229" y="-10911"/>
                  <a:pt x="9375003" y="59607"/>
                  <a:pt x="9574767" y="0"/>
                </a:cubicBezTo>
                <a:cubicBezTo>
                  <a:pt x="9984438" y="-22270"/>
                  <a:pt x="10300706" y="263613"/>
                  <a:pt x="10359341" y="784574"/>
                </a:cubicBezTo>
                <a:cubicBezTo>
                  <a:pt x="10379520" y="911817"/>
                  <a:pt x="10333228" y="1201577"/>
                  <a:pt x="10359341" y="1338990"/>
                </a:cubicBezTo>
                <a:cubicBezTo>
                  <a:pt x="10385454" y="1476403"/>
                  <a:pt x="10340994" y="1578240"/>
                  <a:pt x="10359341" y="1767877"/>
                </a:cubicBezTo>
                <a:cubicBezTo>
                  <a:pt x="10377688" y="1957514"/>
                  <a:pt x="10318359" y="2058269"/>
                  <a:pt x="10359341" y="2228147"/>
                </a:cubicBezTo>
                <a:cubicBezTo>
                  <a:pt x="10400323" y="2398025"/>
                  <a:pt x="10316426" y="2693642"/>
                  <a:pt x="10359341" y="2813945"/>
                </a:cubicBezTo>
                <a:cubicBezTo>
                  <a:pt x="10402256" y="2934248"/>
                  <a:pt x="10337030" y="3131073"/>
                  <a:pt x="10359341" y="3336978"/>
                </a:cubicBezTo>
                <a:cubicBezTo>
                  <a:pt x="10381652" y="3542883"/>
                  <a:pt x="10330160" y="3650283"/>
                  <a:pt x="10359341" y="3922776"/>
                </a:cubicBezTo>
                <a:cubicBezTo>
                  <a:pt x="10358530" y="4334225"/>
                  <a:pt x="10131949" y="4733180"/>
                  <a:pt x="9574767" y="4707350"/>
                </a:cubicBezTo>
                <a:cubicBezTo>
                  <a:pt x="9445730" y="4761446"/>
                  <a:pt x="9226254" y="4664944"/>
                  <a:pt x="8988754" y="4707350"/>
                </a:cubicBezTo>
                <a:cubicBezTo>
                  <a:pt x="8751254" y="4749756"/>
                  <a:pt x="8541674" y="4705569"/>
                  <a:pt x="8402741" y="4707350"/>
                </a:cubicBezTo>
                <a:cubicBezTo>
                  <a:pt x="8263808" y="4709131"/>
                  <a:pt x="8075610" y="4693415"/>
                  <a:pt x="7992532" y="4707350"/>
                </a:cubicBezTo>
                <a:cubicBezTo>
                  <a:pt x="7909454" y="4721285"/>
                  <a:pt x="7515433" y="4637585"/>
                  <a:pt x="7318617" y="4707350"/>
                </a:cubicBezTo>
                <a:cubicBezTo>
                  <a:pt x="7121801" y="4777115"/>
                  <a:pt x="7102130" y="4668248"/>
                  <a:pt x="6908408" y="4707350"/>
                </a:cubicBezTo>
                <a:cubicBezTo>
                  <a:pt x="6714686" y="4746452"/>
                  <a:pt x="6491723" y="4627862"/>
                  <a:pt x="6234494" y="4707350"/>
                </a:cubicBezTo>
                <a:cubicBezTo>
                  <a:pt x="5977265" y="4786838"/>
                  <a:pt x="6025131" y="4690238"/>
                  <a:pt x="5912187" y="4707350"/>
                </a:cubicBezTo>
                <a:cubicBezTo>
                  <a:pt x="5799243" y="4724462"/>
                  <a:pt x="5530809" y="4650231"/>
                  <a:pt x="5238272" y="4707350"/>
                </a:cubicBezTo>
                <a:cubicBezTo>
                  <a:pt x="4945736" y="4764469"/>
                  <a:pt x="4981630" y="4688573"/>
                  <a:pt x="4828063" y="4707350"/>
                </a:cubicBezTo>
                <a:cubicBezTo>
                  <a:pt x="4674496" y="4726127"/>
                  <a:pt x="4660020" y="4691094"/>
                  <a:pt x="4505756" y="4707350"/>
                </a:cubicBezTo>
                <a:cubicBezTo>
                  <a:pt x="4351492" y="4723606"/>
                  <a:pt x="4204749" y="4702166"/>
                  <a:pt x="4095547" y="4707350"/>
                </a:cubicBezTo>
                <a:cubicBezTo>
                  <a:pt x="3986345" y="4712534"/>
                  <a:pt x="3712483" y="4686952"/>
                  <a:pt x="3421632" y="4707350"/>
                </a:cubicBezTo>
                <a:cubicBezTo>
                  <a:pt x="3130781" y="4727748"/>
                  <a:pt x="3204922" y="4684726"/>
                  <a:pt x="3011423" y="4707350"/>
                </a:cubicBezTo>
                <a:cubicBezTo>
                  <a:pt x="2817924" y="4729974"/>
                  <a:pt x="2781586" y="4704342"/>
                  <a:pt x="2689116" y="4707350"/>
                </a:cubicBezTo>
                <a:cubicBezTo>
                  <a:pt x="2596646" y="4710358"/>
                  <a:pt x="2435687" y="4679807"/>
                  <a:pt x="2278907" y="4707350"/>
                </a:cubicBezTo>
                <a:cubicBezTo>
                  <a:pt x="2122127" y="4734893"/>
                  <a:pt x="1884264" y="4661990"/>
                  <a:pt x="1780796" y="4707350"/>
                </a:cubicBezTo>
                <a:cubicBezTo>
                  <a:pt x="1677328" y="4752710"/>
                  <a:pt x="1104980" y="4647481"/>
                  <a:pt x="784574" y="4707350"/>
                </a:cubicBezTo>
                <a:cubicBezTo>
                  <a:pt x="304030" y="4754240"/>
                  <a:pt x="126772" y="4384536"/>
                  <a:pt x="0" y="3922776"/>
                </a:cubicBezTo>
                <a:cubicBezTo>
                  <a:pt x="-10864" y="3681278"/>
                  <a:pt x="68219" y="3493669"/>
                  <a:pt x="0" y="3336978"/>
                </a:cubicBezTo>
                <a:cubicBezTo>
                  <a:pt x="-68219" y="3180287"/>
                  <a:pt x="56525" y="3035906"/>
                  <a:pt x="0" y="2751181"/>
                </a:cubicBezTo>
                <a:cubicBezTo>
                  <a:pt x="-56525" y="2466456"/>
                  <a:pt x="12042" y="2345301"/>
                  <a:pt x="0" y="2196765"/>
                </a:cubicBezTo>
                <a:cubicBezTo>
                  <a:pt x="-12042" y="2048229"/>
                  <a:pt x="49092" y="1853459"/>
                  <a:pt x="0" y="1705113"/>
                </a:cubicBezTo>
                <a:cubicBezTo>
                  <a:pt x="-49092" y="1556767"/>
                  <a:pt x="107329" y="1230359"/>
                  <a:pt x="0" y="784574"/>
                </a:cubicBezTo>
                <a:close/>
              </a:path>
            </a:pathLst>
          </a:custGeom>
          <a:ln w="444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53" name="Google Shape;753;p31"/>
          <p:cNvCxnSpPr/>
          <p:nvPr/>
        </p:nvCxnSpPr>
        <p:spPr>
          <a:xfrm>
            <a:off x="4166199" y="842683"/>
            <a:ext cx="5526195" cy="0"/>
          </a:xfrm>
          <a:prstGeom prst="straightConnector1">
            <a:avLst/>
          </a:prstGeom>
          <a:noFill/>
          <a:ln w="38100" cap="flat" cmpd="sng">
            <a:solidFill>
              <a:srgbClr val="0B132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54" name="Google Shape;754;p31"/>
          <p:cNvGrpSpPr/>
          <p:nvPr/>
        </p:nvGrpSpPr>
        <p:grpSpPr>
          <a:xfrm>
            <a:off x="10027315" y="706467"/>
            <a:ext cx="271215" cy="272431"/>
            <a:chOff x="1813" y="0"/>
            <a:chExt cx="809173" cy="812800"/>
          </a:xfrm>
        </p:grpSpPr>
        <p:sp>
          <p:nvSpPr>
            <p:cNvPr id="755" name="Google Shape;755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756" name="Google Shape;756;p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7" name="Google Shape;757;p31"/>
          <p:cNvGrpSpPr/>
          <p:nvPr/>
        </p:nvGrpSpPr>
        <p:grpSpPr>
          <a:xfrm>
            <a:off x="10403098" y="706467"/>
            <a:ext cx="271215" cy="272431"/>
            <a:chOff x="1813" y="0"/>
            <a:chExt cx="809173" cy="812800"/>
          </a:xfrm>
        </p:grpSpPr>
        <p:sp>
          <p:nvSpPr>
            <p:cNvPr id="758" name="Google Shape;758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759" name="Google Shape;759;p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0" name="Google Shape;760;p31"/>
          <p:cNvGrpSpPr/>
          <p:nvPr/>
        </p:nvGrpSpPr>
        <p:grpSpPr>
          <a:xfrm>
            <a:off x="10777130" y="706467"/>
            <a:ext cx="271215" cy="272431"/>
            <a:chOff x="1813" y="0"/>
            <a:chExt cx="809173" cy="812800"/>
          </a:xfrm>
        </p:grpSpPr>
        <p:sp>
          <p:nvSpPr>
            <p:cNvPr id="761" name="Google Shape;761;p3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762" name="Google Shape;762;p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9B92BF0-78F8-4E10-94A1-73C536118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066553"/>
              </p:ext>
            </p:extLst>
          </p:nvPr>
        </p:nvGraphicFramePr>
        <p:xfrm>
          <a:off x="1241736" y="1418640"/>
          <a:ext cx="9708142" cy="4467752"/>
        </p:xfrm>
        <a:graphic>
          <a:graphicData uri="http://schemas.openxmlformats.org/drawingml/2006/table">
            <a:tbl>
              <a:tblPr/>
              <a:tblGrid>
                <a:gridCol w="3212148">
                  <a:extLst>
                    <a:ext uri="{9D8B030D-6E8A-4147-A177-3AD203B41FA5}">
                      <a16:colId xmlns:a16="http://schemas.microsoft.com/office/drawing/2014/main" val="1234728474"/>
                    </a:ext>
                  </a:extLst>
                </a:gridCol>
                <a:gridCol w="3247997">
                  <a:extLst>
                    <a:ext uri="{9D8B030D-6E8A-4147-A177-3AD203B41FA5}">
                      <a16:colId xmlns:a16="http://schemas.microsoft.com/office/drawing/2014/main" val="1681588641"/>
                    </a:ext>
                  </a:extLst>
                </a:gridCol>
                <a:gridCol w="3247997">
                  <a:extLst>
                    <a:ext uri="{9D8B030D-6E8A-4147-A177-3AD203B41FA5}">
                      <a16:colId xmlns:a16="http://schemas.microsoft.com/office/drawing/2014/main" val="3065256902"/>
                    </a:ext>
                  </a:extLst>
                </a:gridCol>
              </a:tblGrid>
              <a:tr h="613221">
                <a:tc>
                  <a:txBody>
                    <a:bodyPr/>
                    <a:lstStyle/>
                    <a:p>
                      <a:pPr algn="l"/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Аспект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JDBC </a:t>
                      </a:r>
                      <a:r>
                        <a:rPr lang="ru-RU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версия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Hibernate </a:t>
                      </a:r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версия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04102"/>
                  </a:ext>
                </a:extLst>
              </a:tr>
              <a:tr h="613221"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Объём кода </a:t>
                      </a:r>
                      <a:r>
                        <a:rPr lang="en-US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DAO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~60 строк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~100 строк</a:t>
                      </a:r>
                    </a:p>
                  </a:txBody>
                  <a:tcPr marL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901810"/>
                  </a:ext>
                </a:extLst>
              </a:tr>
              <a:tr h="613221">
                <a:tc>
                  <a:txBody>
                    <a:bodyPr/>
                    <a:lstStyle/>
                    <a:p>
                      <a:r>
                        <a:rPr lang="en-US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SQL </a:t>
                      </a:r>
                      <a:r>
                        <a:rPr lang="ru-RU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в коде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5 запросов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0 запросов</a:t>
                      </a:r>
                    </a:p>
                  </a:txBody>
                  <a:tcPr marL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858717"/>
                  </a:ext>
                </a:extLst>
              </a:tr>
              <a:tr h="613221"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Ручной маппинг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Есть (15 строк)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Нет</a:t>
                      </a:r>
                    </a:p>
                  </a:txBody>
                  <a:tcPr marL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017846"/>
                  </a:ext>
                </a:extLst>
              </a:tr>
              <a:tr h="1007434">
                <a:tc>
                  <a:txBody>
                    <a:bodyPr/>
                    <a:lstStyle/>
                    <a:p>
                      <a:r>
                        <a:rPr lang="ru-RU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Время разработки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~40%</a:t>
                      </a:r>
                    </a:p>
                  </a:txBody>
                  <a:tcPr marL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406796"/>
                  </a:ext>
                </a:extLst>
              </a:tr>
              <a:tr h="1007434">
                <a:tc>
                  <a:txBody>
                    <a:bodyPr/>
                    <a:lstStyle/>
                    <a:p>
                      <a:r>
                        <a:rPr lang="ru-RU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Производительность</a:t>
                      </a:r>
                    </a:p>
                  </a:txBody>
                  <a:tcPr marR="121920" marT="76200" marB="762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121920" marR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133" kern="1200" dirty="0">
                          <a:solidFill>
                            <a:srgbClr val="0B1320"/>
                          </a:solidFill>
                          <a:latin typeface="Playfair Display Black"/>
                          <a:ea typeface="+mn-ea"/>
                          <a:cs typeface="+mn-cs"/>
                        </a:rPr>
                        <a:t>~95% (незаметно)</a:t>
                      </a:r>
                    </a:p>
                  </a:txBody>
                  <a:tcPr marL="121920" marT="76200" marB="76200" anchor="ctr">
                    <a:lnL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004914"/>
                  </a:ext>
                </a:extLst>
              </a:tr>
            </a:tbl>
          </a:graphicData>
        </a:graphic>
      </p:graphicFrame>
      <p:sp>
        <p:nvSpPr>
          <p:cNvPr id="19" name="Google Shape;220;p17">
            <a:extLst>
              <a:ext uri="{FF2B5EF4-FFF2-40B4-BE49-F238E27FC236}">
                <a16:creationId xmlns:a16="http://schemas.microsoft.com/office/drawing/2014/main" id="{092D5A20-16BA-4B61-8EC1-1EFC9FCB0049}"/>
              </a:ext>
            </a:extLst>
          </p:cNvPr>
          <p:cNvSpPr txBox="1"/>
          <p:nvPr/>
        </p:nvSpPr>
        <p:spPr>
          <a:xfrm>
            <a:off x="-3117777" y="183169"/>
            <a:ext cx="10829386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4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Сравнение</a:t>
            </a:r>
            <a:r>
              <a:rPr lang="en-US" sz="4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_2:</a:t>
            </a:r>
            <a:endParaRPr lang="ru-RU" sz="4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algn="ctr">
              <a:lnSpc>
                <a:spcPct val="120000"/>
              </a:lnSpc>
            </a:pP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"/>
          <p:cNvSpPr txBox="1"/>
          <p:nvPr/>
        </p:nvSpPr>
        <p:spPr>
          <a:xfrm>
            <a:off x="289312" y="1408345"/>
            <a:ext cx="5912221" cy="4349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JDBC</a:t>
            </a: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(</a:t>
            </a:r>
            <a:r>
              <a:rPr lang="en-US" sz="2400" dirty="0" err="1">
                <a:solidFill>
                  <a:srgbClr val="0B1320"/>
                </a:solidFill>
                <a:latin typeface="Playfair Display Black"/>
              </a:rPr>
              <a:t>HikariCP</a:t>
            </a:r>
            <a:r>
              <a:rPr lang="en-US" sz="2400" dirty="0">
                <a:solidFill>
                  <a:srgbClr val="0B1320"/>
                </a:solidFill>
                <a:latin typeface="Playfair Display Black"/>
              </a:rPr>
              <a:t>)</a:t>
            </a:r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 лучше использовать, когда: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Высокая производительность критична (финансовые системы, игровые сервера)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Сложные запросы с большим количеством JOIN и подзапросов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Специфические функции БД (</a:t>
            </a:r>
            <a:r>
              <a:rPr lang="ru-RU" sz="2133" dirty="0" err="1">
                <a:solidFill>
                  <a:srgbClr val="0B1320"/>
                </a:solidFill>
                <a:latin typeface="Playfair Display Black"/>
              </a:rPr>
              <a:t>PostgreSQL</a:t>
            </a: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 JSON</a:t>
            </a:r>
            <a:r>
              <a:rPr lang="en-US" sz="2133" dirty="0">
                <a:solidFill>
                  <a:srgbClr val="0B1320"/>
                </a:solidFill>
                <a:latin typeface="Playfair Display Black"/>
              </a:rPr>
              <a:t>, </a:t>
            </a:r>
            <a:r>
              <a:rPr lang="ru-RU" sz="2133" dirty="0" err="1">
                <a:solidFill>
                  <a:srgbClr val="0B1320"/>
                </a:solidFill>
                <a:latin typeface="Playfair Display Black"/>
              </a:rPr>
              <a:t>геоданные</a:t>
            </a: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 err="1">
                <a:solidFill>
                  <a:srgbClr val="0B1320"/>
                </a:solidFill>
                <a:latin typeface="Playfair Display Black"/>
              </a:rPr>
              <a:t>Микроконтроль</a:t>
            </a: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 над каждым запросом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Простое приложение с 1-2 таблицами</a:t>
            </a:r>
          </a:p>
          <a:p>
            <a:endParaRPr lang="ru-RU" sz="2133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</p:txBody>
      </p:sp>
      <p:grpSp>
        <p:nvGrpSpPr>
          <p:cNvPr id="366" name="Google Shape;366;p21"/>
          <p:cNvGrpSpPr/>
          <p:nvPr/>
        </p:nvGrpSpPr>
        <p:grpSpPr>
          <a:xfrm rot="5246701">
            <a:off x="3048175" y="5582932"/>
            <a:ext cx="4666437" cy="5743307"/>
            <a:chOff x="0" y="0"/>
            <a:chExt cx="9332874" cy="11486614"/>
          </a:xfrm>
        </p:grpSpPr>
        <p:grpSp>
          <p:nvGrpSpPr>
            <p:cNvPr id="367" name="Google Shape;367;p21"/>
            <p:cNvGrpSpPr/>
            <p:nvPr/>
          </p:nvGrpSpPr>
          <p:grpSpPr>
            <a:xfrm>
              <a:off x="0" y="0"/>
              <a:ext cx="9332874" cy="11486614"/>
              <a:chOff x="0" y="0"/>
              <a:chExt cx="660400" cy="812800"/>
            </a:xfrm>
          </p:grpSpPr>
          <p:sp>
            <p:nvSpPr>
              <p:cNvPr id="368" name="Google Shape;36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69" name="Google Shape;36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" name="Google Shape;370;p21"/>
            <p:cNvGrpSpPr/>
            <p:nvPr/>
          </p:nvGrpSpPr>
          <p:grpSpPr>
            <a:xfrm>
              <a:off x="545238" y="671062"/>
              <a:ext cx="8242398" cy="10144490"/>
              <a:chOff x="0" y="0"/>
              <a:chExt cx="660400" cy="812800"/>
            </a:xfrm>
          </p:grpSpPr>
          <p:sp>
            <p:nvSpPr>
              <p:cNvPr id="371" name="Google Shape;37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72" name="Google Shape;37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21"/>
            <p:cNvGrpSpPr/>
            <p:nvPr/>
          </p:nvGrpSpPr>
          <p:grpSpPr>
            <a:xfrm>
              <a:off x="1083502" y="1333541"/>
              <a:ext cx="7165870" cy="8819533"/>
              <a:chOff x="0" y="0"/>
              <a:chExt cx="660400" cy="812800"/>
            </a:xfrm>
          </p:grpSpPr>
          <p:sp>
            <p:nvSpPr>
              <p:cNvPr id="374" name="Google Shape;37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75" name="Google Shape;37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6" name="Google Shape;376;p21"/>
          <p:cNvGrpSpPr/>
          <p:nvPr/>
        </p:nvGrpSpPr>
        <p:grpSpPr>
          <a:xfrm>
            <a:off x="-2365828" y="5569813"/>
            <a:ext cx="4026325" cy="4955477"/>
            <a:chOff x="0" y="0"/>
            <a:chExt cx="8052650" cy="9910954"/>
          </a:xfrm>
        </p:grpSpPr>
        <p:grpSp>
          <p:nvGrpSpPr>
            <p:cNvPr id="377" name="Google Shape;377;p21"/>
            <p:cNvGrpSpPr/>
            <p:nvPr/>
          </p:nvGrpSpPr>
          <p:grpSpPr>
            <a:xfrm>
              <a:off x="0" y="0"/>
              <a:ext cx="8052650" cy="9910954"/>
              <a:chOff x="0" y="0"/>
              <a:chExt cx="660400" cy="812800"/>
            </a:xfrm>
          </p:grpSpPr>
          <p:sp>
            <p:nvSpPr>
              <p:cNvPr id="378" name="Google Shape;37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79" name="Google Shape;37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21"/>
            <p:cNvGrpSpPr/>
            <p:nvPr/>
          </p:nvGrpSpPr>
          <p:grpSpPr>
            <a:xfrm>
              <a:off x="470446" y="579010"/>
              <a:ext cx="7111758" cy="8752934"/>
              <a:chOff x="0" y="0"/>
              <a:chExt cx="660400" cy="812800"/>
            </a:xfrm>
          </p:grpSpPr>
          <p:sp>
            <p:nvSpPr>
              <p:cNvPr id="381" name="Google Shape;38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82" name="Google Shape;38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21"/>
            <p:cNvGrpSpPr/>
            <p:nvPr/>
          </p:nvGrpSpPr>
          <p:grpSpPr>
            <a:xfrm>
              <a:off x="934874" y="1150614"/>
              <a:ext cx="6182902" cy="7609726"/>
              <a:chOff x="0" y="0"/>
              <a:chExt cx="660400" cy="812800"/>
            </a:xfrm>
          </p:grpSpPr>
          <p:sp>
            <p:nvSpPr>
              <p:cNvPr id="384" name="Google Shape;38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85" name="Google Shape;38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1"/>
          <p:cNvGrpSpPr/>
          <p:nvPr/>
        </p:nvGrpSpPr>
        <p:grpSpPr>
          <a:xfrm rot="10800000">
            <a:off x="4515049" y="-2083013"/>
            <a:ext cx="2603293" cy="3204053"/>
            <a:chOff x="0" y="0"/>
            <a:chExt cx="5206586" cy="6408106"/>
          </a:xfrm>
        </p:grpSpPr>
        <p:grpSp>
          <p:nvGrpSpPr>
            <p:cNvPr id="387" name="Google Shape;387;p21"/>
            <p:cNvGrpSpPr/>
            <p:nvPr/>
          </p:nvGrpSpPr>
          <p:grpSpPr>
            <a:xfrm>
              <a:off x="0" y="0"/>
              <a:ext cx="5206586" cy="6408106"/>
              <a:chOff x="0" y="0"/>
              <a:chExt cx="660400" cy="812800"/>
            </a:xfrm>
          </p:grpSpPr>
          <p:sp>
            <p:nvSpPr>
              <p:cNvPr id="388" name="Google Shape;388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4DA1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89" name="Google Shape;389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" name="Google Shape;390;p21"/>
            <p:cNvGrpSpPr/>
            <p:nvPr/>
          </p:nvGrpSpPr>
          <p:grpSpPr>
            <a:xfrm>
              <a:off x="304175" y="374370"/>
              <a:ext cx="4598236" cy="5659367"/>
              <a:chOff x="0" y="0"/>
              <a:chExt cx="660400" cy="812800"/>
            </a:xfrm>
          </p:grpSpPr>
          <p:sp>
            <p:nvSpPr>
              <p:cNvPr id="391" name="Google Shape;391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FF9F1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92" name="Google Shape;392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" name="Google Shape;393;p21"/>
            <p:cNvGrpSpPr/>
            <p:nvPr/>
          </p:nvGrpSpPr>
          <p:grpSpPr>
            <a:xfrm>
              <a:off x="604460" y="743950"/>
              <a:ext cx="3997667" cy="4920205"/>
              <a:chOff x="0" y="0"/>
              <a:chExt cx="660400" cy="812800"/>
            </a:xfrm>
          </p:grpSpPr>
          <p:sp>
            <p:nvSpPr>
              <p:cNvPr id="394" name="Google Shape;394;p21"/>
              <p:cNvSpPr/>
              <p:nvPr/>
            </p:nvSpPr>
            <p:spPr>
              <a:xfrm>
                <a:off x="0" y="0"/>
                <a:ext cx="6604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660400" h="812800" extrusionOk="0">
                    <a:moveTo>
                      <a:pt x="220252" y="19070"/>
                    </a:moveTo>
                    <a:cubicBezTo>
                      <a:pt x="254000" y="7556"/>
                      <a:pt x="292600" y="0"/>
                      <a:pt x="330378" y="0"/>
                    </a:cubicBezTo>
                    <a:cubicBezTo>
                      <a:pt x="368157" y="0"/>
                      <a:pt x="404509" y="6476"/>
                      <a:pt x="438009" y="17990"/>
                    </a:cubicBezTo>
                    <a:cubicBezTo>
                      <a:pt x="438723" y="18350"/>
                      <a:pt x="439435" y="18350"/>
                      <a:pt x="440148" y="18710"/>
                    </a:cubicBezTo>
                    <a:cubicBezTo>
                      <a:pt x="565955" y="64765"/>
                      <a:pt x="658618" y="186379"/>
                      <a:pt x="660400" y="328502"/>
                    </a:cubicBezTo>
                    <a:lnTo>
                      <a:pt x="660400" y="812800"/>
                    </a:lnTo>
                    <a:lnTo>
                      <a:pt x="0" y="812800"/>
                    </a:lnTo>
                    <a:lnTo>
                      <a:pt x="0" y="328861"/>
                    </a:lnTo>
                    <a:cubicBezTo>
                      <a:pt x="1782" y="185660"/>
                      <a:pt x="93019" y="64045"/>
                      <a:pt x="220252" y="1907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flat" cmpd="sng">
                <a:solidFill>
                  <a:srgbClr val="6874E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60950" rIns="60950" bIns="60950" anchor="ctr" anchorCtr="0">
                <a:noAutofit/>
              </a:bodyPr>
              <a:lstStyle/>
              <a:p>
                <a:endParaRPr sz="1200"/>
              </a:p>
            </p:txBody>
          </p:sp>
          <p:sp>
            <p:nvSpPr>
              <p:cNvPr id="395" name="Google Shape;395;p21"/>
              <p:cNvSpPr txBox="1"/>
              <p:nvPr/>
            </p:nvSpPr>
            <p:spPr>
              <a:xfrm>
                <a:off x="0" y="69850"/>
                <a:ext cx="660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7" tIns="33867" rIns="33867" bIns="33867" anchor="ctr" anchorCtr="0">
                <a:noAutofit/>
              </a:bodyPr>
              <a:lstStyle/>
              <a:p>
                <a:pPr algn="ctr">
                  <a:lnSpc>
                    <a:spcPct val="186611"/>
                  </a:lnSpc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6" name="Google Shape;396;p21"/>
          <p:cNvGrpSpPr/>
          <p:nvPr/>
        </p:nvGrpSpPr>
        <p:grpSpPr>
          <a:xfrm>
            <a:off x="685801" y="416489"/>
            <a:ext cx="271215" cy="272431"/>
            <a:chOff x="-1" y="-4056038"/>
            <a:chExt cx="809173" cy="812800"/>
          </a:xfrm>
        </p:grpSpPr>
        <p:sp>
          <p:nvSpPr>
            <p:cNvPr id="397" name="Google Shape;397;p21"/>
            <p:cNvSpPr/>
            <p:nvPr/>
          </p:nvSpPr>
          <p:spPr>
            <a:xfrm>
              <a:off x="-1" y="-4056038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4DA1A9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 dirty="0"/>
            </a:p>
          </p:txBody>
        </p:sp>
        <p:sp>
          <p:nvSpPr>
            <p:cNvPr id="398" name="Google Shape;398;p21"/>
            <p:cNvSpPr txBox="1"/>
            <p:nvPr/>
          </p:nvSpPr>
          <p:spPr>
            <a:xfrm>
              <a:off x="48503" y="-4018822"/>
              <a:ext cx="660399" cy="717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1"/>
          <p:cNvGrpSpPr/>
          <p:nvPr/>
        </p:nvGrpSpPr>
        <p:grpSpPr>
          <a:xfrm>
            <a:off x="1057453" y="408343"/>
            <a:ext cx="271215" cy="272431"/>
            <a:chOff x="1813" y="0"/>
            <a:chExt cx="809173" cy="812800"/>
          </a:xfrm>
        </p:grpSpPr>
        <p:sp>
          <p:nvSpPr>
            <p:cNvPr id="400" name="Google Shape;40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9F1C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401" name="Google Shape;401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21"/>
          <p:cNvGrpSpPr/>
          <p:nvPr/>
        </p:nvGrpSpPr>
        <p:grpSpPr>
          <a:xfrm>
            <a:off x="1425275" y="401958"/>
            <a:ext cx="271215" cy="272431"/>
            <a:chOff x="1813" y="0"/>
            <a:chExt cx="809173" cy="812800"/>
          </a:xfrm>
        </p:grpSpPr>
        <p:sp>
          <p:nvSpPr>
            <p:cNvPr id="403" name="Google Shape;403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6874E8"/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404" name="Google Shape;404;p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86611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365;p21">
            <a:extLst>
              <a:ext uri="{FF2B5EF4-FFF2-40B4-BE49-F238E27FC236}">
                <a16:creationId xmlns:a16="http://schemas.microsoft.com/office/drawing/2014/main" id="{7EA88A94-AA22-4F23-804E-4925206F4764}"/>
              </a:ext>
            </a:extLst>
          </p:cNvPr>
          <p:cNvSpPr txBox="1"/>
          <p:nvPr/>
        </p:nvSpPr>
        <p:spPr>
          <a:xfrm>
            <a:off x="7615614" y="214752"/>
            <a:ext cx="4006556" cy="6975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ORM (</a:t>
            </a:r>
            <a:r>
              <a:rPr lang="ru-RU" sz="2400" dirty="0" err="1">
                <a:solidFill>
                  <a:srgbClr val="0B1320"/>
                </a:solidFill>
                <a:latin typeface="Playfair Display Black"/>
              </a:rPr>
              <a:t>Hibernate</a:t>
            </a:r>
            <a:r>
              <a:rPr lang="ru-RU" sz="2400" dirty="0">
                <a:solidFill>
                  <a:srgbClr val="0B1320"/>
                </a:solidFill>
                <a:latin typeface="Playfair Display Black"/>
              </a:rPr>
              <a:t>) лучше использовать, когда: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Сложная бизнес-логика с множеством связанных объектов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Скорость разработки важнее микро-оптимизаций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Команда разработчиков разного уровня (ORM проще поддерживать)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Приложение может работать с разными БД (Oracle, </a:t>
            </a:r>
            <a:r>
              <a:rPr lang="ru-RU" sz="2133" dirty="0" err="1">
                <a:solidFill>
                  <a:srgbClr val="0B1320"/>
                </a:solidFill>
                <a:latin typeface="Playfair Display Black"/>
              </a:rPr>
              <a:t>PostgreSQL</a:t>
            </a: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, MySQL)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133" dirty="0">
                <a:solidFill>
                  <a:srgbClr val="0B1320"/>
                </a:solidFill>
                <a:latin typeface="Playfair Display Black"/>
              </a:rPr>
              <a:t>Большое количество CRUD операций (типичные веб-приложения)</a:t>
            </a:r>
          </a:p>
          <a:p>
            <a:endParaRPr lang="ru-RU" sz="2133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</p:txBody>
      </p:sp>
      <p:sp>
        <p:nvSpPr>
          <p:cNvPr id="46" name="Google Shape;220;p17">
            <a:extLst>
              <a:ext uri="{FF2B5EF4-FFF2-40B4-BE49-F238E27FC236}">
                <a16:creationId xmlns:a16="http://schemas.microsoft.com/office/drawing/2014/main" id="{24044D3B-2F3A-42AD-8906-F496EF51AABD}"/>
              </a:ext>
            </a:extLst>
          </p:cNvPr>
          <p:cNvSpPr txBox="1"/>
          <p:nvPr/>
        </p:nvSpPr>
        <p:spPr>
          <a:xfrm>
            <a:off x="-3370408" y="635913"/>
            <a:ext cx="10829386" cy="96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ru-RU" sz="4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Сравнение</a:t>
            </a:r>
            <a:r>
              <a:rPr lang="en-US" sz="4000" dirty="0">
                <a:solidFill>
                  <a:srgbClr val="0B1320"/>
                </a:solidFill>
                <a:latin typeface="Playfair Display Black"/>
                <a:ea typeface="Playfair Display Black"/>
                <a:cs typeface="Playfair Display Black"/>
              </a:rPr>
              <a:t>_3:</a:t>
            </a:r>
            <a:endParaRPr lang="ru-RU" sz="4000" dirty="0">
              <a:solidFill>
                <a:srgbClr val="0B1320"/>
              </a:solidFill>
              <a:latin typeface="Playfair Display Black"/>
              <a:ea typeface="Playfair Display Black"/>
              <a:cs typeface="Playfair Display Black"/>
            </a:endParaRPr>
          </a:p>
          <a:p>
            <a:pPr algn="ctr">
              <a:lnSpc>
                <a:spcPct val="120000"/>
              </a:lnSpc>
            </a:pP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236</Words>
  <Application>Microsoft Office PowerPoint</Application>
  <PresentationFormat>Широкоэкранный</PresentationFormat>
  <Paragraphs>46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Playfair Display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</cp:revision>
  <dcterms:created xsi:type="dcterms:W3CDTF">2026-04-03T11:32:42Z</dcterms:created>
  <dcterms:modified xsi:type="dcterms:W3CDTF">2026-04-03T13:34:01Z</dcterms:modified>
</cp:coreProperties>
</file>