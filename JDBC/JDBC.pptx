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62" r:id="rId3"/>
    <p:sldId id="257" r:id="rId4"/>
    <p:sldId id="258" r:id="rId5"/>
    <p:sldId id="259" r:id="rId6"/>
    <p:sldId id="261" r:id="rId7"/>
    <p:sldId id="263" r:id="rId8"/>
    <p:sldId id="264" r:id="rId9"/>
    <p:sldId id="260" r:id="rId10"/>
    <p:sldId id="265" r:id="rId11"/>
    <p:sldId id="267" r:id="rId12"/>
    <p:sldId id="266" r:id="rId13"/>
    <p:sldId id="268" r:id="rId14"/>
    <p:sldId id="270" r:id="rId15"/>
    <p:sldId id="271" r:id="rId16"/>
    <p:sldId id="272" r:id="rId17"/>
    <p:sldId id="269" r:id="rId18"/>
    <p:sldId id="274" r:id="rId19"/>
    <p:sldId id="277" r:id="rId20"/>
    <p:sldId id="282" r:id="rId21"/>
  </p:sldIdLst>
  <p:sldSz cx="18288000" cy="10287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Corbel" panose="020B0503020204020204" pitchFamily="34" charset="0"/>
      <p:regular r:id="rId31"/>
      <p:bold r:id="rId32"/>
      <p:italic r:id="rId33"/>
      <p:boldItalic r:id="rId34"/>
    </p:embeddedFont>
    <p:embeddedFont>
      <p:font typeface="Playfair Display Black" panose="00000A00000000000000" pitchFamily="2" charset="-52"/>
      <p:bold r:id="rId35"/>
      <p:boldItalic r:id="rId36"/>
    </p:embeddedFont>
    <p:embeddedFont>
      <p:font typeface="Roboto" panose="020000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98D140-4961-4532-BD58-4F3D4F08A97D}">
  <a:tblStyle styleId="{B098D140-4961-4532-BD58-4F3D4F08A9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3"/>
          <p:cNvCxnSpPr/>
          <p:nvPr/>
        </p:nvCxnSpPr>
        <p:spPr>
          <a:xfrm rot="-5400000">
            <a:off x="-4059167" y="4327520"/>
            <a:ext cx="13354541" cy="0"/>
          </a:xfrm>
          <a:prstGeom prst="straightConnector1">
            <a:avLst/>
          </a:prstGeom>
          <a:noFill/>
          <a:ln w="38100" cap="flat" cmpd="sng">
            <a:solidFill>
              <a:srgbClr val="4DA1A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" name="Google Shape;85;p13"/>
          <p:cNvCxnSpPr/>
          <p:nvPr/>
        </p:nvCxnSpPr>
        <p:spPr>
          <a:xfrm rot="-5400000">
            <a:off x="-3091580" y="4175120"/>
            <a:ext cx="13354541" cy="0"/>
          </a:xfrm>
          <a:prstGeom prst="straightConnector1">
            <a:avLst/>
          </a:prstGeom>
          <a:noFill/>
          <a:ln w="38100" cap="flat" cmpd="sng">
            <a:solidFill>
              <a:srgbClr val="FF9F1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" name="Google Shape;86;p13"/>
          <p:cNvCxnSpPr/>
          <p:nvPr/>
        </p:nvCxnSpPr>
        <p:spPr>
          <a:xfrm rot="-5400000">
            <a:off x="-2016971" y="4327520"/>
            <a:ext cx="13354541" cy="0"/>
          </a:xfrm>
          <a:prstGeom prst="straightConnector1">
            <a:avLst/>
          </a:prstGeom>
          <a:noFill/>
          <a:ln w="38100" cap="flat" cmpd="sng">
            <a:solidFill>
              <a:srgbClr val="6874E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7" name="Google Shape;87;p13"/>
          <p:cNvGrpSpPr/>
          <p:nvPr/>
        </p:nvGrpSpPr>
        <p:grpSpPr>
          <a:xfrm>
            <a:off x="1028700" y="1172745"/>
            <a:ext cx="16230600" cy="8374261"/>
            <a:chOff x="0" y="-38100"/>
            <a:chExt cx="4274726" cy="2205567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F3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1592374" y="2277879"/>
            <a:ext cx="13583366" cy="736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36" dirty="0">
                <a:solidFill>
                  <a:srgbClr val="0B1320"/>
                </a:solidFill>
                <a:latin typeface="Playfair Display Black"/>
                <a:sym typeface="Playfair Display Black"/>
              </a:rPr>
              <a:t>JDBC </a:t>
            </a:r>
          </a:p>
          <a:p>
            <a:pPr marL="571500" marR="0" lvl="0" indent="-571500" algn="l" rtl="0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SzPct val="120000"/>
              <a:buFont typeface="Playfair Display Black" panose="00000A00000000000000" pitchFamily="2" charset="-52"/>
              <a:buChar char="†"/>
            </a:pPr>
            <a:r>
              <a:rPr lang="ru-RU" sz="4400" dirty="0">
                <a:latin typeface="Playfair Display Black" panose="00000A00000000000000" pitchFamily="2" charset="-52"/>
              </a:rPr>
              <a:t>Или дружба </a:t>
            </a:r>
            <a:r>
              <a:rPr lang="en-US" sz="4400" dirty="0">
                <a:latin typeface="Playfair Display Black" panose="00000A00000000000000" pitchFamily="2" charset="-52"/>
              </a:rPr>
              <a:t>Java </a:t>
            </a:r>
            <a:r>
              <a:rPr lang="ru-RU" sz="4400" dirty="0">
                <a:latin typeface="Playfair Display Black" panose="00000A00000000000000" pitchFamily="2" charset="-52"/>
              </a:rPr>
              <a:t>И Биг Даты</a:t>
            </a:r>
            <a:endParaRPr lang="en-US" sz="4400" dirty="0">
              <a:latin typeface="Playfair Display Black" panose="00000A00000000000000" pitchFamily="2" charset="-52"/>
            </a:endParaRPr>
          </a:p>
          <a:p>
            <a:pPr lvl="0">
              <a:lnSpc>
                <a:spcPct val="119998"/>
              </a:lnSpc>
            </a:pPr>
            <a:endParaRPr lang="ru-RU" sz="11036" dirty="0">
              <a:solidFill>
                <a:srgbClr val="0B1320"/>
              </a:solidFill>
              <a:latin typeface="Playfair Display Black"/>
              <a:sym typeface="Playfair Display Black"/>
            </a:endParaRPr>
          </a:p>
          <a:p>
            <a:pPr lvl="0">
              <a:lnSpc>
                <a:spcPct val="119998"/>
              </a:lnSpc>
            </a:pPr>
            <a:endParaRPr lang="en-US" sz="11036" dirty="0">
              <a:solidFill>
                <a:srgbClr val="0B1320"/>
              </a:solidFill>
              <a:latin typeface="Playfair Display Black"/>
              <a:sym typeface="Playfair Display Black"/>
            </a:endParaRPr>
          </a:p>
          <a:p>
            <a:pPr lvl="0">
              <a:lnSpc>
                <a:spcPct val="119998"/>
              </a:lnSpc>
            </a:pPr>
            <a:r>
              <a:rPr lang="en-US" sz="2000" dirty="0">
                <a:solidFill>
                  <a:srgbClr val="0B1320"/>
                </a:solidFill>
                <a:latin typeface="Playfair Display Black" panose="00000A00000000000000" pitchFamily="2" charset="-52"/>
                <a:sym typeface="Playfair Display Black"/>
              </a:rPr>
              <a:t>*</a:t>
            </a:r>
            <a:r>
              <a:rPr lang="en-US" sz="2000" dirty="0">
                <a:latin typeface="Playfair Display Black" panose="00000A00000000000000" pitchFamily="2" charset="-52"/>
              </a:rPr>
              <a:t>Java Database Connectivity</a:t>
            </a:r>
            <a:endParaRPr lang="en-US" sz="2000" dirty="0">
              <a:solidFill>
                <a:srgbClr val="0B1320"/>
              </a:solidFill>
              <a:latin typeface="Playfair Display Black" panose="00000A00000000000000" pitchFamily="2" charset="-52"/>
              <a:sym typeface="Playfair Display Black"/>
            </a:endParaRPr>
          </a:p>
        </p:txBody>
      </p:sp>
      <p:grpSp>
        <p:nvGrpSpPr>
          <p:cNvPr id="92" name="Google Shape;92;p13"/>
          <p:cNvGrpSpPr/>
          <p:nvPr/>
        </p:nvGrpSpPr>
        <p:grpSpPr>
          <a:xfrm>
            <a:off x="12385106" y="6084623"/>
            <a:ext cx="4476247" cy="5509227"/>
            <a:chOff x="0" y="0"/>
            <a:chExt cx="660400" cy="812800"/>
          </a:xfrm>
        </p:grpSpPr>
        <p:sp>
          <p:nvSpPr>
            <p:cNvPr id="93" name="Google Shape;93;p13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6874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 txBox="1"/>
            <p:nvPr/>
          </p:nvSpPr>
          <p:spPr>
            <a:xfrm>
              <a:off x="0" y="69850"/>
              <a:ext cx="6604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13"/>
          <p:cNvGrpSpPr/>
          <p:nvPr/>
        </p:nvGrpSpPr>
        <p:grpSpPr>
          <a:xfrm>
            <a:off x="12646614" y="6406479"/>
            <a:ext cx="3953231" cy="4865515"/>
            <a:chOff x="0" y="0"/>
            <a:chExt cx="660400" cy="812800"/>
          </a:xfrm>
        </p:grpSpPr>
        <p:sp>
          <p:nvSpPr>
            <p:cNvPr id="96" name="Google Shape;96;p13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FF9F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3"/>
            <p:cNvSpPr txBox="1"/>
            <p:nvPr/>
          </p:nvSpPr>
          <p:spPr>
            <a:xfrm>
              <a:off x="0" y="69850"/>
              <a:ext cx="6604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3"/>
          <p:cNvGrpSpPr/>
          <p:nvPr/>
        </p:nvGrpSpPr>
        <p:grpSpPr>
          <a:xfrm>
            <a:off x="12904776" y="6724218"/>
            <a:ext cx="3436905" cy="4230037"/>
            <a:chOff x="0" y="0"/>
            <a:chExt cx="660400" cy="812800"/>
          </a:xfrm>
        </p:grpSpPr>
        <p:sp>
          <p:nvSpPr>
            <p:cNvPr id="99" name="Google Shape;99;p13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4DA1A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3"/>
            <p:cNvSpPr txBox="1"/>
            <p:nvPr/>
          </p:nvSpPr>
          <p:spPr>
            <a:xfrm>
              <a:off x="0" y="69850"/>
              <a:ext cx="6604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1" name="Google Shape;101;p13"/>
          <p:cNvCxnSpPr/>
          <p:nvPr/>
        </p:nvCxnSpPr>
        <p:spPr>
          <a:xfrm>
            <a:off x="1592374" y="1883323"/>
            <a:ext cx="13354541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2" name="Google Shape;102;p13"/>
          <p:cNvGrpSpPr/>
          <p:nvPr/>
        </p:nvGrpSpPr>
        <p:grpSpPr>
          <a:xfrm>
            <a:off x="15328896" y="1678999"/>
            <a:ext cx="406823" cy="408647"/>
            <a:chOff x="1813" y="0"/>
            <a:chExt cx="809173" cy="812800"/>
          </a:xfrm>
        </p:grpSpPr>
        <p:sp>
          <p:nvSpPr>
            <p:cNvPr id="103" name="Google Shape;103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15892570" y="1678999"/>
            <a:ext cx="406823" cy="408647"/>
            <a:chOff x="1813" y="0"/>
            <a:chExt cx="809173" cy="812800"/>
          </a:xfrm>
        </p:grpSpPr>
        <p:sp>
          <p:nvSpPr>
            <p:cNvPr id="106" name="Google Shape;106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3"/>
          <p:cNvGrpSpPr/>
          <p:nvPr/>
        </p:nvGrpSpPr>
        <p:grpSpPr>
          <a:xfrm>
            <a:off x="16453618" y="1678999"/>
            <a:ext cx="406823" cy="408647"/>
            <a:chOff x="1813" y="0"/>
            <a:chExt cx="809173" cy="812800"/>
          </a:xfrm>
        </p:grpSpPr>
        <p:sp>
          <p:nvSpPr>
            <p:cNvPr id="109" name="Google Shape;109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9"/>
          <p:cNvGrpSpPr/>
          <p:nvPr/>
        </p:nvGrpSpPr>
        <p:grpSpPr>
          <a:xfrm>
            <a:off x="1062751" y="530651"/>
            <a:ext cx="9756425" cy="4384627"/>
            <a:chOff x="-365924" y="-1697432"/>
            <a:chExt cx="13008566" cy="5846170"/>
          </a:xfrm>
        </p:grpSpPr>
        <p:sp>
          <p:nvSpPr>
            <p:cNvPr id="288" name="Google Shape;288;p19"/>
            <p:cNvSpPr txBox="1"/>
            <p:nvPr/>
          </p:nvSpPr>
          <p:spPr>
            <a:xfrm>
              <a:off x="-365924" y="-1697432"/>
              <a:ext cx="13008566" cy="44319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9000" dirty="0">
                  <a:solidFill>
                    <a:srgbClr val="0B1320"/>
                  </a:solidFill>
                  <a:latin typeface="Playfair Display Black"/>
                  <a:sym typeface="Playfair Display Black"/>
                </a:rPr>
                <a:t>Но что такое </a:t>
              </a:r>
              <a:r>
                <a:rPr lang="en-US" sz="9000" dirty="0">
                  <a:solidFill>
                    <a:srgbClr val="0B1320"/>
                  </a:solidFill>
                  <a:latin typeface="Playfair Display Black"/>
                  <a:sym typeface="Playfair Display Black"/>
                </a:rPr>
                <a:t>JDBC?</a:t>
              </a:r>
              <a:endParaRPr dirty="0"/>
            </a:p>
          </p:txBody>
        </p:sp>
        <p:sp>
          <p:nvSpPr>
            <p:cNvPr id="289" name="Google Shape;289;p19"/>
            <p:cNvSpPr txBox="1"/>
            <p:nvPr/>
          </p:nvSpPr>
          <p:spPr>
            <a:xfrm>
              <a:off x="-365924" y="3775302"/>
              <a:ext cx="12276721" cy="373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90" name="Google Shape;290;p19"/>
          <p:cNvGrpSpPr/>
          <p:nvPr/>
        </p:nvGrpSpPr>
        <p:grpSpPr>
          <a:xfrm>
            <a:off x="-3001261" y="8262836"/>
            <a:ext cx="6999655" cy="8614961"/>
            <a:chOff x="0" y="0"/>
            <a:chExt cx="9332874" cy="11486614"/>
          </a:xfrm>
        </p:grpSpPr>
        <p:grpSp>
          <p:nvGrpSpPr>
            <p:cNvPr id="291" name="Google Shape;291;p19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292" name="Google Shape;292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4" name="Google Shape;294;p19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295" name="Google Shape;295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19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298" name="Google Shape;298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0" name="Google Shape;300;p19"/>
          <p:cNvGrpSpPr/>
          <p:nvPr/>
        </p:nvGrpSpPr>
        <p:grpSpPr>
          <a:xfrm>
            <a:off x="16209246" y="6207666"/>
            <a:ext cx="4157508" cy="5116933"/>
            <a:chOff x="0" y="0"/>
            <a:chExt cx="5543344" cy="6822577"/>
          </a:xfrm>
        </p:grpSpPr>
        <p:grpSp>
          <p:nvGrpSpPr>
            <p:cNvPr id="301" name="Google Shape;301;p19"/>
            <p:cNvGrpSpPr/>
            <p:nvPr/>
          </p:nvGrpSpPr>
          <p:grpSpPr>
            <a:xfrm>
              <a:off x="0" y="0"/>
              <a:ext cx="5543344" cy="6822577"/>
              <a:chOff x="0" y="0"/>
              <a:chExt cx="660400" cy="812800"/>
            </a:xfrm>
          </p:grpSpPr>
          <p:sp>
            <p:nvSpPr>
              <p:cNvPr id="302" name="Google Shape;302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4" name="Google Shape;304;p19"/>
            <p:cNvGrpSpPr/>
            <p:nvPr/>
          </p:nvGrpSpPr>
          <p:grpSpPr>
            <a:xfrm>
              <a:off x="323849" y="398583"/>
              <a:ext cx="4895646" cy="6025410"/>
              <a:chOff x="0" y="0"/>
              <a:chExt cx="660400" cy="812800"/>
            </a:xfrm>
          </p:grpSpPr>
          <p:sp>
            <p:nvSpPr>
              <p:cNvPr id="305" name="Google Shape;305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7" name="Google Shape;307;p19"/>
            <p:cNvGrpSpPr/>
            <p:nvPr/>
          </p:nvGrpSpPr>
          <p:grpSpPr>
            <a:xfrm>
              <a:off x="643556" y="792068"/>
              <a:ext cx="4256232" cy="5238440"/>
              <a:chOff x="0" y="0"/>
              <a:chExt cx="660400" cy="812800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0" name="Google Shape;310;p19"/>
          <p:cNvGrpSpPr/>
          <p:nvPr/>
        </p:nvGrpSpPr>
        <p:grpSpPr>
          <a:xfrm>
            <a:off x="8392711" y="-3152910"/>
            <a:ext cx="4304048" cy="5297290"/>
            <a:chOff x="0" y="0"/>
            <a:chExt cx="5738731" cy="7063053"/>
          </a:xfrm>
        </p:grpSpPr>
        <p:grpSp>
          <p:nvGrpSpPr>
            <p:cNvPr id="311" name="Google Shape;311;p19"/>
            <p:cNvGrpSpPr/>
            <p:nvPr/>
          </p:nvGrpSpPr>
          <p:grpSpPr>
            <a:xfrm rot="10800000">
              <a:off x="0" y="0"/>
              <a:ext cx="5738731" cy="7063053"/>
              <a:chOff x="0" y="0"/>
              <a:chExt cx="660400" cy="812800"/>
            </a:xfrm>
          </p:grpSpPr>
          <p:sp>
            <p:nvSpPr>
              <p:cNvPr id="312" name="Google Shape;312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4" name="Google Shape;314;p19"/>
            <p:cNvGrpSpPr/>
            <p:nvPr/>
          </p:nvGrpSpPr>
          <p:grpSpPr>
            <a:xfrm rot="10800000">
              <a:off x="335264" y="412632"/>
              <a:ext cx="5068203" cy="6237789"/>
              <a:chOff x="0" y="0"/>
              <a:chExt cx="660400" cy="812800"/>
            </a:xfrm>
          </p:grpSpPr>
          <p:sp>
            <p:nvSpPr>
              <p:cNvPr id="315" name="Google Shape;315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7" name="Google Shape;317;p19"/>
            <p:cNvGrpSpPr/>
            <p:nvPr/>
          </p:nvGrpSpPr>
          <p:grpSpPr>
            <a:xfrm rot="10800000">
              <a:off x="666239" y="819987"/>
              <a:ext cx="4406253" cy="5423080"/>
              <a:chOff x="0" y="0"/>
              <a:chExt cx="660400" cy="812800"/>
            </a:xfrm>
          </p:grpSpPr>
          <p:sp>
            <p:nvSpPr>
              <p:cNvPr id="318" name="Google Shape;318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6B18614-0CF6-40E7-B943-F302E85F4023}"/>
              </a:ext>
            </a:extLst>
          </p:cNvPr>
          <p:cNvSpPr txBox="1"/>
          <p:nvPr/>
        </p:nvSpPr>
        <p:spPr>
          <a:xfrm>
            <a:off x="829578" y="4404483"/>
            <a:ext cx="171391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l">
              <a:buFont typeface="Courier New" panose="02070309020205020404" pitchFamily="49" charset="0"/>
              <a:buChar char="o"/>
            </a:pPr>
            <a:r>
              <a:rPr lang="en-US" sz="3600" dirty="0">
                <a:solidFill>
                  <a:srgbClr val="0B1320"/>
                </a:solidFill>
                <a:latin typeface="Playfair Display Black"/>
              </a:rPr>
              <a:t>JDBC (Java Database Connectivity) — </a:t>
            </a:r>
            <a:r>
              <a:rPr lang="ru-RU" sz="3600" dirty="0">
                <a:solidFill>
                  <a:srgbClr val="0B1320"/>
                </a:solidFill>
                <a:latin typeface="Playfair Display Black"/>
              </a:rPr>
              <a:t>это стандартный </a:t>
            </a:r>
            <a:r>
              <a:rPr lang="en-US" sz="3600" dirty="0">
                <a:solidFill>
                  <a:srgbClr val="0B1320"/>
                </a:solidFill>
                <a:latin typeface="Playfair Display Black"/>
              </a:rPr>
              <a:t>API </a:t>
            </a:r>
            <a:r>
              <a:rPr lang="ru-RU" sz="3600" dirty="0">
                <a:solidFill>
                  <a:srgbClr val="0B1320"/>
                </a:solidFill>
                <a:latin typeface="Playfair Display Black"/>
              </a:rPr>
              <a:t>на платформе </a:t>
            </a:r>
            <a:r>
              <a:rPr lang="en-US" sz="3600" dirty="0">
                <a:solidFill>
                  <a:srgbClr val="0B1320"/>
                </a:solidFill>
                <a:latin typeface="Playfair Display Black"/>
              </a:rPr>
              <a:t>Java, </a:t>
            </a:r>
            <a:r>
              <a:rPr lang="ru-RU" sz="3600" dirty="0">
                <a:solidFill>
                  <a:srgbClr val="0B1320"/>
                </a:solidFill>
                <a:latin typeface="Playfair Display Black"/>
              </a:rPr>
              <a:t>который позволяет </a:t>
            </a:r>
            <a:r>
              <a:rPr lang="en-US" sz="3600" dirty="0">
                <a:solidFill>
                  <a:srgbClr val="0B1320"/>
                </a:solidFill>
                <a:latin typeface="Playfair Display Black"/>
              </a:rPr>
              <a:t>Java-</a:t>
            </a:r>
            <a:r>
              <a:rPr lang="ru-RU" sz="3600" dirty="0">
                <a:solidFill>
                  <a:srgbClr val="0B1320"/>
                </a:solidFill>
                <a:latin typeface="Playfair Display Black"/>
              </a:rPr>
              <a:t>приложениям взаимодействовать с различными реляционными базами данных.</a:t>
            </a:r>
          </a:p>
          <a:p>
            <a:pPr marL="571500" indent="-571500" algn="l">
              <a:buFont typeface="Courier New" panose="02070309020205020404" pitchFamily="49" charset="0"/>
              <a:buChar char="o"/>
            </a:pPr>
            <a:endParaRPr lang="ru-RU" sz="3600" dirty="0">
              <a:solidFill>
                <a:srgbClr val="0B1320"/>
              </a:solidFill>
              <a:latin typeface="Playfair Display Blac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4B0196-1CF2-437A-8F5D-BBEC9177BEE6}"/>
              </a:ext>
            </a:extLst>
          </p:cNvPr>
          <p:cNvSpPr txBox="1"/>
          <p:nvPr/>
        </p:nvSpPr>
        <p:spPr>
          <a:xfrm>
            <a:off x="1449309" y="7063423"/>
            <a:ext cx="153893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3200" dirty="0">
                <a:solidFill>
                  <a:srgbClr val="0B1320"/>
                </a:solidFill>
                <a:latin typeface="Playfair Display Black"/>
              </a:rPr>
              <a:t> Простыми словами, это мост между вашей </a:t>
            </a:r>
            <a:r>
              <a:rPr lang="en-US" sz="3200" dirty="0">
                <a:solidFill>
                  <a:srgbClr val="0B1320"/>
                </a:solidFill>
                <a:latin typeface="Playfair Display Black"/>
              </a:rPr>
              <a:t>Java-</a:t>
            </a:r>
            <a:r>
              <a:rPr lang="ru-RU" sz="3200" dirty="0">
                <a:solidFill>
                  <a:srgbClr val="0B1320"/>
                </a:solidFill>
                <a:latin typeface="Playfair Display Black"/>
              </a:rPr>
              <a:t>программой и базой данных (</a:t>
            </a:r>
            <a:r>
              <a:rPr lang="en-US" sz="3200" dirty="0">
                <a:solidFill>
                  <a:srgbClr val="0B1320"/>
                </a:solidFill>
                <a:latin typeface="Playfair Display Black"/>
              </a:rPr>
              <a:t>MySQL, PostgreSQL, Oracle, SQL Server </a:t>
            </a:r>
            <a:r>
              <a:rPr lang="ru-RU" sz="3200" dirty="0">
                <a:solidFill>
                  <a:srgbClr val="0B1320"/>
                </a:solidFill>
                <a:latin typeface="Playfair Display Black"/>
              </a:rPr>
              <a:t>и т.д.).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4"/>
          <p:cNvGrpSpPr/>
          <p:nvPr/>
        </p:nvGrpSpPr>
        <p:grpSpPr>
          <a:xfrm>
            <a:off x="9144000" y="689547"/>
            <a:ext cx="8115300" cy="8930567"/>
            <a:chOff x="0" y="-38100"/>
            <a:chExt cx="2137363" cy="2352084"/>
          </a:xfrm>
        </p:grpSpPr>
        <p:sp>
          <p:nvSpPr>
            <p:cNvPr id="116" name="Google Shape;116;p14"/>
            <p:cNvSpPr/>
            <p:nvPr/>
          </p:nvSpPr>
          <p:spPr>
            <a:xfrm>
              <a:off x="0" y="0"/>
              <a:ext cx="2137363" cy="2313984"/>
            </a:xfrm>
            <a:custGeom>
              <a:avLst/>
              <a:gdLst/>
              <a:ahLst/>
              <a:cxnLst/>
              <a:rect l="l" t="t" r="r" b="b"/>
              <a:pathLst>
                <a:path w="2137363" h="2313984" extrusionOk="0">
                  <a:moveTo>
                    <a:pt x="45792" y="0"/>
                  </a:moveTo>
                  <a:lnTo>
                    <a:pt x="2091571" y="0"/>
                  </a:lnTo>
                  <a:cubicBezTo>
                    <a:pt x="2103716" y="0"/>
                    <a:pt x="2115363" y="4824"/>
                    <a:pt x="2123951" y="13412"/>
                  </a:cubicBezTo>
                  <a:cubicBezTo>
                    <a:pt x="2132538" y="22000"/>
                    <a:pt x="2137363" y="33647"/>
                    <a:pt x="2137363" y="45792"/>
                  </a:cubicBezTo>
                  <a:lnTo>
                    <a:pt x="2137363" y="2268192"/>
                  </a:lnTo>
                  <a:cubicBezTo>
                    <a:pt x="2137363" y="2280337"/>
                    <a:pt x="2132538" y="2291984"/>
                    <a:pt x="2123951" y="2300572"/>
                  </a:cubicBezTo>
                  <a:cubicBezTo>
                    <a:pt x="2115363" y="2309159"/>
                    <a:pt x="2103716" y="2313984"/>
                    <a:pt x="2091571" y="2313984"/>
                  </a:cubicBezTo>
                  <a:lnTo>
                    <a:pt x="45792" y="2313984"/>
                  </a:lnTo>
                  <a:cubicBezTo>
                    <a:pt x="33647" y="2313984"/>
                    <a:pt x="22000" y="2309159"/>
                    <a:pt x="13412" y="2300572"/>
                  </a:cubicBezTo>
                  <a:cubicBezTo>
                    <a:pt x="4824" y="2291984"/>
                    <a:pt x="0" y="2280337"/>
                    <a:pt x="0" y="2268192"/>
                  </a:cubicBezTo>
                  <a:lnTo>
                    <a:pt x="0" y="45792"/>
                  </a:lnTo>
                  <a:cubicBezTo>
                    <a:pt x="0" y="33647"/>
                    <a:pt x="4824" y="22000"/>
                    <a:pt x="13412" y="13412"/>
                  </a:cubicBezTo>
                  <a:cubicBezTo>
                    <a:pt x="22000" y="4824"/>
                    <a:pt x="33647" y="0"/>
                    <a:pt x="45792" y="0"/>
                  </a:cubicBezTo>
                  <a:close/>
                </a:path>
              </a:pathLst>
            </a:custGeom>
            <a:solidFill>
              <a:srgbClr val="0B13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14"/>
          <p:cNvSpPr txBox="1"/>
          <p:nvPr/>
        </p:nvSpPr>
        <p:spPr>
          <a:xfrm>
            <a:off x="9704294" y="1996678"/>
            <a:ext cx="7026369" cy="583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4"/>
              </a:lnSpc>
            </a:pPr>
            <a:r>
              <a:rPr lang="ru-RU" sz="3200" dirty="0">
                <a:solidFill>
                  <a:schemeClr val="bg1"/>
                </a:solidFill>
                <a:latin typeface="Playfair Display Black"/>
                <a:ea typeface="Playfair Display Black"/>
                <a:cs typeface="Playfair Display Black"/>
              </a:rPr>
              <a:t>Вы пишете код один раз, используя JDBC API, а сам JDBC через специальный драйвер разговаривает с нужной вам БД. Можете переключаться между </a:t>
            </a:r>
            <a:r>
              <a:rPr lang="ru-RU" sz="3200" dirty="0" err="1">
                <a:solidFill>
                  <a:schemeClr val="bg1"/>
                </a:solidFill>
                <a:latin typeface="Playfair Display Black"/>
                <a:ea typeface="Playfair Display Black"/>
                <a:cs typeface="Playfair Display Black"/>
              </a:rPr>
              <a:t>PostgreSQL</a:t>
            </a:r>
            <a:r>
              <a:rPr lang="ru-RU" sz="3200" dirty="0">
                <a:solidFill>
                  <a:schemeClr val="bg1"/>
                </a:solidFill>
                <a:latin typeface="Playfair Display Black"/>
                <a:ea typeface="Playfair Display Black"/>
                <a:cs typeface="Playfair Display Black"/>
              </a:rPr>
              <a:t>, MySQL, Oracle, SQL Server — а ваш код остается одинаковым.</a:t>
            </a:r>
            <a:endParaRPr lang="en-US" sz="3200" dirty="0">
              <a:solidFill>
                <a:schemeClr val="bg1"/>
              </a:solidFill>
              <a:latin typeface="Playfair Display Black"/>
              <a:ea typeface="Playfair Display Black"/>
              <a:cs typeface="Playfair Display Black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584608" y="594905"/>
            <a:ext cx="8279245" cy="1735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399" dirty="0">
                <a:solidFill>
                  <a:srgbClr val="0B1320"/>
                </a:solidFill>
                <a:latin typeface="Playfair Display Black"/>
                <a:sym typeface="Playfair Display Black"/>
              </a:rPr>
              <a:t>Грубо говоря</a:t>
            </a:r>
            <a:r>
              <a:rPr lang="en-US" sz="9399" dirty="0">
                <a:solidFill>
                  <a:srgbClr val="0B1320"/>
                </a:solidFill>
                <a:latin typeface="Playfair Display Black"/>
                <a:sym typeface="Playfair Display Black"/>
              </a:rPr>
              <a:t>:</a:t>
            </a:r>
            <a:r>
              <a:rPr lang="ru-RU" sz="9399" dirty="0">
                <a:solidFill>
                  <a:srgbClr val="0B1320"/>
                </a:solidFill>
                <a:latin typeface="Playfair Display Black"/>
                <a:sym typeface="Playfair Display Black"/>
              </a:rPr>
              <a:t> </a:t>
            </a:r>
            <a:endParaRPr dirty="0"/>
          </a:p>
        </p:txBody>
      </p:sp>
      <p:grpSp>
        <p:nvGrpSpPr>
          <p:cNvPr id="130" name="Google Shape;130;p14"/>
          <p:cNvGrpSpPr/>
          <p:nvPr/>
        </p:nvGrpSpPr>
        <p:grpSpPr>
          <a:xfrm>
            <a:off x="16527251" y="290478"/>
            <a:ext cx="406823" cy="408647"/>
            <a:chOff x="1813" y="0"/>
            <a:chExt cx="809173" cy="812800"/>
          </a:xfrm>
        </p:grpSpPr>
        <p:sp>
          <p:nvSpPr>
            <p:cNvPr id="131" name="Google Shape;131;p1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14"/>
          <p:cNvGrpSpPr/>
          <p:nvPr/>
        </p:nvGrpSpPr>
        <p:grpSpPr>
          <a:xfrm>
            <a:off x="17055888" y="280900"/>
            <a:ext cx="406823" cy="408647"/>
            <a:chOff x="1813" y="0"/>
            <a:chExt cx="809173" cy="812800"/>
          </a:xfrm>
        </p:grpSpPr>
        <p:sp>
          <p:nvSpPr>
            <p:cNvPr id="134" name="Google Shape;134;p1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4"/>
          <p:cNvGrpSpPr/>
          <p:nvPr/>
        </p:nvGrpSpPr>
        <p:grpSpPr>
          <a:xfrm>
            <a:off x="17584525" y="280900"/>
            <a:ext cx="406823" cy="408647"/>
            <a:chOff x="1813" y="0"/>
            <a:chExt cx="809173" cy="812800"/>
          </a:xfrm>
        </p:grpSpPr>
        <p:sp>
          <p:nvSpPr>
            <p:cNvPr id="137" name="Google Shape;137;p1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4"/>
          <p:cNvGrpSpPr/>
          <p:nvPr/>
        </p:nvGrpSpPr>
        <p:grpSpPr>
          <a:xfrm>
            <a:off x="8378227" y="8752048"/>
            <a:ext cx="406823" cy="408647"/>
            <a:chOff x="1813" y="0"/>
            <a:chExt cx="809173" cy="812800"/>
          </a:xfrm>
        </p:grpSpPr>
        <p:sp>
          <p:nvSpPr>
            <p:cNvPr id="140" name="Google Shape;140;p1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4"/>
          <p:cNvGrpSpPr/>
          <p:nvPr/>
        </p:nvGrpSpPr>
        <p:grpSpPr>
          <a:xfrm>
            <a:off x="8941902" y="8752048"/>
            <a:ext cx="406823" cy="408647"/>
            <a:chOff x="1813" y="0"/>
            <a:chExt cx="809173" cy="812800"/>
          </a:xfrm>
        </p:grpSpPr>
        <p:sp>
          <p:nvSpPr>
            <p:cNvPr id="143" name="Google Shape;143;p1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14"/>
          <p:cNvGrpSpPr/>
          <p:nvPr/>
        </p:nvGrpSpPr>
        <p:grpSpPr>
          <a:xfrm>
            <a:off x="9502949" y="8752048"/>
            <a:ext cx="406823" cy="408647"/>
            <a:chOff x="1813" y="0"/>
            <a:chExt cx="809173" cy="812800"/>
          </a:xfrm>
        </p:grpSpPr>
        <p:sp>
          <p:nvSpPr>
            <p:cNvPr id="146" name="Google Shape;146;p1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03BF0F32-95B3-4FAD-A37E-125AD8D9C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271" y="3306121"/>
            <a:ext cx="7090630" cy="5445927"/>
          </a:xfrm>
          <a:prstGeom prst="rect">
            <a:avLst/>
          </a:prstGeom>
          <a:noFill/>
          <a:ln w="444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5"/>
          <p:cNvGrpSpPr/>
          <p:nvPr/>
        </p:nvGrpSpPr>
        <p:grpSpPr>
          <a:xfrm>
            <a:off x="1011878" y="1260678"/>
            <a:ext cx="4575558" cy="3230765"/>
            <a:chOff x="0" y="-38100"/>
            <a:chExt cx="1490774" cy="1194732"/>
          </a:xfrm>
        </p:grpSpPr>
        <p:sp>
          <p:nvSpPr>
            <p:cNvPr id="154" name="Google Shape;154;p15"/>
            <p:cNvSpPr/>
            <p:nvPr/>
          </p:nvSpPr>
          <p:spPr>
            <a:xfrm>
              <a:off x="0" y="0"/>
              <a:ext cx="1490774" cy="1156632"/>
            </a:xfrm>
            <a:custGeom>
              <a:avLst/>
              <a:gdLst/>
              <a:ahLst/>
              <a:cxnLst/>
              <a:rect l="l" t="t" r="r" b="b"/>
              <a:pathLst>
                <a:path w="1490774" h="1156632" extrusionOk="0">
                  <a:moveTo>
                    <a:pt x="65653" y="0"/>
                  </a:moveTo>
                  <a:lnTo>
                    <a:pt x="1425121" y="0"/>
                  </a:lnTo>
                  <a:cubicBezTo>
                    <a:pt x="1461380" y="0"/>
                    <a:pt x="1490774" y="29394"/>
                    <a:pt x="1490774" y="65653"/>
                  </a:cubicBezTo>
                  <a:lnTo>
                    <a:pt x="1490774" y="1090979"/>
                  </a:lnTo>
                  <a:cubicBezTo>
                    <a:pt x="1490774" y="1127238"/>
                    <a:pt x="1461380" y="1156632"/>
                    <a:pt x="1425121" y="1156632"/>
                  </a:cubicBezTo>
                  <a:lnTo>
                    <a:pt x="65653" y="1156632"/>
                  </a:lnTo>
                  <a:cubicBezTo>
                    <a:pt x="29394" y="1156632"/>
                    <a:pt x="0" y="1127238"/>
                    <a:pt x="0" y="1090979"/>
                  </a:cubicBezTo>
                  <a:lnTo>
                    <a:pt x="0" y="65653"/>
                  </a:lnTo>
                  <a:cubicBezTo>
                    <a:pt x="0" y="29394"/>
                    <a:pt x="29394" y="0"/>
                    <a:pt x="656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15"/>
          <p:cNvGrpSpPr/>
          <p:nvPr/>
        </p:nvGrpSpPr>
        <p:grpSpPr>
          <a:xfrm>
            <a:off x="907773" y="-59193"/>
            <a:ext cx="4440196" cy="3230765"/>
            <a:chOff x="0" y="-38100"/>
            <a:chExt cx="1129234" cy="850900"/>
          </a:xfrm>
        </p:grpSpPr>
        <p:sp>
          <p:nvSpPr>
            <p:cNvPr id="157" name="Google Shape;157;p15"/>
            <p:cNvSpPr/>
            <p:nvPr/>
          </p:nvSpPr>
          <p:spPr>
            <a:xfrm>
              <a:off x="0" y="0"/>
              <a:ext cx="1129234" cy="282729"/>
            </a:xfrm>
            <a:custGeom>
              <a:avLst/>
              <a:gdLst/>
              <a:ahLst/>
              <a:cxnLst/>
              <a:rect l="l" t="t" r="r" b="b"/>
              <a:pathLst>
                <a:path w="1129234" h="282729" extrusionOk="0">
                  <a:moveTo>
                    <a:pt x="86672" y="0"/>
                  </a:moveTo>
                  <a:lnTo>
                    <a:pt x="1042562" y="0"/>
                  </a:lnTo>
                  <a:cubicBezTo>
                    <a:pt x="1065549" y="0"/>
                    <a:pt x="1087594" y="9132"/>
                    <a:pt x="1103849" y="25386"/>
                  </a:cubicBezTo>
                  <a:cubicBezTo>
                    <a:pt x="1120103" y="41640"/>
                    <a:pt x="1129234" y="63685"/>
                    <a:pt x="1129234" y="86672"/>
                  </a:cubicBezTo>
                  <a:lnTo>
                    <a:pt x="1129234" y="196057"/>
                  </a:lnTo>
                  <a:cubicBezTo>
                    <a:pt x="1129234" y="243925"/>
                    <a:pt x="1090430" y="282729"/>
                    <a:pt x="1042562" y="282729"/>
                  </a:cubicBezTo>
                  <a:lnTo>
                    <a:pt x="86672" y="282729"/>
                  </a:lnTo>
                  <a:cubicBezTo>
                    <a:pt x="63685" y="282729"/>
                    <a:pt x="41640" y="273598"/>
                    <a:pt x="25386" y="257344"/>
                  </a:cubicBezTo>
                  <a:cubicBezTo>
                    <a:pt x="9132" y="241090"/>
                    <a:pt x="0" y="219044"/>
                    <a:pt x="0" y="196057"/>
                  </a:cubicBezTo>
                  <a:lnTo>
                    <a:pt x="0" y="86672"/>
                  </a:lnTo>
                  <a:cubicBezTo>
                    <a:pt x="0" y="63685"/>
                    <a:pt x="9132" y="41640"/>
                    <a:pt x="25386" y="25386"/>
                  </a:cubicBezTo>
                  <a:cubicBezTo>
                    <a:pt x="41640" y="9132"/>
                    <a:pt x="63685" y="0"/>
                    <a:pt x="86672" y="0"/>
                  </a:cubicBezTo>
                  <a:close/>
                </a:path>
              </a:pathLst>
            </a:custGeom>
            <a:solidFill>
              <a:srgbClr val="0B13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5"/>
          <p:cNvSpPr txBox="1"/>
          <p:nvPr/>
        </p:nvSpPr>
        <p:spPr>
          <a:xfrm>
            <a:off x="1302156" y="288223"/>
            <a:ext cx="3484765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solidFill>
                  <a:srgbClr val="F3F6FA"/>
                </a:solidFill>
                <a:latin typeface="Playfair Display Black"/>
                <a:sym typeface="Playfair Display Black"/>
              </a:rPr>
              <a:t>Java Application</a:t>
            </a:r>
            <a:endParaRPr dirty="0"/>
          </a:p>
        </p:txBody>
      </p:sp>
      <p:grpSp>
        <p:nvGrpSpPr>
          <p:cNvPr id="161" name="Google Shape;161;p15"/>
          <p:cNvGrpSpPr/>
          <p:nvPr/>
        </p:nvGrpSpPr>
        <p:grpSpPr>
          <a:xfrm>
            <a:off x="6313859" y="5319141"/>
            <a:ext cx="5660281" cy="4536250"/>
            <a:chOff x="0" y="-38100"/>
            <a:chExt cx="1490774" cy="1194732"/>
          </a:xfrm>
        </p:grpSpPr>
        <p:sp>
          <p:nvSpPr>
            <p:cNvPr id="162" name="Google Shape;162;p15"/>
            <p:cNvSpPr/>
            <p:nvPr/>
          </p:nvSpPr>
          <p:spPr>
            <a:xfrm>
              <a:off x="0" y="0"/>
              <a:ext cx="1490774" cy="1156632"/>
            </a:xfrm>
            <a:custGeom>
              <a:avLst/>
              <a:gdLst/>
              <a:ahLst/>
              <a:cxnLst/>
              <a:rect l="l" t="t" r="r" b="b"/>
              <a:pathLst>
                <a:path w="1490774" h="1156632" extrusionOk="0">
                  <a:moveTo>
                    <a:pt x="65653" y="0"/>
                  </a:moveTo>
                  <a:lnTo>
                    <a:pt x="1425121" y="0"/>
                  </a:lnTo>
                  <a:cubicBezTo>
                    <a:pt x="1461380" y="0"/>
                    <a:pt x="1490774" y="29394"/>
                    <a:pt x="1490774" y="65653"/>
                  </a:cubicBezTo>
                  <a:lnTo>
                    <a:pt x="1490774" y="1090979"/>
                  </a:lnTo>
                  <a:cubicBezTo>
                    <a:pt x="1490774" y="1127238"/>
                    <a:pt x="1461380" y="1156632"/>
                    <a:pt x="1425121" y="1156632"/>
                  </a:cubicBezTo>
                  <a:lnTo>
                    <a:pt x="65653" y="1156632"/>
                  </a:lnTo>
                  <a:cubicBezTo>
                    <a:pt x="29394" y="1156632"/>
                    <a:pt x="0" y="1127238"/>
                    <a:pt x="0" y="1090979"/>
                  </a:cubicBezTo>
                  <a:lnTo>
                    <a:pt x="0" y="65653"/>
                  </a:lnTo>
                  <a:cubicBezTo>
                    <a:pt x="0" y="29394"/>
                    <a:pt x="29394" y="0"/>
                    <a:pt x="656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5"/>
          <p:cNvGrpSpPr/>
          <p:nvPr/>
        </p:nvGrpSpPr>
        <p:grpSpPr>
          <a:xfrm>
            <a:off x="6313859" y="4003196"/>
            <a:ext cx="4287561" cy="3230765"/>
            <a:chOff x="0" y="-38100"/>
            <a:chExt cx="1129234" cy="850900"/>
          </a:xfrm>
        </p:grpSpPr>
        <p:sp>
          <p:nvSpPr>
            <p:cNvPr id="165" name="Google Shape;165;p15"/>
            <p:cNvSpPr/>
            <p:nvPr/>
          </p:nvSpPr>
          <p:spPr>
            <a:xfrm>
              <a:off x="0" y="0"/>
              <a:ext cx="1129234" cy="282729"/>
            </a:xfrm>
            <a:custGeom>
              <a:avLst/>
              <a:gdLst/>
              <a:ahLst/>
              <a:cxnLst/>
              <a:rect l="l" t="t" r="r" b="b"/>
              <a:pathLst>
                <a:path w="1129234" h="282729" extrusionOk="0">
                  <a:moveTo>
                    <a:pt x="86672" y="0"/>
                  </a:moveTo>
                  <a:lnTo>
                    <a:pt x="1042562" y="0"/>
                  </a:lnTo>
                  <a:cubicBezTo>
                    <a:pt x="1065549" y="0"/>
                    <a:pt x="1087594" y="9132"/>
                    <a:pt x="1103849" y="25386"/>
                  </a:cubicBezTo>
                  <a:cubicBezTo>
                    <a:pt x="1120103" y="41640"/>
                    <a:pt x="1129234" y="63685"/>
                    <a:pt x="1129234" y="86672"/>
                  </a:cubicBezTo>
                  <a:lnTo>
                    <a:pt x="1129234" y="196057"/>
                  </a:lnTo>
                  <a:cubicBezTo>
                    <a:pt x="1129234" y="243925"/>
                    <a:pt x="1090430" y="282729"/>
                    <a:pt x="1042562" y="282729"/>
                  </a:cubicBezTo>
                  <a:lnTo>
                    <a:pt x="86672" y="282729"/>
                  </a:lnTo>
                  <a:cubicBezTo>
                    <a:pt x="63685" y="282729"/>
                    <a:pt x="41640" y="273598"/>
                    <a:pt x="25386" y="257344"/>
                  </a:cubicBezTo>
                  <a:cubicBezTo>
                    <a:pt x="9132" y="241090"/>
                    <a:pt x="0" y="219044"/>
                    <a:pt x="0" y="196057"/>
                  </a:cubicBezTo>
                  <a:lnTo>
                    <a:pt x="0" y="86672"/>
                  </a:lnTo>
                  <a:cubicBezTo>
                    <a:pt x="0" y="63685"/>
                    <a:pt x="9132" y="41640"/>
                    <a:pt x="25386" y="25386"/>
                  </a:cubicBezTo>
                  <a:cubicBezTo>
                    <a:pt x="41640" y="9132"/>
                    <a:pt x="63685" y="0"/>
                    <a:pt x="86672" y="0"/>
                  </a:cubicBezTo>
                  <a:close/>
                </a:path>
              </a:pathLst>
            </a:custGeom>
            <a:solidFill>
              <a:srgbClr val="0B13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15"/>
          <p:cNvGrpSpPr/>
          <p:nvPr/>
        </p:nvGrpSpPr>
        <p:grpSpPr>
          <a:xfrm>
            <a:off x="12209481" y="3411433"/>
            <a:ext cx="5660281" cy="4536250"/>
            <a:chOff x="0" y="-38100"/>
            <a:chExt cx="1490774" cy="1194732"/>
          </a:xfrm>
        </p:grpSpPr>
        <p:sp>
          <p:nvSpPr>
            <p:cNvPr id="168" name="Google Shape;168;p15"/>
            <p:cNvSpPr/>
            <p:nvPr/>
          </p:nvSpPr>
          <p:spPr>
            <a:xfrm>
              <a:off x="0" y="0"/>
              <a:ext cx="1490774" cy="1156632"/>
            </a:xfrm>
            <a:custGeom>
              <a:avLst/>
              <a:gdLst/>
              <a:ahLst/>
              <a:cxnLst/>
              <a:rect l="l" t="t" r="r" b="b"/>
              <a:pathLst>
                <a:path w="1490774" h="1156632" extrusionOk="0">
                  <a:moveTo>
                    <a:pt x="65653" y="0"/>
                  </a:moveTo>
                  <a:lnTo>
                    <a:pt x="1425121" y="0"/>
                  </a:lnTo>
                  <a:cubicBezTo>
                    <a:pt x="1461380" y="0"/>
                    <a:pt x="1490774" y="29394"/>
                    <a:pt x="1490774" y="65653"/>
                  </a:cubicBezTo>
                  <a:lnTo>
                    <a:pt x="1490774" y="1090979"/>
                  </a:lnTo>
                  <a:cubicBezTo>
                    <a:pt x="1490774" y="1127238"/>
                    <a:pt x="1461380" y="1156632"/>
                    <a:pt x="1425121" y="1156632"/>
                  </a:cubicBezTo>
                  <a:lnTo>
                    <a:pt x="65653" y="1156632"/>
                  </a:lnTo>
                  <a:cubicBezTo>
                    <a:pt x="29394" y="1156632"/>
                    <a:pt x="0" y="1127238"/>
                    <a:pt x="0" y="1090979"/>
                  </a:cubicBezTo>
                  <a:lnTo>
                    <a:pt x="0" y="65653"/>
                  </a:lnTo>
                  <a:cubicBezTo>
                    <a:pt x="0" y="29394"/>
                    <a:pt x="29394" y="0"/>
                    <a:pt x="656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15"/>
          <p:cNvGrpSpPr/>
          <p:nvPr/>
        </p:nvGrpSpPr>
        <p:grpSpPr>
          <a:xfrm>
            <a:off x="12166669" y="2194656"/>
            <a:ext cx="4287561" cy="3230765"/>
            <a:chOff x="0" y="-38100"/>
            <a:chExt cx="1129234" cy="850900"/>
          </a:xfrm>
        </p:grpSpPr>
        <p:sp>
          <p:nvSpPr>
            <p:cNvPr id="171" name="Google Shape;171;p15"/>
            <p:cNvSpPr/>
            <p:nvPr/>
          </p:nvSpPr>
          <p:spPr>
            <a:xfrm>
              <a:off x="0" y="0"/>
              <a:ext cx="1129234" cy="282729"/>
            </a:xfrm>
            <a:custGeom>
              <a:avLst/>
              <a:gdLst/>
              <a:ahLst/>
              <a:cxnLst/>
              <a:rect l="l" t="t" r="r" b="b"/>
              <a:pathLst>
                <a:path w="1129234" h="282729" extrusionOk="0">
                  <a:moveTo>
                    <a:pt x="86672" y="0"/>
                  </a:moveTo>
                  <a:lnTo>
                    <a:pt x="1042562" y="0"/>
                  </a:lnTo>
                  <a:cubicBezTo>
                    <a:pt x="1065549" y="0"/>
                    <a:pt x="1087594" y="9132"/>
                    <a:pt x="1103849" y="25386"/>
                  </a:cubicBezTo>
                  <a:cubicBezTo>
                    <a:pt x="1120103" y="41640"/>
                    <a:pt x="1129234" y="63685"/>
                    <a:pt x="1129234" y="86672"/>
                  </a:cubicBezTo>
                  <a:lnTo>
                    <a:pt x="1129234" y="196057"/>
                  </a:lnTo>
                  <a:cubicBezTo>
                    <a:pt x="1129234" y="243925"/>
                    <a:pt x="1090430" y="282729"/>
                    <a:pt x="1042562" y="282729"/>
                  </a:cubicBezTo>
                  <a:lnTo>
                    <a:pt x="86672" y="282729"/>
                  </a:lnTo>
                  <a:cubicBezTo>
                    <a:pt x="63685" y="282729"/>
                    <a:pt x="41640" y="273598"/>
                    <a:pt x="25386" y="257344"/>
                  </a:cubicBezTo>
                  <a:cubicBezTo>
                    <a:pt x="9132" y="241090"/>
                    <a:pt x="0" y="219044"/>
                    <a:pt x="0" y="196057"/>
                  </a:cubicBezTo>
                  <a:lnTo>
                    <a:pt x="0" y="86672"/>
                  </a:lnTo>
                  <a:cubicBezTo>
                    <a:pt x="0" y="63685"/>
                    <a:pt x="9132" y="41640"/>
                    <a:pt x="25386" y="25386"/>
                  </a:cubicBezTo>
                  <a:cubicBezTo>
                    <a:pt x="41640" y="9132"/>
                    <a:pt x="63685" y="0"/>
                    <a:pt x="86672" y="0"/>
                  </a:cubicBezTo>
                  <a:close/>
                </a:path>
              </a:pathLst>
            </a:custGeom>
            <a:solidFill>
              <a:srgbClr val="0B13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15"/>
          <p:cNvSpPr txBox="1"/>
          <p:nvPr/>
        </p:nvSpPr>
        <p:spPr>
          <a:xfrm>
            <a:off x="6573349" y="4389999"/>
            <a:ext cx="3582098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500" dirty="0">
                <a:solidFill>
                  <a:srgbClr val="F3F6FA"/>
                </a:solidFill>
                <a:latin typeface="Playfair Display Black"/>
              </a:rPr>
              <a:t>JDBC Driver</a:t>
            </a:r>
            <a:endParaRPr sz="3500" dirty="0">
              <a:solidFill>
                <a:srgbClr val="F3F6FA"/>
              </a:solidFill>
              <a:latin typeface="Playfair Display Black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12315314" y="3905250"/>
            <a:ext cx="5141301" cy="30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9875" lvl="1">
              <a:lnSpc>
                <a:spcPct val="140016"/>
              </a:lnSpc>
              <a:buClr>
                <a:srgbClr val="0B1320"/>
              </a:buClr>
              <a:buSzPts val="2499"/>
            </a:pPr>
            <a:r>
              <a:rPr lang="ru-RU" sz="3500" dirty="0" err="1">
                <a:solidFill>
                  <a:schemeClr val="tx1"/>
                </a:solidFill>
                <a:latin typeface="Playfair Display Black"/>
              </a:rPr>
              <a:t>PostgreSQL</a:t>
            </a:r>
            <a:r>
              <a:rPr lang="ru-RU" sz="3500" dirty="0">
                <a:solidFill>
                  <a:schemeClr val="tx1"/>
                </a:solidFill>
                <a:latin typeface="Playfair Display Black"/>
              </a:rPr>
              <a:t>, </a:t>
            </a:r>
          </a:p>
          <a:p>
            <a:pPr marL="269875" lvl="1">
              <a:lnSpc>
                <a:spcPct val="140016"/>
              </a:lnSpc>
              <a:buClr>
                <a:srgbClr val="0B1320"/>
              </a:buClr>
              <a:buSzPts val="2499"/>
            </a:pPr>
            <a:r>
              <a:rPr lang="ru-RU" sz="3500" dirty="0">
                <a:solidFill>
                  <a:schemeClr val="tx1"/>
                </a:solidFill>
                <a:latin typeface="Playfair Display Black"/>
              </a:rPr>
              <a:t>MySQL,</a:t>
            </a:r>
          </a:p>
          <a:p>
            <a:pPr marL="269875" lvl="1">
              <a:lnSpc>
                <a:spcPct val="140016"/>
              </a:lnSpc>
              <a:buClr>
                <a:srgbClr val="0B1320"/>
              </a:buClr>
              <a:buSzPts val="2499"/>
            </a:pPr>
            <a:r>
              <a:rPr lang="ru-RU" sz="3500" dirty="0">
                <a:solidFill>
                  <a:schemeClr val="tx1"/>
                </a:solidFill>
                <a:latin typeface="Playfair Display Black"/>
              </a:rPr>
              <a:t>Oracle,</a:t>
            </a:r>
          </a:p>
          <a:p>
            <a:pPr marL="269875" lvl="1">
              <a:lnSpc>
                <a:spcPct val="140016"/>
              </a:lnSpc>
              <a:buClr>
                <a:srgbClr val="0B1320"/>
              </a:buClr>
              <a:buSzPts val="2499"/>
            </a:pPr>
            <a:r>
              <a:rPr lang="ru-RU" sz="3500" dirty="0">
                <a:solidFill>
                  <a:schemeClr val="tx1"/>
                </a:solidFill>
                <a:latin typeface="Playfair Display Black"/>
              </a:rPr>
              <a:t>какая угодно.</a:t>
            </a:r>
            <a:endParaRPr sz="3500" dirty="0">
              <a:solidFill>
                <a:schemeClr val="tx1"/>
              </a:solidFill>
              <a:latin typeface="Playfair Display Black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12552225" y="2525965"/>
            <a:ext cx="3516448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dirty="0">
                <a:solidFill>
                  <a:srgbClr val="F3F6FA"/>
                </a:solidFill>
                <a:latin typeface="Playfair Display Black"/>
                <a:sym typeface="Playfair Display Black"/>
              </a:rPr>
              <a:t>База данных</a:t>
            </a:r>
            <a:endParaRPr dirty="0"/>
          </a:p>
        </p:txBody>
      </p:sp>
      <p:cxnSp>
        <p:nvCxnSpPr>
          <p:cNvPr id="177" name="Google Shape;177;p15"/>
          <p:cNvCxnSpPr/>
          <p:nvPr/>
        </p:nvCxnSpPr>
        <p:spPr>
          <a:xfrm>
            <a:off x="10248689" y="1399247"/>
            <a:ext cx="5543425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78" name="Google Shape;178;p15"/>
          <p:cNvGrpSpPr/>
          <p:nvPr/>
        </p:nvGrpSpPr>
        <p:grpSpPr>
          <a:xfrm>
            <a:off x="16294495" y="1194924"/>
            <a:ext cx="406823" cy="408647"/>
            <a:chOff x="1813" y="0"/>
            <a:chExt cx="809173" cy="812800"/>
          </a:xfrm>
        </p:grpSpPr>
        <p:sp>
          <p:nvSpPr>
            <p:cNvPr id="179" name="Google Shape;179;p15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5"/>
          <p:cNvGrpSpPr/>
          <p:nvPr/>
        </p:nvGrpSpPr>
        <p:grpSpPr>
          <a:xfrm>
            <a:off x="16858169" y="1194924"/>
            <a:ext cx="406823" cy="408647"/>
            <a:chOff x="1813" y="0"/>
            <a:chExt cx="809173" cy="812800"/>
          </a:xfrm>
        </p:grpSpPr>
        <p:sp>
          <p:nvSpPr>
            <p:cNvPr id="182" name="Google Shape;182;p15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5"/>
          <p:cNvGrpSpPr/>
          <p:nvPr/>
        </p:nvGrpSpPr>
        <p:grpSpPr>
          <a:xfrm>
            <a:off x="17419216" y="1194924"/>
            <a:ext cx="406823" cy="408647"/>
            <a:chOff x="1813" y="0"/>
            <a:chExt cx="809173" cy="812800"/>
          </a:xfrm>
        </p:grpSpPr>
        <p:sp>
          <p:nvSpPr>
            <p:cNvPr id="185" name="Google Shape;185;p15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B4DDC5F-BF5F-49AB-8946-355D05ADD02F}"/>
              </a:ext>
            </a:extLst>
          </p:cNvPr>
          <p:cNvSpPr txBox="1"/>
          <p:nvPr/>
        </p:nvSpPr>
        <p:spPr>
          <a:xfrm>
            <a:off x="1402773" y="1493721"/>
            <a:ext cx="3763913" cy="2119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ru-RU" sz="3500" dirty="0">
                <a:solidFill>
                  <a:schemeClr val="tx1"/>
                </a:solidFill>
                <a:latin typeface="Playfair Display Black"/>
              </a:rPr>
              <a:t>Java код, который вы пишете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7ADD6A-E56A-45D4-84E2-540B1FF20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3" y="5319141"/>
            <a:ext cx="4285859" cy="32311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20EF2D-ED3B-4293-A3C0-4C35B9084DB1}"/>
              </a:ext>
            </a:extLst>
          </p:cNvPr>
          <p:cNvSpPr txBox="1"/>
          <p:nvPr/>
        </p:nvSpPr>
        <p:spPr>
          <a:xfrm>
            <a:off x="889934" y="5705975"/>
            <a:ext cx="322823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solidFill>
                  <a:srgbClr val="F3F6FA"/>
                </a:solidFill>
                <a:latin typeface="Playfair Display Black"/>
              </a:rPr>
              <a:t>JDBC API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8B5267-4AD8-4220-AA7C-E3B17FCED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26" y="6723751"/>
            <a:ext cx="4615072" cy="32494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F2CF60-9EB5-424D-B908-BC6FF6CED57B}"/>
              </a:ext>
            </a:extLst>
          </p:cNvPr>
          <p:cNvSpPr txBox="1"/>
          <p:nvPr/>
        </p:nvSpPr>
        <p:spPr>
          <a:xfrm>
            <a:off x="673416" y="6944245"/>
            <a:ext cx="4257087" cy="2808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ru-RU" sz="1800" dirty="0">
                <a:solidFill>
                  <a:schemeClr val="tx1"/>
                </a:solidFill>
                <a:latin typeface="Playfair Display Black"/>
              </a:rPr>
              <a:t>Это интерфейсы, описанные в пакете </a:t>
            </a:r>
            <a:r>
              <a:rPr lang="ru-RU" sz="1800" dirty="0" err="1">
                <a:solidFill>
                  <a:schemeClr val="tx1"/>
                </a:solidFill>
                <a:latin typeface="Playfair Display Black"/>
              </a:rPr>
              <a:t>java.sql</a:t>
            </a:r>
            <a:r>
              <a:rPr lang="ru-RU" sz="1800" dirty="0">
                <a:solidFill>
                  <a:schemeClr val="tx1"/>
                </a:solidFill>
                <a:latin typeface="Playfair Display Black"/>
              </a:rPr>
              <a:t>. Три самых главных:</a:t>
            </a:r>
            <a:endParaRPr lang="en-US" sz="1800" dirty="0">
              <a:solidFill>
                <a:schemeClr val="tx1"/>
              </a:solidFill>
              <a:latin typeface="Playfair Display Black"/>
            </a:endParaRPr>
          </a:p>
          <a:p>
            <a:pPr>
              <a:lnSpc>
                <a:spcPts val="1625"/>
              </a:lnSpc>
            </a:pPr>
            <a:endParaRPr lang="en-US" sz="1800" dirty="0">
              <a:solidFill>
                <a:schemeClr val="tx1"/>
              </a:solidFill>
              <a:latin typeface="Playfair Display Black"/>
            </a:endParaRPr>
          </a:p>
          <a:p>
            <a:pPr>
              <a:lnSpc>
                <a:spcPts val="1625"/>
              </a:lnSpc>
            </a:pP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Connection — соединение к БД</a:t>
            </a:r>
            <a:endParaRPr lang="en-US" sz="2000" dirty="0">
              <a:solidFill>
                <a:schemeClr val="tx1"/>
              </a:solidFill>
              <a:latin typeface="Playfair Display Black"/>
            </a:endParaRPr>
          </a:p>
          <a:p>
            <a:pPr>
              <a:lnSpc>
                <a:spcPts val="3000"/>
              </a:lnSpc>
            </a:pPr>
            <a:r>
              <a:rPr lang="ru-RU" sz="2000" dirty="0" err="1">
                <a:solidFill>
                  <a:schemeClr val="tx1"/>
                </a:solidFill>
                <a:latin typeface="Playfair Display Black"/>
              </a:rPr>
              <a:t>Statement</a:t>
            </a: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 — способ выполнить SQL команду</a:t>
            </a:r>
            <a:endParaRPr lang="en-US" sz="2000" dirty="0">
              <a:solidFill>
                <a:schemeClr val="tx1"/>
              </a:solidFill>
              <a:latin typeface="Playfair Display Black"/>
            </a:endParaRPr>
          </a:p>
          <a:p>
            <a:pPr>
              <a:lnSpc>
                <a:spcPts val="1625"/>
              </a:lnSpc>
            </a:pPr>
            <a:r>
              <a:rPr lang="ru-RU" sz="2000" dirty="0" err="1">
                <a:solidFill>
                  <a:schemeClr val="tx1"/>
                </a:solidFill>
                <a:latin typeface="Playfair Display Black"/>
              </a:rPr>
              <a:t>ResultSet</a:t>
            </a: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 — результаты запроса</a:t>
            </a:r>
            <a:endParaRPr lang="en-US" sz="2000" dirty="0">
              <a:solidFill>
                <a:schemeClr val="tx1"/>
              </a:solidFill>
              <a:latin typeface="Playfair Display Black"/>
            </a:endParaRP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E9723-A761-4378-A704-3CE55D3D1511}"/>
              </a:ext>
            </a:extLst>
          </p:cNvPr>
          <p:cNvSpPr txBox="1"/>
          <p:nvPr/>
        </p:nvSpPr>
        <p:spPr>
          <a:xfrm>
            <a:off x="6686550" y="6021446"/>
            <a:ext cx="4972050" cy="3131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Это конкретная реализация для каждой БД. </a:t>
            </a:r>
            <a:endParaRPr lang="en-US" sz="2000" dirty="0">
              <a:solidFill>
                <a:schemeClr val="tx1"/>
              </a:solidFill>
              <a:latin typeface="Playfair Display Black"/>
            </a:endParaRPr>
          </a:p>
          <a:p>
            <a:pPr>
              <a:lnSpc>
                <a:spcPts val="3000"/>
              </a:lnSpc>
            </a:pP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для </a:t>
            </a:r>
            <a:r>
              <a:rPr lang="en-US" sz="2000" dirty="0">
                <a:solidFill>
                  <a:schemeClr val="tx1"/>
                </a:solidFill>
                <a:latin typeface="Playfair Display Black"/>
              </a:rPr>
              <a:t>PostgreSQL — </a:t>
            </a: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это файл </a:t>
            </a:r>
            <a:r>
              <a:rPr lang="en-US" sz="2000" dirty="0">
                <a:solidFill>
                  <a:schemeClr val="tx1"/>
                </a:solidFill>
                <a:latin typeface="Playfair Display Black"/>
              </a:rPr>
              <a:t>postgresql-42.7.3.jar, </a:t>
            </a:r>
          </a:p>
          <a:p>
            <a:pPr>
              <a:lnSpc>
                <a:spcPts val="3000"/>
              </a:lnSpc>
            </a:pP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для </a:t>
            </a:r>
            <a:r>
              <a:rPr lang="en-US" sz="2000" dirty="0">
                <a:solidFill>
                  <a:schemeClr val="tx1"/>
                </a:solidFill>
                <a:latin typeface="Playfair Display Black"/>
              </a:rPr>
              <a:t>MySQL — </a:t>
            </a:r>
            <a:r>
              <a:rPr lang="en-US" sz="2000" dirty="0" err="1">
                <a:solidFill>
                  <a:schemeClr val="tx1"/>
                </a:solidFill>
                <a:latin typeface="Playfair Display Black"/>
              </a:rPr>
              <a:t>mysql</a:t>
            </a:r>
            <a:r>
              <a:rPr lang="en-US" sz="2000" dirty="0">
                <a:solidFill>
                  <a:schemeClr val="tx1"/>
                </a:solidFill>
                <a:latin typeface="Playfair Display Black"/>
              </a:rPr>
              <a:t>-connector-java, </a:t>
            </a: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для </a:t>
            </a:r>
            <a:r>
              <a:rPr lang="en-US" sz="2000" dirty="0">
                <a:solidFill>
                  <a:schemeClr val="tx1"/>
                </a:solidFill>
                <a:latin typeface="Playfair Display Black"/>
              </a:rPr>
              <a:t>Oracle — ojdbc.jar. </a:t>
            </a:r>
          </a:p>
          <a:p>
            <a:pPr>
              <a:lnSpc>
                <a:spcPts val="3000"/>
              </a:lnSpc>
            </a:pP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Драйвер реализует эти интерфейсы конкретно для своей БД.</a:t>
            </a:r>
            <a:endParaRPr lang="en-US" sz="2000" dirty="0">
              <a:solidFill>
                <a:schemeClr val="tx1"/>
              </a:solidFill>
              <a:latin typeface="Playfair Display Black"/>
            </a:endParaRP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5EAE0A3A-C63F-4927-82F5-A535EBCAC1E7}"/>
              </a:ext>
            </a:extLst>
          </p:cNvPr>
          <p:cNvCxnSpPr>
            <a:cxnSpLocks/>
          </p:cNvCxnSpPr>
          <p:nvPr/>
        </p:nvCxnSpPr>
        <p:spPr>
          <a:xfrm flipH="1">
            <a:off x="809508" y="534294"/>
            <a:ext cx="147292" cy="492950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A2D5A020-0E4B-4BD2-B696-B145CB8DDAC0}"/>
              </a:ext>
            </a:extLst>
          </p:cNvPr>
          <p:cNvCxnSpPr>
            <a:cxnSpLocks/>
          </p:cNvCxnSpPr>
          <p:nvPr/>
        </p:nvCxnSpPr>
        <p:spPr>
          <a:xfrm flipV="1">
            <a:off x="4786921" y="5113802"/>
            <a:ext cx="1639340" cy="7315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CA4F93CD-131C-4011-BF49-5CF9FD479F50}"/>
              </a:ext>
            </a:extLst>
          </p:cNvPr>
          <p:cNvCxnSpPr>
            <a:cxnSpLocks/>
          </p:cNvCxnSpPr>
          <p:nvPr/>
        </p:nvCxnSpPr>
        <p:spPr>
          <a:xfrm flipV="1">
            <a:off x="10419894" y="3361965"/>
            <a:ext cx="1928301" cy="10141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/>
          <p:nvPr/>
        </p:nvSpPr>
        <p:spPr>
          <a:xfrm>
            <a:off x="1216824" y="2041536"/>
            <a:ext cx="15664402" cy="3644889"/>
          </a:xfrm>
          <a:custGeom>
            <a:avLst/>
            <a:gdLst/>
            <a:ahLst/>
            <a:cxnLst/>
            <a:rect l="l" t="t" r="r" b="b"/>
            <a:pathLst>
              <a:path w="1322286" h="1631085" extrusionOk="0">
                <a:moveTo>
                  <a:pt x="74018" y="0"/>
                </a:moveTo>
                <a:lnTo>
                  <a:pt x="1248268" y="0"/>
                </a:lnTo>
                <a:cubicBezTo>
                  <a:pt x="1267899" y="0"/>
                  <a:pt x="1286726" y="7798"/>
                  <a:pt x="1300607" y="21679"/>
                </a:cubicBezTo>
                <a:cubicBezTo>
                  <a:pt x="1314488" y="35560"/>
                  <a:pt x="1322286" y="54387"/>
                  <a:pt x="1322286" y="74018"/>
                </a:cubicBezTo>
                <a:lnTo>
                  <a:pt x="1322286" y="1557067"/>
                </a:lnTo>
                <a:cubicBezTo>
                  <a:pt x="1322286" y="1576698"/>
                  <a:pt x="1314488" y="1595524"/>
                  <a:pt x="1300607" y="1609406"/>
                </a:cubicBezTo>
                <a:cubicBezTo>
                  <a:pt x="1286726" y="1623287"/>
                  <a:pt x="1267899" y="1631085"/>
                  <a:pt x="1248268" y="1631085"/>
                </a:cubicBezTo>
                <a:lnTo>
                  <a:pt x="74018" y="1631085"/>
                </a:lnTo>
                <a:cubicBezTo>
                  <a:pt x="54387" y="1631085"/>
                  <a:pt x="35560" y="1623287"/>
                  <a:pt x="21679" y="1609406"/>
                </a:cubicBezTo>
                <a:cubicBezTo>
                  <a:pt x="7798" y="1595524"/>
                  <a:pt x="0" y="1576698"/>
                  <a:pt x="0" y="1557067"/>
                </a:cubicBezTo>
                <a:lnTo>
                  <a:pt x="0" y="74018"/>
                </a:lnTo>
                <a:cubicBezTo>
                  <a:pt x="0" y="54387"/>
                  <a:pt x="7798" y="35560"/>
                  <a:pt x="21679" y="21679"/>
                </a:cubicBezTo>
                <a:cubicBezTo>
                  <a:pt x="35560" y="7798"/>
                  <a:pt x="54387" y="0"/>
                  <a:pt x="74018" y="0"/>
                </a:cubicBez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6633722" y="3517700"/>
            <a:ext cx="3086101" cy="323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827097" y="414336"/>
            <a:ext cx="16244079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500" dirty="0">
                <a:solidFill>
                  <a:srgbClr val="0B1320"/>
                </a:solidFill>
                <a:latin typeface="Playfair Display Black"/>
                <a:sym typeface="Playfair Display Black"/>
              </a:rPr>
              <a:t>Базовый цикл</a:t>
            </a:r>
            <a:r>
              <a:rPr lang="en-US" sz="7500" dirty="0">
                <a:solidFill>
                  <a:srgbClr val="0B1320"/>
                </a:solidFill>
                <a:latin typeface="Playfair Display Black"/>
                <a:sym typeface="Playfair Display Black"/>
              </a:rPr>
              <a:t>:</a:t>
            </a:r>
            <a:endParaRPr dirty="0"/>
          </a:p>
        </p:txBody>
      </p:sp>
      <p:sp>
        <p:nvSpPr>
          <p:cNvPr id="204" name="Google Shape;204;p16"/>
          <p:cNvSpPr txBox="1"/>
          <p:nvPr/>
        </p:nvSpPr>
        <p:spPr>
          <a:xfrm>
            <a:off x="1406774" y="4376725"/>
            <a:ext cx="46983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6" name="Google Shape;206;p16"/>
          <p:cNvSpPr txBox="1"/>
          <p:nvPr/>
        </p:nvSpPr>
        <p:spPr>
          <a:xfrm>
            <a:off x="12579356" y="4410982"/>
            <a:ext cx="3963085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07" name="Google Shape;207;p16"/>
          <p:cNvGrpSpPr/>
          <p:nvPr/>
        </p:nvGrpSpPr>
        <p:grpSpPr>
          <a:xfrm>
            <a:off x="1506413" y="2155221"/>
            <a:ext cx="1433703" cy="1440130"/>
            <a:chOff x="332012" y="-474553"/>
            <a:chExt cx="809173" cy="812800"/>
          </a:xfrm>
        </p:grpSpPr>
        <p:sp>
          <p:nvSpPr>
            <p:cNvPr id="208" name="Google Shape;208;p16"/>
            <p:cNvSpPr/>
            <p:nvPr/>
          </p:nvSpPr>
          <p:spPr>
            <a:xfrm>
              <a:off x="332012" y="-474553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6"/>
            <p:cNvSpPr txBox="1"/>
            <p:nvPr/>
          </p:nvSpPr>
          <p:spPr>
            <a:xfrm>
              <a:off x="422499" y="-464343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0" i="0" u="none" strike="noStrike" cap="none" dirty="0">
                  <a:solidFill>
                    <a:srgbClr val="F3F6FA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dirty="0"/>
            </a:p>
          </p:txBody>
        </p:sp>
      </p:grpSp>
      <p:sp>
        <p:nvSpPr>
          <p:cNvPr id="215" name="Google Shape;215;p16"/>
          <p:cNvSpPr txBox="1"/>
          <p:nvPr/>
        </p:nvSpPr>
        <p:spPr>
          <a:xfrm>
            <a:off x="11904159" y="3011126"/>
            <a:ext cx="1170105" cy="1321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07A7548-DD75-4F79-B222-4D6D19779818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3531862" y="3043313"/>
            <a:ext cx="8170554" cy="2259398"/>
          </a:xfrm>
          <a:prstGeom prst="rect">
            <a:avLst/>
          </a:prstGeom>
          <a:solidFill>
            <a:srgbClr val="F3F6FA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538A1B-8E19-4177-A78B-39A488FFF6AD}"/>
              </a:ext>
            </a:extLst>
          </p:cNvPr>
          <p:cNvSpPr txBox="1"/>
          <p:nvPr/>
        </p:nvSpPr>
        <p:spPr>
          <a:xfrm>
            <a:off x="3100442" y="2271526"/>
            <a:ext cx="8771339" cy="485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ru-RU" sz="3600" dirty="0">
                <a:solidFill>
                  <a:schemeClr val="tx1"/>
                </a:solidFill>
                <a:latin typeface="Playfair Display Black"/>
              </a:rPr>
              <a:t>Подключение</a:t>
            </a:r>
            <a:r>
              <a:rPr lang="en-US" sz="3600" dirty="0">
                <a:solidFill>
                  <a:schemeClr val="tx1"/>
                </a:solidFill>
                <a:latin typeface="Playfair Display Black"/>
              </a:rPr>
              <a:t>:</a:t>
            </a:r>
            <a:endParaRPr lang="ru-RU" sz="3600" dirty="0">
              <a:solidFill>
                <a:schemeClr val="tx1"/>
              </a:solidFill>
              <a:latin typeface="Playfair Display Black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B52E35-3AE0-4296-9392-D430474CECD7}"/>
              </a:ext>
            </a:extLst>
          </p:cNvPr>
          <p:cNvSpPr txBox="1"/>
          <p:nvPr/>
        </p:nvSpPr>
        <p:spPr>
          <a:xfrm>
            <a:off x="12215823" y="2298038"/>
            <a:ext cx="4591459" cy="313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Используем </a:t>
            </a:r>
            <a:r>
              <a:rPr lang="ru-RU" sz="2000" dirty="0" err="1">
                <a:solidFill>
                  <a:schemeClr val="tx1"/>
                </a:solidFill>
                <a:latin typeface="Playfair Display Black"/>
              </a:rPr>
              <a:t>DriverManager</a:t>
            </a: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 и передаем:</a:t>
            </a:r>
          </a:p>
          <a:p>
            <a:pPr>
              <a:lnSpc>
                <a:spcPts val="3000"/>
              </a:lnSpc>
            </a:pPr>
            <a:endParaRPr lang="ru-RU" sz="2000" dirty="0">
              <a:solidFill>
                <a:schemeClr val="tx1"/>
              </a:solidFill>
              <a:latin typeface="Playfair Display Black"/>
            </a:endParaRPr>
          </a:p>
          <a:p>
            <a:pPr>
              <a:lnSpc>
                <a:spcPts val="3000"/>
              </a:lnSpc>
            </a:pP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URL БД (где она находится, какой порт)</a:t>
            </a:r>
          </a:p>
          <a:p>
            <a:pPr>
              <a:lnSpc>
                <a:spcPts val="3000"/>
              </a:lnSpc>
            </a:pP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Имя пользователя</a:t>
            </a:r>
          </a:p>
          <a:p>
            <a:pPr>
              <a:lnSpc>
                <a:spcPts val="3000"/>
              </a:lnSpc>
            </a:pP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Пароль</a:t>
            </a:r>
          </a:p>
          <a:p>
            <a:pPr>
              <a:lnSpc>
                <a:spcPts val="3000"/>
              </a:lnSpc>
            </a:pP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Получаем объект </a:t>
            </a:r>
            <a:r>
              <a:rPr lang="ru-RU" sz="2000" dirty="0" err="1">
                <a:solidFill>
                  <a:schemeClr val="tx1"/>
                </a:solidFill>
                <a:latin typeface="Playfair Display Black"/>
              </a:rPr>
              <a:t>Connectio</a:t>
            </a:r>
            <a:r>
              <a:rPr lang="en-US" sz="2000" dirty="0">
                <a:solidFill>
                  <a:schemeClr val="tx1"/>
                </a:solidFill>
                <a:latin typeface="Playfair Display Black"/>
              </a:rPr>
              <a:t>n</a:t>
            </a:r>
            <a:endParaRPr lang="ru-RU" sz="2000" dirty="0">
              <a:solidFill>
                <a:schemeClr val="tx1"/>
              </a:solidFill>
              <a:latin typeface="Playfair Display Black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20AE8A1-2F0C-485A-A0EB-C4698F643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3974" y="476717"/>
            <a:ext cx="408467" cy="40846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3FBFC4B-B4D1-4C0A-89DF-E9166B3B0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6992" y="476716"/>
            <a:ext cx="408467" cy="408467"/>
          </a:xfrm>
          <a:prstGeom prst="rect">
            <a:avLst/>
          </a:prstGeom>
          <a:solidFill>
            <a:srgbClr val="F3F6FA"/>
          </a:solidFill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82865D1-1466-4CA0-8FCC-C9F7FE4CE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0010" y="476716"/>
            <a:ext cx="408467" cy="408467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AC8154E0-0BF9-4A37-8962-861C06699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6953" y="3205209"/>
            <a:ext cx="7889891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jdbc:mysql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://localhost:3306/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mydb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Connection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getConnection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ru-RU" altLang="ru-RU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F9DC6BD-3363-4113-8A03-C9AF8E3745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21" y="6127980"/>
            <a:ext cx="15698561" cy="368230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BE44526-1F2E-491F-B044-1CA410B617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5449" y="6298348"/>
            <a:ext cx="1432684" cy="145707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80F2238-AFE6-477A-B6FA-7DF5F079FC4B}"/>
              </a:ext>
            </a:extLst>
          </p:cNvPr>
          <p:cNvSpPr txBox="1"/>
          <p:nvPr/>
        </p:nvSpPr>
        <p:spPr>
          <a:xfrm>
            <a:off x="3100441" y="6278625"/>
            <a:ext cx="8771339" cy="485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ru-RU" sz="3600" dirty="0">
                <a:solidFill>
                  <a:schemeClr val="tx1"/>
                </a:solidFill>
                <a:latin typeface="Playfair Display Black"/>
              </a:rPr>
              <a:t>Выполняем запрос</a:t>
            </a:r>
            <a:r>
              <a:rPr lang="en-US" sz="3600" dirty="0">
                <a:solidFill>
                  <a:schemeClr val="tx1"/>
                </a:solidFill>
                <a:latin typeface="Playfair Display Black"/>
              </a:rPr>
              <a:t>:</a:t>
            </a:r>
            <a:endParaRPr lang="ru-RU" sz="3600" dirty="0">
              <a:solidFill>
                <a:schemeClr val="tx1"/>
              </a:solidFill>
              <a:latin typeface="Playfair Display Black"/>
            </a:endParaRP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B9D3D90F-61BC-470F-80AF-8593328CD94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3531862" y="6885775"/>
            <a:ext cx="8170554" cy="2259398"/>
          </a:xfrm>
          <a:prstGeom prst="rect">
            <a:avLst/>
          </a:prstGeom>
          <a:solidFill>
            <a:srgbClr val="F3F6FA"/>
          </a:solidFill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37DBE77A-D8E0-4744-930F-192675A35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6576" y="6969035"/>
            <a:ext cx="7700267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PreparedStatement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conn.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prepareStatement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"SELECT * FROM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 WHERE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 &gt; ?"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pstmt.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setInt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pstmt.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executeQuery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ru-RU" altLang="ru-RU" sz="5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0B38D7-36E0-46DD-A90C-17989AB11290}"/>
              </a:ext>
            </a:extLst>
          </p:cNvPr>
          <p:cNvSpPr txBox="1"/>
          <p:nvPr/>
        </p:nvSpPr>
        <p:spPr>
          <a:xfrm>
            <a:off x="12100560" y="6553744"/>
            <a:ext cx="4282317" cy="1677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Создаем </a:t>
            </a:r>
            <a:r>
              <a:rPr lang="en-US" sz="2000" dirty="0">
                <a:solidFill>
                  <a:schemeClr val="tx1"/>
                </a:solidFill>
                <a:latin typeface="Playfair Display Black"/>
              </a:rPr>
              <a:t>Statement (</a:t>
            </a: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это способ отправить </a:t>
            </a:r>
            <a:r>
              <a:rPr lang="en-US" sz="2000" dirty="0">
                <a:solidFill>
                  <a:schemeClr val="tx1"/>
                </a:solidFill>
                <a:latin typeface="Playfair Display Black"/>
              </a:rPr>
              <a:t>SQL </a:t>
            </a: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в БД), и выполняем запрос.</a:t>
            </a:r>
          </a:p>
          <a:p>
            <a:endParaRPr lang="ru-RU" sz="1400" dirty="0">
              <a:latin typeface="Corbel" panose="020B0503020204020204" pitchFamily="34" charset="0"/>
            </a:endParaRP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"/>
          <p:cNvSpPr txBox="1"/>
          <p:nvPr/>
        </p:nvSpPr>
        <p:spPr>
          <a:xfrm>
            <a:off x="9144000" y="6566408"/>
            <a:ext cx="8527052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 dirty="0">
                <a:solidFill>
                  <a:srgbClr val="0B1320"/>
                </a:solidFill>
                <a:latin typeface="Playfair Display Black"/>
                <a:sym typeface="Playfair Display Black"/>
              </a:rPr>
              <a:t>Нужно в конце закрыть все соединения </a:t>
            </a:r>
            <a:endParaRPr sz="4400" dirty="0"/>
          </a:p>
        </p:txBody>
      </p:sp>
      <p:cxnSp>
        <p:nvCxnSpPr>
          <p:cNvPr id="257" name="Google Shape;257;p18"/>
          <p:cNvCxnSpPr/>
          <p:nvPr/>
        </p:nvCxnSpPr>
        <p:spPr>
          <a:xfrm>
            <a:off x="3273949" y="9462624"/>
            <a:ext cx="13985351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58" name="Google Shape;258;p18"/>
          <p:cNvGrpSpPr/>
          <p:nvPr/>
        </p:nvGrpSpPr>
        <p:grpSpPr>
          <a:xfrm>
            <a:off x="1029612" y="9258300"/>
            <a:ext cx="406823" cy="408647"/>
            <a:chOff x="1813" y="0"/>
            <a:chExt cx="809173" cy="812800"/>
          </a:xfrm>
        </p:grpSpPr>
        <p:sp>
          <p:nvSpPr>
            <p:cNvPr id="259" name="Google Shape;259;p1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1" name="Google Shape;261;p18"/>
          <p:cNvGrpSpPr/>
          <p:nvPr/>
        </p:nvGrpSpPr>
        <p:grpSpPr>
          <a:xfrm>
            <a:off x="1593286" y="9258300"/>
            <a:ext cx="406823" cy="408647"/>
            <a:chOff x="1813" y="0"/>
            <a:chExt cx="809173" cy="812800"/>
          </a:xfrm>
        </p:grpSpPr>
        <p:sp>
          <p:nvSpPr>
            <p:cNvPr id="262" name="Google Shape;262;p1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" name="Google Shape;264;p18"/>
          <p:cNvGrpSpPr/>
          <p:nvPr/>
        </p:nvGrpSpPr>
        <p:grpSpPr>
          <a:xfrm>
            <a:off x="2154334" y="9258300"/>
            <a:ext cx="406823" cy="408647"/>
            <a:chOff x="1813" y="0"/>
            <a:chExt cx="809173" cy="812800"/>
          </a:xfrm>
        </p:grpSpPr>
        <p:sp>
          <p:nvSpPr>
            <p:cNvPr id="265" name="Google Shape;265;p1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" name="Google Shape;272;p18"/>
          <p:cNvGrpSpPr/>
          <p:nvPr/>
        </p:nvGrpSpPr>
        <p:grpSpPr>
          <a:xfrm>
            <a:off x="15146877" y="-5068233"/>
            <a:ext cx="5858410" cy="7210351"/>
            <a:chOff x="0" y="0"/>
            <a:chExt cx="7811213" cy="9613801"/>
          </a:xfrm>
        </p:grpSpPr>
        <p:grpSp>
          <p:nvGrpSpPr>
            <p:cNvPr id="273" name="Google Shape;273;p18"/>
            <p:cNvGrpSpPr/>
            <p:nvPr/>
          </p:nvGrpSpPr>
          <p:grpSpPr>
            <a:xfrm rot="10800000">
              <a:off x="0" y="0"/>
              <a:ext cx="7811213" cy="9613801"/>
              <a:chOff x="0" y="0"/>
              <a:chExt cx="660400" cy="812800"/>
            </a:xfrm>
          </p:grpSpPr>
          <p:sp>
            <p:nvSpPr>
              <p:cNvPr id="274" name="Google Shape;274;p18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8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6" name="Google Shape;276;p18"/>
            <p:cNvGrpSpPr/>
            <p:nvPr/>
          </p:nvGrpSpPr>
          <p:grpSpPr>
            <a:xfrm rot="10800000">
              <a:off x="456341" y="561650"/>
              <a:ext cx="6898532" cy="8490500"/>
              <a:chOff x="0" y="0"/>
              <a:chExt cx="660400" cy="812800"/>
            </a:xfrm>
          </p:grpSpPr>
          <p:sp>
            <p:nvSpPr>
              <p:cNvPr id="277" name="Google Shape;277;p18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8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9" name="Google Shape;279;p18"/>
            <p:cNvGrpSpPr/>
            <p:nvPr/>
          </p:nvGrpSpPr>
          <p:grpSpPr>
            <a:xfrm rot="10800000">
              <a:off x="906844" y="1116116"/>
              <a:ext cx="5997524" cy="7381569"/>
              <a:chOff x="0" y="0"/>
              <a:chExt cx="660400" cy="812800"/>
            </a:xfrm>
          </p:grpSpPr>
          <p:sp>
            <p:nvSpPr>
              <p:cNvPr id="280" name="Google Shape;280;p18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8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" name="Google Shape;192;p16">
            <a:extLst>
              <a:ext uri="{FF2B5EF4-FFF2-40B4-BE49-F238E27FC236}">
                <a16:creationId xmlns:a16="http://schemas.microsoft.com/office/drawing/2014/main" id="{9112A251-09F0-4A13-BE85-CB3129E876E8}"/>
              </a:ext>
            </a:extLst>
          </p:cNvPr>
          <p:cNvSpPr/>
          <p:nvPr/>
        </p:nvSpPr>
        <p:spPr>
          <a:xfrm>
            <a:off x="1001468" y="2142118"/>
            <a:ext cx="15664402" cy="3644889"/>
          </a:xfrm>
          <a:custGeom>
            <a:avLst/>
            <a:gdLst/>
            <a:ahLst/>
            <a:cxnLst/>
            <a:rect l="l" t="t" r="r" b="b"/>
            <a:pathLst>
              <a:path w="1322286" h="1631085" extrusionOk="0">
                <a:moveTo>
                  <a:pt x="74018" y="0"/>
                </a:moveTo>
                <a:lnTo>
                  <a:pt x="1248268" y="0"/>
                </a:lnTo>
                <a:cubicBezTo>
                  <a:pt x="1267899" y="0"/>
                  <a:pt x="1286726" y="7798"/>
                  <a:pt x="1300607" y="21679"/>
                </a:cubicBezTo>
                <a:cubicBezTo>
                  <a:pt x="1314488" y="35560"/>
                  <a:pt x="1322286" y="54387"/>
                  <a:pt x="1322286" y="74018"/>
                </a:cubicBezTo>
                <a:lnTo>
                  <a:pt x="1322286" y="1557067"/>
                </a:lnTo>
                <a:cubicBezTo>
                  <a:pt x="1322286" y="1576698"/>
                  <a:pt x="1314488" y="1595524"/>
                  <a:pt x="1300607" y="1609406"/>
                </a:cubicBezTo>
                <a:cubicBezTo>
                  <a:pt x="1286726" y="1623287"/>
                  <a:pt x="1267899" y="1631085"/>
                  <a:pt x="1248268" y="1631085"/>
                </a:cubicBezTo>
                <a:lnTo>
                  <a:pt x="74018" y="1631085"/>
                </a:lnTo>
                <a:cubicBezTo>
                  <a:pt x="54387" y="1631085"/>
                  <a:pt x="35560" y="1623287"/>
                  <a:pt x="21679" y="1609406"/>
                </a:cubicBezTo>
                <a:cubicBezTo>
                  <a:pt x="7798" y="1595524"/>
                  <a:pt x="0" y="1576698"/>
                  <a:pt x="0" y="1557067"/>
                </a:cubicBezTo>
                <a:lnTo>
                  <a:pt x="0" y="74018"/>
                </a:lnTo>
                <a:cubicBezTo>
                  <a:pt x="0" y="54387"/>
                  <a:pt x="7798" y="35560"/>
                  <a:pt x="21679" y="21679"/>
                </a:cubicBezTo>
                <a:cubicBezTo>
                  <a:pt x="35560" y="7798"/>
                  <a:pt x="54387" y="0"/>
                  <a:pt x="74018" y="0"/>
                </a:cubicBez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F62901A-4F50-4B95-B6C9-0C697D50E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391" y="2225937"/>
            <a:ext cx="1432684" cy="145707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15593B0-E361-4F53-B6AB-17D2DE4654D3}"/>
              </a:ext>
            </a:extLst>
          </p:cNvPr>
          <p:cNvSpPr txBox="1"/>
          <p:nvPr/>
        </p:nvSpPr>
        <p:spPr>
          <a:xfrm>
            <a:off x="3161402" y="2469275"/>
            <a:ext cx="8771339" cy="485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ru-RU" sz="3600" dirty="0">
                <a:solidFill>
                  <a:schemeClr val="tx1"/>
                </a:solidFill>
                <a:latin typeface="Playfair Display Black"/>
              </a:rPr>
              <a:t>Обработка результатов</a:t>
            </a:r>
            <a:r>
              <a:rPr lang="en-US" sz="3600" dirty="0">
                <a:solidFill>
                  <a:schemeClr val="tx1"/>
                </a:solidFill>
                <a:latin typeface="Playfair Display Black"/>
              </a:rPr>
              <a:t>:</a:t>
            </a:r>
            <a:endParaRPr lang="ru-RU" sz="3600" dirty="0">
              <a:solidFill>
                <a:schemeClr val="tx1"/>
              </a:solidFill>
              <a:latin typeface="Playfair Display Black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0D9ECB-B09F-4440-B188-15BDA7071866}"/>
              </a:ext>
            </a:extLst>
          </p:cNvPr>
          <p:cNvSpPr txBox="1"/>
          <p:nvPr/>
        </p:nvSpPr>
        <p:spPr>
          <a:xfrm>
            <a:off x="3381998" y="3281629"/>
            <a:ext cx="9800602" cy="2145268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7DFF"/>
                </a:solidFill>
                <a:latin typeface="Consolas" panose="020B0609020204030204" pitchFamily="49" charset="0"/>
              </a:rPr>
              <a:t>while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rs.next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5050"/>
                </a:solidFill>
                <a:latin typeface="Consolas" panose="020B0609020204030204" pitchFamily="49" charset="0"/>
              </a:rPr>
              <a:t>name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rs.getString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BE338"/>
                </a:solidFill>
                <a:latin typeface="Consolas" panose="020B0609020204030204" pitchFamily="49" charset="0"/>
              </a:rPr>
              <a:t>"name"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5050"/>
                </a:solidFill>
                <a:latin typeface="Consolas" panose="020B0609020204030204" pitchFamily="49" charset="0"/>
              </a:rPr>
              <a:t>age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rs.getInt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BE338"/>
                </a:solidFill>
                <a:latin typeface="Consolas" panose="020B0609020204030204" pitchFamily="49" charset="0"/>
              </a:rPr>
              <a:t>“age"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(“Name:” name + “, Age:" + age);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}</a:t>
            </a:r>
            <a:endParaRPr lang="ru-RU" sz="24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CCC773-3057-43BC-9960-7752CC1423E1}"/>
              </a:ext>
            </a:extLst>
          </p:cNvPr>
          <p:cNvSpPr txBox="1"/>
          <p:nvPr/>
        </p:nvSpPr>
        <p:spPr>
          <a:xfrm>
            <a:off x="13650921" y="2496925"/>
            <a:ext cx="2951353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Проходим по результатам.</a:t>
            </a:r>
            <a:endParaRPr lang="en-US" sz="2000" dirty="0">
              <a:solidFill>
                <a:schemeClr val="tx1"/>
              </a:solidFill>
              <a:latin typeface="Playfair Display Black"/>
            </a:endParaRPr>
          </a:p>
          <a:p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Playfair Display Black"/>
              </a:rPr>
              <a:t>rs.next</a:t>
            </a: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() — переходит на следующую строку. </a:t>
            </a:r>
            <a:endParaRPr lang="en-US" sz="2000" dirty="0">
              <a:solidFill>
                <a:schemeClr val="tx1"/>
              </a:solidFill>
              <a:latin typeface="Playfair Display Black"/>
            </a:endParaRPr>
          </a:p>
          <a:p>
            <a:r>
              <a:rPr lang="ru-RU" sz="2000" dirty="0" err="1">
                <a:solidFill>
                  <a:schemeClr val="tx1"/>
                </a:solidFill>
                <a:latin typeface="Playfair Display Black"/>
              </a:rPr>
              <a:t>rs.getString</a:t>
            </a: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() — получает значение колонки как </a:t>
            </a:r>
            <a:r>
              <a:rPr lang="ru-RU" sz="2000" dirty="0" err="1">
                <a:solidFill>
                  <a:schemeClr val="tx1"/>
                </a:solidFill>
                <a:latin typeface="Playfair Display Black"/>
              </a:rPr>
              <a:t>String</a:t>
            </a: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, </a:t>
            </a:r>
            <a:r>
              <a:rPr lang="ru-RU" sz="2000" dirty="0" err="1">
                <a:solidFill>
                  <a:schemeClr val="tx1"/>
                </a:solidFill>
                <a:latin typeface="Playfair Display Black"/>
              </a:rPr>
              <a:t>rs.getInt</a:t>
            </a: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() — как </a:t>
            </a:r>
            <a:r>
              <a:rPr lang="ru-RU" sz="2000" dirty="0" err="1">
                <a:solidFill>
                  <a:schemeClr val="tx1"/>
                </a:solidFill>
                <a:latin typeface="Playfair Display Black"/>
              </a:rPr>
              <a:t>int</a:t>
            </a:r>
            <a:r>
              <a:rPr lang="ru-RU" sz="2000" dirty="0">
                <a:solidFill>
                  <a:schemeClr val="tx1"/>
                </a:solidFill>
                <a:latin typeface="Playfair Display Black"/>
              </a:rPr>
              <a:t>.</a:t>
            </a:r>
          </a:p>
          <a:p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AF8DA2-4BB7-4EF5-B285-8F432B6A5C9C}"/>
              </a:ext>
            </a:extLst>
          </p:cNvPr>
          <p:cNvSpPr txBox="1"/>
          <p:nvPr/>
        </p:nvSpPr>
        <p:spPr>
          <a:xfrm>
            <a:off x="3913791" y="7012895"/>
            <a:ext cx="5516211" cy="132802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conn.close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4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pstmt.close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4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rs.close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  <a:endParaRPr lang="ru-RU" sz="24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42" name="Google Shape;239;p17">
            <a:extLst>
              <a:ext uri="{FF2B5EF4-FFF2-40B4-BE49-F238E27FC236}">
                <a16:creationId xmlns:a16="http://schemas.microsoft.com/office/drawing/2014/main" id="{962246B8-F10D-4F12-85AD-069C345A10E6}"/>
              </a:ext>
            </a:extLst>
          </p:cNvPr>
          <p:cNvGrpSpPr/>
          <p:nvPr/>
        </p:nvGrpSpPr>
        <p:grpSpPr>
          <a:xfrm>
            <a:off x="1796697" y="6948403"/>
            <a:ext cx="1433703" cy="1457006"/>
            <a:chOff x="1813" y="-9525"/>
            <a:chExt cx="809173" cy="822325"/>
          </a:xfrm>
        </p:grpSpPr>
        <p:sp>
          <p:nvSpPr>
            <p:cNvPr id="43" name="Google Shape;240;p17">
              <a:extLst>
                <a:ext uri="{FF2B5EF4-FFF2-40B4-BE49-F238E27FC236}">
                  <a16:creationId xmlns:a16="http://schemas.microsoft.com/office/drawing/2014/main" id="{A5087FD5-5317-43A0-9C68-026FA9B225BE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41;p17">
              <a:extLst>
                <a:ext uri="{FF2B5EF4-FFF2-40B4-BE49-F238E27FC236}">
                  <a16:creationId xmlns:a16="http://schemas.microsoft.com/office/drawing/2014/main" id="{D2490A93-D890-4620-B1D4-37AAF89210CC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dirty="0">
                  <a:solidFill>
                    <a:srgbClr val="F3F6FA"/>
                  </a:solidFill>
                  <a:latin typeface="Roboto"/>
                  <a:ea typeface="Roboto"/>
                  <a:sym typeface="Roboto"/>
                </a:rPr>
                <a:t>+</a:t>
              </a:r>
              <a:endParaRPr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20"/>
          <p:cNvGrpSpPr/>
          <p:nvPr/>
        </p:nvGrpSpPr>
        <p:grpSpPr>
          <a:xfrm>
            <a:off x="1028700" y="922742"/>
            <a:ext cx="16230600" cy="8374261"/>
            <a:chOff x="0" y="-38100"/>
            <a:chExt cx="4274726" cy="2205567"/>
          </a:xfrm>
        </p:grpSpPr>
        <p:sp>
          <p:nvSpPr>
            <p:cNvPr id="325" name="Google Shape;325;p20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0B13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" name="Google Shape;328;p20"/>
          <p:cNvSpPr txBox="1"/>
          <p:nvPr/>
        </p:nvSpPr>
        <p:spPr>
          <a:xfrm>
            <a:off x="1529650" y="1442989"/>
            <a:ext cx="10844804" cy="1366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6000" dirty="0">
                <a:solidFill>
                  <a:srgbClr val="F3F6FA"/>
                </a:solidFill>
                <a:latin typeface="Playfair Display Black"/>
                <a:ea typeface="Playfair Display Black"/>
                <a:cs typeface="Playfair Display Black"/>
              </a:rPr>
              <a:t>SQL INJECTION</a:t>
            </a:r>
            <a:endParaRPr lang="ru-RU" sz="6000" dirty="0">
              <a:solidFill>
                <a:srgbClr val="F3F6FA"/>
              </a:solidFill>
              <a:latin typeface="Playfair Display Black"/>
              <a:ea typeface="Playfair Display Black"/>
              <a:cs typeface="Playfair Display Black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29" name="Google Shape;329;p20"/>
          <p:cNvGrpSpPr/>
          <p:nvPr/>
        </p:nvGrpSpPr>
        <p:grpSpPr>
          <a:xfrm>
            <a:off x="-4359132" y="6832960"/>
            <a:ext cx="6999655" cy="8614961"/>
            <a:chOff x="0" y="0"/>
            <a:chExt cx="9332874" cy="11486614"/>
          </a:xfrm>
        </p:grpSpPr>
        <p:grpSp>
          <p:nvGrpSpPr>
            <p:cNvPr id="330" name="Google Shape;330;p20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331" name="Google Shape;331;p20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0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" name="Google Shape;333;p20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334" name="Google Shape;334;p20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0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6" name="Google Shape;336;p20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337" name="Google Shape;337;p20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0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" name="Google Shape;339;p20"/>
          <p:cNvGrpSpPr/>
          <p:nvPr/>
        </p:nvGrpSpPr>
        <p:grpSpPr>
          <a:xfrm rot="10800000">
            <a:off x="13775390" y="-3583581"/>
            <a:ext cx="6999655" cy="8614961"/>
            <a:chOff x="0" y="0"/>
            <a:chExt cx="9332874" cy="11486614"/>
          </a:xfrm>
        </p:grpSpPr>
        <p:grpSp>
          <p:nvGrpSpPr>
            <p:cNvPr id="340" name="Google Shape;340;p20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341" name="Google Shape;341;p20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0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20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344" name="Google Shape;344;p20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0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6" name="Google Shape;346;p20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347" name="Google Shape;347;p20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0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49" name="Google Shape;349;p20"/>
          <p:cNvCxnSpPr/>
          <p:nvPr/>
        </p:nvCxnSpPr>
        <p:spPr>
          <a:xfrm>
            <a:off x="7123341" y="1362064"/>
            <a:ext cx="9799801" cy="0"/>
          </a:xfrm>
          <a:prstGeom prst="straightConnector1">
            <a:avLst/>
          </a:prstGeom>
          <a:noFill/>
          <a:ln w="38100" cap="flat" cmpd="sng">
            <a:solidFill>
              <a:srgbClr val="F3F6F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50" name="Google Shape;350;p20"/>
          <p:cNvGrpSpPr/>
          <p:nvPr/>
        </p:nvGrpSpPr>
        <p:grpSpPr>
          <a:xfrm>
            <a:off x="15226010" y="2079760"/>
            <a:ext cx="406823" cy="408647"/>
            <a:chOff x="1813" y="0"/>
            <a:chExt cx="809173" cy="812800"/>
          </a:xfrm>
        </p:grpSpPr>
        <p:sp>
          <p:nvSpPr>
            <p:cNvPr id="351" name="Google Shape;351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20"/>
          <p:cNvGrpSpPr/>
          <p:nvPr/>
        </p:nvGrpSpPr>
        <p:grpSpPr>
          <a:xfrm>
            <a:off x="15789684" y="2079760"/>
            <a:ext cx="406823" cy="408647"/>
            <a:chOff x="1813" y="0"/>
            <a:chExt cx="809173" cy="812800"/>
          </a:xfrm>
        </p:grpSpPr>
        <p:sp>
          <p:nvSpPr>
            <p:cNvPr id="354" name="Google Shape;354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" name="Google Shape;356;p20"/>
          <p:cNvGrpSpPr/>
          <p:nvPr/>
        </p:nvGrpSpPr>
        <p:grpSpPr>
          <a:xfrm>
            <a:off x="16350731" y="2079760"/>
            <a:ext cx="406823" cy="408647"/>
            <a:chOff x="1813" y="0"/>
            <a:chExt cx="809173" cy="812800"/>
          </a:xfrm>
        </p:grpSpPr>
        <p:sp>
          <p:nvSpPr>
            <p:cNvPr id="357" name="Google Shape;357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FCD0C08-A4B4-45D1-8EDD-195E85A686BB}"/>
              </a:ext>
            </a:extLst>
          </p:cNvPr>
          <p:cNvSpPr txBox="1"/>
          <p:nvPr/>
        </p:nvSpPr>
        <p:spPr>
          <a:xfrm>
            <a:off x="1529650" y="2663804"/>
            <a:ext cx="1273702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Playfair Display Black"/>
              </a:rPr>
              <a:t>Вы, конечно, спросите</a:t>
            </a:r>
            <a:r>
              <a:rPr lang="en-US" sz="2400" dirty="0">
                <a:solidFill>
                  <a:schemeClr val="bg1"/>
                </a:solidFill>
                <a:latin typeface="Playfair Display Black"/>
              </a:rPr>
              <a:t>: “</a:t>
            </a:r>
            <a:r>
              <a:rPr lang="ru-RU" sz="2400" i="1" dirty="0">
                <a:solidFill>
                  <a:schemeClr val="bg1"/>
                </a:solidFill>
                <a:latin typeface="Playfair Display Black"/>
              </a:rPr>
              <a:t>Если я буду оформлять функцию ввода и конкатенировать водимый пользователем логин, то как сделать, чтобы Вася не стал админом без логина админа</a:t>
            </a:r>
            <a:r>
              <a:rPr lang="en-US" sz="2400" i="1" dirty="0">
                <a:solidFill>
                  <a:schemeClr val="bg1"/>
                </a:solidFill>
                <a:latin typeface="Playfair Display Black"/>
              </a:rPr>
              <a:t>?”</a:t>
            </a:r>
            <a:r>
              <a:rPr lang="ru-RU" sz="2400" i="1" dirty="0">
                <a:solidFill>
                  <a:schemeClr val="bg1"/>
                </a:solidFill>
                <a:latin typeface="Playfair Display Black"/>
              </a:rPr>
              <a:t>  </a:t>
            </a:r>
            <a:endParaRPr lang="en-US" sz="2400" i="1" dirty="0">
              <a:solidFill>
                <a:schemeClr val="bg1"/>
              </a:solidFill>
              <a:latin typeface="Playfair Display Black"/>
            </a:endParaRPr>
          </a:p>
          <a:p>
            <a:endParaRPr lang="en-US" sz="2400" i="1" dirty="0">
              <a:solidFill>
                <a:schemeClr val="bg1"/>
              </a:solidFill>
              <a:latin typeface="Playfair Display Black"/>
            </a:endParaRPr>
          </a:p>
          <a:p>
            <a:r>
              <a:rPr lang="ru-RU" sz="2400" dirty="0">
                <a:solidFill>
                  <a:schemeClr val="bg1"/>
                </a:solidFill>
                <a:latin typeface="Playfair Display Black"/>
              </a:rPr>
              <a:t>Действительно, предположим, пользователь вводит вместо ‘</a:t>
            </a:r>
            <a:r>
              <a:rPr lang="en-US" sz="2400" dirty="0" err="1">
                <a:solidFill>
                  <a:schemeClr val="bg1"/>
                </a:solidFill>
                <a:latin typeface="Playfair Display Black"/>
              </a:rPr>
              <a:t>vasy</a:t>
            </a:r>
            <a:r>
              <a:rPr lang="ru-RU" sz="2400" dirty="0">
                <a:solidFill>
                  <a:schemeClr val="bg1"/>
                </a:solidFill>
                <a:latin typeface="Playfair Display Black"/>
              </a:rPr>
              <a:t>' вот это: </a:t>
            </a:r>
          </a:p>
          <a:p>
            <a:r>
              <a:rPr lang="ru-RU" sz="2400" dirty="0">
                <a:solidFill>
                  <a:schemeClr val="bg1"/>
                </a:solidFill>
                <a:latin typeface="Playfair Display Black"/>
              </a:rPr>
              <a:t>'</a:t>
            </a:r>
            <a:r>
              <a:rPr lang="ru-RU" sz="2400" dirty="0" err="1">
                <a:solidFill>
                  <a:schemeClr val="bg1"/>
                </a:solidFill>
                <a:latin typeface="Playfair Display Black"/>
              </a:rPr>
              <a:t>admin</a:t>
            </a:r>
            <a:r>
              <a:rPr lang="ru-RU" sz="2400" dirty="0">
                <a:solidFill>
                  <a:schemeClr val="bg1"/>
                </a:solidFill>
                <a:latin typeface="Playfair Display Black"/>
              </a:rPr>
              <a:t>' -- (кавычка, слово </a:t>
            </a:r>
            <a:r>
              <a:rPr lang="ru-RU" sz="2400" dirty="0" err="1">
                <a:solidFill>
                  <a:schemeClr val="bg1"/>
                </a:solidFill>
                <a:latin typeface="Playfair Display Black"/>
              </a:rPr>
              <a:t>admin</a:t>
            </a:r>
            <a:r>
              <a:rPr lang="ru-RU" sz="2400" dirty="0">
                <a:solidFill>
                  <a:schemeClr val="bg1"/>
                </a:solidFill>
                <a:latin typeface="Playfair Display Black"/>
              </a:rPr>
              <a:t>, кавычка, два минуса).</a:t>
            </a:r>
          </a:p>
          <a:p>
            <a:r>
              <a:rPr lang="ru-RU" sz="2400" dirty="0">
                <a:solidFill>
                  <a:schemeClr val="bg1"/>
                </a:solidFill>
                <a:latin typeface="Playfair Display Black"/>
              </a:rPr>
              <a:t>Тогда запрос вернет данные, для пользователя с логином </a:t>
            </a:r>
            <a:r>
              <a:rPr lang="en-US" sz="2400" dirty="0">
                <a:solidFill>
                  <a:schemeClr val="bg1"/>
                </a:solidFill>
                <a:latin typeface="Playfair Display Black"/>
              </a:rPr>
              <a:t>admin,</a:t>
            </a:r>
            <a:r>
              <a:rPr lang="ru-RU" sz="2400" dirty="0">
                <a:solidFill>
                  <a:schemeClr val="bg1"/>
                </a:solidFill>
                <a:latin typeface="Playfair Display Black"/>
              </a:rPr>
              <a:t> БЕЗ аутентификации.</a:t>
            </a:r>
          </a:p>
          <a:p>
            <a:endParaRPr lang="ru-RU" sz="2400" dirty="0">
              <a:solidFill>
                <a:schemeClr val="bg1"/>
              </a:solidFill>
              <a:latin typeface="Playfair Display Black"/>
            </a:endParaRPr>
          </a:p>
          <a:p>
            <a:endParaRPr lang="ru-RU" sz="2400" i="1" dirty="0">
              <a:solidFill>
                <a:schemeClr val="bg1"/>
              </a:solidFill>
              <a:latin typeface="Playfair Display Black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2F4B3E-B811-443A-AE90-E9D09896492F}"/>
              </a:ext>
            </a:extLst>
          </p:cNvPr>
          <p:cNvSpPr txBox="1"/>
          <p:nvPr/>
        </p:nvSpPr>
        <p:spPr>
          <a:xfrm>
            <a:off x="1529650" y="5890740"/>
            <a:ext cx="10092971" cy="1736646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5050"/>
                </a:solidFill>
                <a:latin typeface="Consolas" panose="020B0609020204030204" pitchFamily="49" charset="0"/>
              </a:rPr>
              <a:t>login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userInput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5050"/>
                </a:solidFill>
                <a:latin typeface="Consolas" panose="020B0609020204030204" pitchFamily="49" charset="0"/>
              </a:rPr>
              <a:t>sql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ABE338"/>
                </a:solidFill>
                <a:latin typeface="Consolas" panose="020B0609020204030204" pitchFamily="49" charset="0"/>
              </a:rPr>
              <a:t>"SELECT * FROM users WHERE login = '"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+ login + </a:t>
            </a:r>
            <a:r>
              <a:rPr lang="en-US" sz="2400" dirty="0">
                <a:solidFill>
                  <a:srgbClr val="ABE338"/>
                </a:solidFill>
                <a:latin typeface="Consolas" panose="020B0609020204030204" pitchFamily="49" charset="0"/>
              </a:rPr>
              <a:t>"'"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stmt.executeQuery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sql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  <a:endParaRPr lang="ru-RU" sz="24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75F79D-1C1C-4AD9-91E7-CBB3FF690698}"/>
              </a:ext>
            </a:extLst>
          </p:cNvPr>
          <p:cNvSpPr txBox="1"/>
          <p:nvPr/>
        </p:nvSpPr>
        <p:spPr>
          <a:xfrm>
            <a:off x="11890138" y="5635105"/>
            <a:ext cx="5194878" cy="35754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SELECT * FROM users 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WHERE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login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</a:t>
            </a:r>
            <a:r>
              <a:rPr lang="en-US" sz="1500" dirty="0" err="1">
                <a:solidFill>
                  <a:srgbClr val="ABE338"/>
                </a:solidFill>
                <a:latin typeface="Consolas" panose="020B0609020204030204" pitchFamily="49" charset="0"/>
              </a:rPr>
              <a:t>ivan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</a:t>
            </a:r>
            <a:endParaRPr lang="ru-RU" sz="1500" dirty="0">
              <a:solidFill>
                <a:srgbClr val="ABE338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A9EFC2-EA27-4C07-ABFE-95EE4E0AF771}"/>
              </a:ext>
            </a:extLst>
          </p:cNvPr>
          <p:cNvSpPr txBox="1"/>
          <p:nvPr/>
        </p:nvSpPr>
        <p:spPr>
          <a:xfrm>
            <a:off x="11890138" y="6347522"/>
            <a:ext cx="5194878" cy="35754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SELECT * FROM users 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WHERE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login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'admin'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--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</a:t>
            </a:r>
            <a:endParaRPr lang="ru-RU" sz="1500" dirty="0">
              <a:solidFill>
                <a:srgbClr val="ABE338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B833B7-449A-413D-A17E-C3A18D898609}"/>
              </a:ext>
            </a:extLst>
          </p:cNvPr>
          <p:cNvSpPr txBox="1"/>
          <p:nvPr/>
        </p:nvSpPr>
        <p:spPr>
          <a:xfrm>
            <a:off x="11890138" y="7157108"/>
            <a:ext cx="5194878" cy="35754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158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SELECT * FROM users 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WHERE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login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'admin'</a:t>
            </a:r>
            <a:endParaRPr lang="ru-RU" sz="1500" dirty="0">
              <a:solidFill>
                <a:srgbClr val="ABE338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C381D5-4368-4F36-814E-6C7DB73D7353}"/>
              </a:ext>
            </a:extLst>
          </p:cNvPr>
          <p:cNvSpPr txBox="1"/>
          <p:nvPr/>
        </p:nvSpPr>
        <p:spPr>
          <a:xfrm>
            <a:off x="2480857" y="7878342"/>
            <a:ext cx="1200672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Playfair Display Black"/>
              </a:rPr>
              <a:t>В SQL два минуса — это комментарий, т. е. всё что дальше — игнорируется. То есть запрос становится: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1"/>
          <p:cNvSpPr txBox="1"/>
          <p:nvPr/>
        </p:nvSpPr>
        <p:spPr>
          <a:xfrm>
            <a:off x="631973" y="1675930"/>
            <a:ext cx="7363108" cy="210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ru-RU" sz="36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Как раз для </a:t>
            </a:r>
            <a:r>
              <a:rPr lang="ru-RU" sz="3600" dirty="0" err="1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избежания</a:t>
            </a:r>
            <a:r>
              <a:rPr lang="ru-RU" sz="36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 подобного исхода используется</a:t>
            </a:r>
            <a:r>
              <a:rPr lang="en-US" sz="36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 - </a:t>
            </a:r>
            <a:r>
              <a:rPr lang="en-US" sz="3600" dirty="0" err="1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PreparedStatement</a:t>
            </a:r>
            <a:r>
              <a:rPr lang="en-US" sz="36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 </a:t>
            </a:r>
            <a:endParaRPr sz="3600" dirty="0">
              <a:solidFill>
                <a:srgbClr val="0B1320"/>
              </a:solidFill>
              <a:latin typeface="Playfair Display Black"/>
              <a:ea typeface="Playfair Display Black"/>
              <a:cs typeface="Playfair Display Black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/>
          </a:p>
        </p:txBody>
      </p:sp>
      <p:sp>
        <p:nvSpPr>
          <p:cNvPr id="365" name="Google Shape;365;p21"/>
          <p:cNvSpPr txBox="1"/>
          <p:nvPr/>
        </p:nvSpPr>
        <p:spPr>
          <a:xfrm>
            <a:off x="1219097" y="4315684"/>
            <a:ext cx="8868331" cy="418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sz="24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Вместо того чтобы конкатенировать строки, мы используем </a:t>
            </a:r>
            <a:r>
              <a:rPr lang="ru-RU" sz="2400" dirty="0" err="1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плейсхолдер</a:t>
            </a:r>
            <a:r>
              <a:rPr lang="ru-RU" sz="24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 — знак вопроса '?'.</a:t>
            </a:r>
          </a:p>
          <a:p>
            <a:endParaRPr lang="ru-RU" sz="2400" dirty="0">
              <a:solidFill>
                <a:srgbClr val="0B1320"/>
              </a:solidFill>
              <a:latin typeface="Playfair Display Black"/>
              <a:ea typeface="Playfair Display Black"/>
              <a:cs typeface="Playfair Display Black"/>
            </a:endParaRPr>
          </a:p>
          <a:p>
            <a:r>
              <a:rPr lang="ru-RU" sz="24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Потом мы передаем параметр отдельно через </a:t>
            </a:r>
            <a:r>
              <a:rPr lang="ru-RU" sz="2400" dirty="0" err="1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set</a:t>
            </a:r>
            <a:r>
              <a:rPr lang="en-US" sz="24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Int</a:t>
            </a:r>
            <a:r>
              <a:rPr lang="ru-RU" sz="24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(). JDBC сам экранирует все спецсимволы.</a:t>
            </a:r>
          </a:p>
          <a:p>
            <a:endParaRPr lang="ru-RU" sz="2400" dirty="0">
              <a:solidFill>
                <a:srgbClr val="0B1320"/>
              </a:solidFill>
              <a:latin typeface="Playfair Display Black"/>
              <a:ea typeface="Playfair Display Black"/>
              <a:cs typeface="Playfair Display Black"/>
            </a:endParaRPr>
          </a:p>
          <a:p>
            <a:r>
              <a:rPr lang="ru-RU" sz="32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НИКОГДА не конкатенируйте параметры в SQL.</a:t>
            </a:r>
            <a:endParaRPr lang="en-US" sz="3200" dirty="0">
              <a:solidFill>
                <a:srgbClr val="0B1320"/>
              </a:solidFill>
              <a:latin typeface="Playfair Display Black"/>
              <a:ea typeface="Playfair Display Black"/>
              <a:cs typeface="Playfair Display Black"/>
            </a:endParaRPr>
          </a:p>
          <a:p>
            <a:r>
              <a:rPr lang="ru-RU" sz="32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ВСЕГДА используйте </a:t>
            </a:r>
            <a:r>
              <a:rPr lang="ru-RU" sz="3200" dirty="0" err="1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PreparedStatement</a:t>
            </a:r>
            <a:r>
              <a:rPr lang="ru-RU" sz="32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 с </a:t>
            </a:r>
            <a:r>
              <a:rPr lang="ru-RU" sz="3200" dirty="0" err="1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плейсхолдерами</a:t>
            </a:r>
            <a:r>
              <a:rPr lang="ru-RU" sz="32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."</a:t>
            </a:r>
          </a:p>
        </p:txBody>
      </p:sp>
      <p:grpSp>
        <p:nvGrpSpPr>
          <p:cNvPr id="366" name="Google Shape;366;p21"/>
          <p:cNvGrpSpPr/>
          <p:nvPr/>
        </p:nvGrpSpPr>
        <p:grpSpPr>
          <a:xfrm>
            <a:off x="14353073" y="6880240"/>
            <a:ext cx="6999655" cy="8614961"/>
            <a:chOff x="0" y="0"/>
            <a:chExt cx="9332874" cy="11486614"/>
          </a:xfrm>
        </p:grpSpPr>
        <p:grpSp>
          <p:nvGrpSpPr>
            <p:cNvPr id="367" name="Google Shape;367;p21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368" name="Google Shape;368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0" name="Google Shape;370;p21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371" name="Google Shape;371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3" name="Google Shape;373;p21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374" name="Google Shape;374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6" name="Google Shape;376;p21"/>
          <p:cNvGrpSpPr/>
          <p:nvPr/>
        </p:nvGrpSpPr>
        <p:grpSpPr>
          <a:xfrm>
            <a:off x="-3548742" y="8354719"/>
            <a:ext cx="6039488" cy="7433216"/>
            <a:chOff x="0" y="0"/>
            <a:chExt cx="8052650" cy="9910954"/>
          </a:xfrm>
        </p:grpSpPr>
        <p:grpSp>
          <p:nvGrpSpPr>
            <p:cNvPr id="377" name="Google Shape;377;p21"/>
            <p:cNvGrpSpPr/>
            <p:nvPr/>
          </p:nvGrpSpPr>
          <p:grpSpPr>
            <a:xfrm>
              <a:off x="0" y="0"/>
              <a:ext cx="8052650" cy="9910954"/>
              <a:chOff x="0" y="0"/>
              <a:chExt cx="660400" cy="812800"/>
            </a:xfrm>
          </p:grpSpPr>
          <p:sp>
            <p:nvSpPr>
              <p:cNvPr id="378" name="Google Shape;378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0" name="Google Shape;380;p21"/>
            <p:cNvGrpSpPr/>
            <p:nvPr/>
          </p:nvGrpSpPr>
          <p:grpSpPr>
            <a:xfrm>
              <a:off x="470446" y="579010"/>
              <a:ext cx="7111758" cy="8752934"/>
              <a:chOff x="0" y="0"/>
              <a:chExt cx="660400" cy="812800"/>
            </a:xfrm>
          </p:grpSpPr>
          <p:sp>
            <p:nvSpPr>
              <p:cNvPr id="381" name="Google Shape;381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3" name="Google Shape;383;p21"/>
            <p:cNvGrpSpPr/>
            <p:nvPr/>
          </p:nvGrpSpPr>
          <p:grpSpPr>
            <a:xfrm>
              <a:off x="934874" y="1150614"/>
              <a:ext cx="6182902" cy="7609726"/>
              <a:chOff x="0" y="0"/>
              <a:chExt cx="660400" cy="812800"/>
            </a:xfrm>
          </p:grpSpPr>
          <p:sp>
            <p:nvSpPr>
              <p:cNvPr id="384" name="Google Shape;384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6" name="Google Shape;386;p21"/>
          <p:cNvGrpSpPr/>
          <p:nvPr/>
        </p:nvGrpSpPr>
        <p:grpSpPr>
          <a:xfrm rot="10800000">
            <a:off x="7191530" y="-2403040"/>
            <a:ext cx="3904939" cy="4806079"/>
            <a:chOff x="0" y="0"/>
            <a:chExt cx="5206586" cy="6408106"/>
          </a:xfrm>
        </p:grpSpPr>
        <p:grpSp>
          <p:nvGrpSpPr>
            <p:cNvPr id="387" name="Google Shape;387;p21"/>
            <p:cNvGrpSpPr/>
            <p:nvPr/>
          </p:nvGrpSpPr>
          <p:grpSpPr>
            <a:xfrm>
              <a:off x="0" y="0"/>
              <a:ext cx="5206586" cy="6408106"/>
              <a:chOff x="0" y="0"/>
              <a:chExt cx="660400" cy="812800"/>
            </a:xfrm>
          </p:grpSpPr>
          <p:sp>
            <p:nvSpPr>
              <p:cNvPr id="388" name="Google Shape;388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390;p21"/>
            <p:cNvGrpSpPr/>
            <p:nvPr/>
          </p:nvGrpSpPr>
          <p:grpSpPr>
            <a:xfrm>
              <a:off x="304175" y="374370"/>
              <a:ext cx="4598236" cy="5659367"/>
              <a:chOff x="0" y="0"/>
              <a:chExt cx="660400" cy="812800"/>
            </a:xfrm>
          </p:grpSpPr>
          <p:sp>
            <p:nvSpPr>
              <p:cNvPr id="391" name="Google Shape;391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p21"/>
            <p:cNvGrpSpPr/>
            <p:nvPr/>
          </p:nvGrpSpPr>
          <p:grpSpPr>
            <a:xfrm>
              <a:off x="604460" y="743950"/>
              <a:ext cx="3997667" cy="4920205"/>
              <a:chOff x="0" y="0"/>
              <a:chExt cx="660400" cy="812800"/>
            </a:xfrm>
          </p:grpSpPr>
          <p:sp>
            <p:nvSpPr>
              <p:cNvPr id="394" name="Google Shape;394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6" name="Google Shape;396;p21"/>
          <p:cNvGrpSpPr/>
          <p:nvPr/>
        </p:nvGrpSpPr>
        <p:grpSpPr>
          <a:xfrm>
            <a:off x="1028700" y="624733"/>
            <a:ext cx="406823" cy="408647"/>
            <a:chOff x="-1" y="-4056038"/>
            <a:chExt cx="809173" cy="812800"/>
          </a:xfrm>
        </p:grpSpPr>
        <p:sp>
          <p:nvSpPr>
            <p:cNvPr id="397" name="Google Shape;397;p21"/>
            <p:cNvSpPr/>
            <p:nvPr/>
          </p:nvSpPr>
          <p:spPr>
            <a:xfrm>
              <a:off x="-1" y="-4056038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8" name="Google Shape;398;p21"/>
            <p:cNvSpPr txBox="1"/>
            <p:nvPr/>
          </p:nvSpPr>
          <p:spPr>
            <a:xfrm>
              <a:off x="48503" y="-4018822"/>
              <a:ext cx="660399" cy="717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21"/>
          <p:cNvGrpSpPr/>
          <p:nvPr/>
        </p:nvGrpSpPr>
        <p:grpSpPr>
          <a:xfrm>
            <a:off x="1586179" y="612514"/>
            <a:ext cx="406823" cy="408647"/>
            <a:chOff x="1813" y="0"/>
            <a:chExt cx="809173" cy="812800"/>
          </a:xfrm>
        </p:grpSpPr>
        <p:sp>
          <p:nvSpPr>
            <p:cNvPr id="400" name="Google Shape;400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21"/>
          <p:cNvGrpSpPr/>
          <p:nvPr/>
        </p:nvGrpSpPr>
        <p:grpSpPr>
          <a:xfrm>
            <a:off x="2137912" y="602936"/>
            <a:ext cx="406823" cy="408647"/>
            <a:chOff x="1813" y="0"/>
            <a:chExt cx="809173" cy="812800"/>
          </a:xfrm>
        </p:grpSpPr>
        <p:sp>
          <p:nvSpPr>
            <p:cNvPr id="403" name="Google Shape;403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48398B34-B53E-44F1-8BA4-F31BEA257D85}"/>
              </a:ext>
            </a:extLst>
          </p:cNvPr>
          <p:cNvSpPr txBox="1"/>
          <p:nvPr/>
        </p:nvSpPr>
        <p:spPr>
          <a:xfrm>
            <a:off x="9811986" y="2728526"/>
            <a:ext cx="8040914" cy="2826306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PreparedStatement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conn.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prepareStatement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"SELECT * FROM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 WHERE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 &gt; ?"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pstmt.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setInt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pstmt.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executeQuery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ru-RU" altLang="ru-RU" sz="5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endParaRPr lang="en-US" sz="24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591E50-25CE-4EAE-BB48-E8C3719A8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496051" y="-5717798"/>
            <a:ext cx="7035394" cy="8650974"/>
          </a:xfrm>
          <a:prstGeom prst="rect">
            <a:avLst/>
          </a:prstGeom>
        </p:spPr>
      </p:pic>
      <p:sp>
        <p:nvSpPr>
          <p:cNvPr id="220" name="Google Shape;220;p17"/>
          <p:cNvSpPr txBox="1"/>
          <p:nvPr/>
        </p:nvSpPr>
        <p:spPr>
          <a:xfrm>
            <a:off x="827097" y="765477"/>
            <a:ext cx="16244079" cy="1366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CONNECTION POOLING</a:t>
            </a:r>
            <a:endParaRPr lang="ru-RU" sz="6000" dirty="0">
              <a:solidFill>
                <a:srgbClr val="0B1320"/>
              </a:solidFill>
              <a:latin typeface="Playfair Display Black"/>
              <a:ea typeface="Playfair Display Black"/>
              <a:cs typeface="Playfair Display Black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9" name="Google Shape;229;p17"/>
          <p:cNvSpPr txBox="1"/>
          <p:nvPr/>
        </p:nvSpPr>
        <p:spPr>
          <a:xfrm>
            <a:off x="12050620" y="3517700"/>
            <a:ext cx="3086101" cy="323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F41C81-6F93-428C-AE39-92855BBC7C60}"/>
              </a:ext>
            </a:extLst>
          </p:cNvPr>
          <p:cNvSpPr txBox="1"/>
          <p:nvPr/>
        </p:nvSpPr>
        <p:spPr>
          <a:xfrm>
            <a:off x="1371600" y="2271713"/>
            <a:ext cx="1332946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B1320"/>
                </a:solidFill>
                <a:latin typeface="Playfair Display Black"/>
              </a:rPr>
              <a:t>Следующая проблема — производительность.</a:t>
            </a:r>
          </a:p>
          <a:p>
            <a:r>
              <a:rPr lang="ru-RU" sz="2400" dirty="0">
                <a:solidFill>
                  <a:srgbClr val="0B1320"/>
                </a:solidFill>
                <a:latin typeface="Playfair Display Black"/>
              </a:rPr>
              <a:t>Создание соединения к базе данных — это достаточно медленно.</a:t>
            </a:r>
          </a:p>
          <a:p>
            <a:r>
              <a:rPr lang="ru-RU" sz="2400" dirty="0">
                <a:solidFill>
                  <a:srgbClr val="0B1320"/>
                </a:solidFill>
                <a:latin typeface="Playfair Display Black"/>
              </a:rPr>
              <a:t>Потому что нужно установить TCP соединение, авторизоваться в БД, инициализировать сессию. Решение — Connection Pool.</a:t>
            </a:r>
          </a:p>
          <a:p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74AB21-7D4D-49D5-947C-3D3A9F67E74C}"/>
              </a:ext>
            </a:extLst>
          </p:cNvPr>
          <p:cNvSpPr txBox="1"/>
          <p:nvPr/>
        </p:nvSpPr>
        <p:spPr>
          <a:xfrm>
            <a:off x="1042316" y="5335308"/>
            <a:ext cx="6872288" cy="2826306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Запрос 1: создать соединение (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100ms) →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1ms) → закрыть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Запрос 2: создать соединение (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100ms) →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1ms) → закрыть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Запрос 1000: создать соединение (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100ms) →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1ms) → закрыть</a:t>
            </a:r>
          </a:p>
          <a:p>
            <a:endParaRPr lang="ru-R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Итого: 100+ секунд!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9B3660-309B-4D7F-9C12-22C11C51C7E1}"/>
              </a:ext>
            </a:extLst>
          </p:cNvPr>
          <p:cNvSpPr txBox="1"/>
          <p:nvPr/>
        </p:nvSpPr>
        <p:spPr>
          <a:xfrm>
            <a:off x="9768113" y="4595289"/>
            <a:ext cx="6872288" cy="459700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Инициализация: создать 10 готовых соединений (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200ms один раз)</a:t>
            </a:r>
          </a:p>
          <a:p>
            <a:endParaRPr lang="ru-RU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Запрос 1: взять из пула (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0.1ms) → </a:t>
            </a:r>
            <a:r>
              <a:rPr lang="ru-RU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1ms) → вернуть в пул</a:t>
            </a:r>
          </a:p>
          <a:p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Запрос 2: взять из пула (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0.1ms) → </a:t>
            </a:r>
            <a:r>
              <a:rPr lang="ru-RU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1ms) → вернуть в пул</a:t>
            </a:r>
          </a:p>
          <a:p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Запрос 1000: взять из пула (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0.1ms) → </a:t>
            </a:r>
            <a:r>
              <a:rPr lang="ru-RU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1ms) → вернуть в пул</a:t>
            </a:r>
          </a:p>
          <a:p>
            <a:endParaRPr lang="ru-RU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Итого: 1-2 секунды!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5E80E8-1EC0-4512-9A59-34D8100B982A}"/>
              </a:ext>
            </a:extLst>
          </p:cNvPr>
          <p:cNvSpPr txBox="1"/>
          <p:nvPr/>
        </p:nvSpPr>
        <p:spPr>
          <a:xfrm>
            <a:off x="3347133" y="4613138"/>
            <a:ext cx="240769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B1320"/>
                </a:solidFill>
                <a:latin typeface="Playfair Display Black"/>
              </a:rPr>
              <a:t>Без </a:t>
            </a:r>
            <a:r>
              <a:rPr lang="en-US" sz="2400" dirty="0">
                <a:solidFill>
                  <a:srgbClr val="0B1320"/>
                </a:solidFill>
                <a:latin typeface="Playfair Display Black"/>
              </a:rPr>
              <a:t>pooling:</a:t>
            </a:r>
            <a:endParaRPr lang="ru-RU" sz="2400" dirty="0">
              <a:solidFill>
                <a:srgbClr val="0B1320"/>
              </a:solidFill>
              <a:latin typeface="Playfair Display Black"/>
            </a:endParaRP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D40B78-98F9-4FA9-AF07-AE12DEF5E806}"/>
              </a:ext>
            </a:extLst>
          </p:cNvPr>
          <p:cNvSpPr txBox="1"/>
          <p:nvPr/>
        </p:nvSpPr>
        <p:spPr>
          <a:xfrm>
            <a:off x="11873131" y="4009345"/>
            <a:ext cx="344107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B1320"/>
                </a:solidFill>
                <a:latin typeface="Playfair Display Black"/>
              </a:rPr>
              <a:t>С </a:t>
            </a:r>
            <a:r>
              <a:rPr lang="en-US" sz="2400" dirty="0">
                <a:solidFill>
                  <a:srgbClr val="0B1320"/>
                </a:solidFill>
                <a:latin typeface="Playfair Display Black"/>
              </a:rPr>
              <a:t>Connection Pool :</a:t>
            </a:r>
            <a:endParaRPr lang="ru-RU" sz="2400" dirty="0">
              <a:solidFill>
                <a:srgbClr val="0B1320"/>
              </a:solidFill>
              <a:latin typeface="Playfair Display Black"/>
            </a:endParaRP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22"/>
          <p:cNvGrpSpPr/>
          <p:nvPr/>
        </p:nvGrpSpPr>
        <p:grpSpPr>
          <a:xfrm>
            <a:off x="1028700" y="884039"/>
            <a:ext cx="16230600" cy="8374261"/>
            <a:chOff x="0" y="-38100"/>
            <a:chExt cx="4274726" cy="2205567"/>
          </a:xfrm>
        </p:grpSpPr>
        <p:sp>
          <p:nvSpPr>
            <p:cNvPr id="410" name="Google Shape;410;p22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F3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2" name="Google Shape;412;p22"/>
          <p:cNvSpPr txBox="1"/>
          <p:nvPr/>
        </p:nvSpPr>
        <p:spPr>
          <a:xfrm>
            <a:off x="911393" y="1971909"/>
            <a:ext cx="7225536" cy="1366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DAO PATTERN</a:t>
            </a:r>
            <a:endParaRPr lang="ru-RU" sz="6000" dirty="0">
              <a:solidFill>
                <a:srgbClr val="0B1320"/>
              </a:solidFill>
              <a:latin typeface="Playfair Display Black"/>
              <a:ea typeface="Playfair Display Black"/>
              <a:cs typeface="Playfair Display Black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414" name="Google Shape;414;p22"/>
          <p:cNvCxnSpPr/>
          <p:nvPr/>
        </p:nvCxnSpPr>
        <p:spPr>
          <a:xfrm>
            <a:off x="1766932" y="1886465"/>
            <a:ext cx="12719299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15" name="Google Shape;415;p22"/>
          <p:cNvGrpSpPr/>
          <p:nvPr/>
        </p:nvGrpSpPr>
        <p:grpSpPr>
          <a:xfrm>
            <a:off x="14988611" y="1682141"/>
            <a:ext cx="406823" cy="408647"/>
            <a:chOff x="1813" y="0"/>
            <a:chExt cx="809173" cy="812800"/>
          </a:xfrm>
        </p:grpSpPr>
        <p:sp>
          <p:nvSpPr>
            <p:cNvPr id="416" name="Google Shape;416;p2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8" name="Google Shape;418;p22"/>
          <p:cNvGrpSpPr/>
          <p:nvPr/>
        </p:nvGrpSpPr>
        <p:grpSpPr>
          <a:xfrm>
            <a:off x="15552286" y="1682141"/>
            <a:ext cx="406823" cy="408647"/>
            <a:chOff x="1813" y="0"/>
            <a:chExt cx="809173" cy="812800"/>
          </a:xfrm>
        </p:grpSpPr>
        <p:sp>
          <p:nvSpPr>
            <p:cNvPr id="419" name="Google Shape;419;p2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1" name="Google Shape;421;p22"/>
          <p:cNvGrpSpPr/>
          <p:nvPr/>
        </p:nvGrpSpPr>
        <p:grpSpPr>
          <a:xfrm>
            <a:off x="16113333" y="1682141"/>
            <a:ext cx="406823" cy="408647"/>
            <a:chOff x="1813" y="0"/>
            <a:chExt cx="809173" cy="812800"/>
          </a:xfrm>
        </p:grpSpPr>
        <p:sp>
          <p:nvSpPr>
            <p:cNvPr id="422" name="Google Shape;422;p2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4" name="Google Shape;424;p22"/>
          <p:cNvGrpSpPr/>
          <p:nvPr/>
        </p:nvGrpSpPr>
        <p:grpSpPr>
          <a:xfrm>
            <a:off x="-2884855" y="6849485"/>
            <a:ext cx="6999655" cy="8614961"/>
            <a:chOff x="0" y="0"/>
            <a:chExt cx="9332874" cy="11486614"/>
          </a:xfrm>
        </p:grpSpPr>
        <p:grpSp>
          <p:nvGrpSpPr>
            <p:cNvPr id="425" name="Google Shape;425;p22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426" name="Google Shape;426;p22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2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8" name="Google Shape;428;p22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429" name="Google Shape;429;p22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2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1" name="Google Shape;431;p22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432" name="Google Shape;432;p22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2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8551337-1E09-4BBD-8065-08FABAEC477A}"/>
              </a:ext>
            </a:extLst>
          </p:cNvPr>
          <p:cNvSpPr txBox="1"/>
          <p:nvPr/>
        </p:nvSpPr>
        <p:spPr>
          <a:xfrm>
            <a:off x="9144000" y="2235449"/>
            <a:ext cx="7790092" cy="653796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D47D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FFFF"/>
                </a:solidFill>
                <a:latin typeface="Consolas" panose="020B0609020204030204" pitchFamily="49" charset="0"/>
              </a:rPr>
              <a:t>OrderService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D47DFF"/>
                </a:solidFill>
                <a:latin typeface="Consolas" panose="020B0609020204030204" pitchFamily="49" charset="0"/>
              </a:rPr>
              <a:t>public void </a:t>
            </a:r>
            <a:r>
              <a:rPr lang="en-US" sz="1800" dirty="0" err="1">
                <a:solidFill>
                  <a:srgbClr val="00FFFF"/>
                </a:solidFill>
                <a:latin typeface="Consolas" panose="020B0609020204030204" pitchFamily="49" charset="0"/>
              </a:rPr>
              <a:t>createOrder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(Order order)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conn = ...;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800" dirty="0">
                <a:solidFill>
                  <a:srgbClr val="ABE338"/>
                </a:solidFill>
                <a:latin typeface="Consolas" panose="020B0609020204030204" pitchFamily="49" charset="0"/>
              </a:rPr>
              <a:t>            "INSERT INTO orders ..."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);</a:t>
            </a:r>
          </a:p>
          <a:p>
            <a:r>
              <a:rPr lang="en-US" sz="1800" dirty="0">
                <a:solidFill>
                  <a:srgbClr val="DDDDDD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EBE2CF"/>
                </a:solidFill>
                <a:latin typeface="Consolas" panose="020B0609020204030204" pitchFamily="49" charset="0"/>
              </a:rPr>
              <a:t>// 20 </a:t>
            </a:r>
            <a:r>
              <a:rPr lang="ru-RU" sz="1800" dirty="0">
                <a:solidFill>
                  <a:srgbClr val="EBE2CF"/>
                </a:solidFill>
                <a:latin typeface="Consolas" panose="020B0609020204030204" pitchFamily="49" charset="0"/>
              </a:rPr>
              <a:t>строк </a:t>
            </a:r>
            <a:r>
              <a:rPr lang="en-US" sz="1800" dirty="0">
                <a:solidFill>
                  <a:srgbClr val="EBE2CF"/>
                </a:solidFill>
                <a:latin typeface="Consolas" panose="020B0609020204030204" pitchFamily="49" charset="0"/>
              </a:rPr>
              <a:t>SQL </a:t>
            </a:r>
            <a:r>
              <a:rPr lang="ru-RU" sz="1800" dirty="0">
                <a:solidFill>
                  <a:srgbClr val="EBE2CF"/>
                </a:solidFill>
                <a:latin typeface="Consolas" panose="020B0609020204030204" pitchFamily="49" charset="0"/>
              </a:rPr>
              <a:t>кода</a:t>
            </a:r>
          </a:p>
          <a:p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...</a:t>
            </a:r>
          </a:p>
          <a:p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Order </a:t>
            </a:r>
            <a:r>
              <a:rPr lang="en-US" sz="1800" dirty="0" err="1">
                <a:solidFill>
                  <a:srgbClr val="00FFFF"/>
                </a:solidFill>
                <a:latin typeface="Consolas" panose="020B0609020204030204" pitchFamily="49" charset="0"/>
              </a:rPr>
              <a:t>getOrder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(Long id)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conn = ...;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800" dirty="0">
                <a:solidFill>
                  <a:srgbClr val="ABE338"/>
                </a:solidFill>
                <a:latin typeface="Consolas" panose="020B0609020204030204" pitchFamily="49" charset="0"/>
              </a:rPr>
              <a:t>            "SELECT * FROM orders WHERE id = ?"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EBE2CF"/>
                </a:solidFill>
                <a:latin typeface="Consolas" panose="020B0609020204030204" pitchFamily="49" charset="0"/>
              </a:rPr>
              <a:t>// </a:t>
            </a:r>
            <a:r>
              <a:rPr lang="ru-RU" sz="1800" dirty="0">
                <a:solidFill>
                  <a:srgbClr val="EBE2CF"/>
                </a:solidFill>
                <a:latin typeface="Consolas" panose="020B0609020204030204" pitchFamily="49" charset="0"/>
              </a:rPr>
              <a:t>Еще 15 строк </a:t>
            </a:r>
            <a:r>
              <a:rPr lang="en-US" sz="1800" dirty="0">
                <a:solidFill>
                  <a:srgbClr val="EBE2CF"/>
                </a:solidFill>
                <a:latin typeface="Consolas" panose="020B0609020204030204" pitchFamily="49" charset="0"/>
              </a:rPr>
              <a:t>SQL </a:t>
            </a:r>
            <a:r>
              <a:rPr lang="ru-RU" sz="1800" dirty="0">
                <a:solidFill>
                  <a:srgbClr val="EBE2CF"/>
                </a:solidFill>
                <a:latin typeface="Consolas" panose="020B0609020204030204" pitchFamily="49" charset="0"/>
              </a:rPr>
              <a:t>кода</a:t>
            </a:r>
          </a:p>
          <a:p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...</a:t>
            </a:r>
          </a:p>
          <a:p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7CE0A1-8A0C-410C-8E7F-FD58AC258BAE}"/>
              </a:ext>
            </a:extLst>
          </p:cNvPr>
          <p:cNvSpPr txBox="1"/>
          <p:nvPr/>
        </p:nvSpPr>
        <p:spPr>
          <a:xfrm>
            <a:off x="1766932" y="3151960"/>
            <a:ext cx="60509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B1320"/>
                </a:solidFill>
                <a:latin typeface="Playfair Display Black"/>
              </a:rPr>
              <a:t>Допустим, у вас есть </a:t>
            </a:r>
            <a:r>
              <a:rPr lang="ru-RU" sz="2400" dirty="0" err="1">
                <a:solidFill>
                  <a:srgbClr val="0B1320"/>
                </a:solidFill>
                <a:latin typeface="Playfair Display Black"/>
              </a:rPr>
              <a:t>OrderService</a:t>
            </a:r>
            <a:r>
              <a:rPr lang="ru-RU" sz="2400" dirty="0">
                <a:solidFill>
                  <a:srgbClr val="0B1320"/>
                </a:solidFill>
                <a:latin typeface="Playfair Display Black"/>
              </a:rPr>
              <a:t>, где вы производите различные сложные операции с заказами, внутри которых выполняете </a:t>
            </a:r>
            <a:r>
              <a:rPr lang="en-US" sz="2400" dirty="0">
                <a:solidFill>
                  <a:srgbClr val="0B1320"/>
                </a:solidFill>
                <a:latin typeface="Playfair Display Black"/>
              </a:rPr>
              <a:t>SQL</a:t>
            </a:r>
            <a:r>
              <a:rPr lang="ru-RU" sz="2400" dirty="0">
                <a:solidFill>
                  <a:srgbClr val="0B1320"/>
                </a:solidFill>
                <a:latin typeface="Playfair Display Black"/>
              </a:rPr>
              <a:t> запросы: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6C8DF4-3A00-42CB-95E7-596524C678C4}"/>
              </a:ext>
            </a:extLst>
          </p:cNvPr>
          <p:cNvSpPr txBox="1"/>
          <p:nvPr/>
        </p:nvSpPr>
        <p:spPr>
          <a:xfrm>
            <a:off x="2523954" y="4949748"/>
            <a:ext cx="6357938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0B1320"/>
                </a:solidFill>
                <a:latin typeface="Playfair Display Black"/>
              </a:rPr>
              <a:t>При добавлении все новых и новым методов для работы с заказами возникают определенные проблемы:</a:t>
            </a:r>
          </a:p>
          <a:p>
            <a:endParaRPr lang="ru-RU" sz="2000" dirty="0">
              <a:solidFill>
                <a:srgbClr val="0B1320"/>
              </a:solidFill>
              <a:latin typeface="Playfair Display Black"/>
            </a:endParaRP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B1320"/>
                </a:solidFill>
                <a:latin typeface="Playfair Display Black"/>
              </a:rPr>
              <a:t>SQL </a:t>
            </a:r>
            <a:r>
              <a:rPr lang="ru-RU" sz="2000" dirty="0">
                <a:solidFill>
                  <a:srgbClr val="0B1320"/>
                </a:solidFill>
                <a:latin typeface="Playfair Display Black"/>
              </a:rPr>
              <a:t>код повторяется везде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B1320"/>
                </a:solidFill>
                <a:latin typeface="Playfair Display Black"/>
              </a:rPr>
              <a:t>Если нужно поменять БД, меняете везде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B1320"/>
                </a:solidFill>
                <a:latin typeface="Playfair Display Black"/>
              </a:rPr>
              <a:t>Нельзя тестировать бизнес-логику без БД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B1320"/>
                </a:solidFill>
                <a:latin typeface="Playfair Display Black"/>
              </a:rPr>
              <a:t>Грязная архитектура</a:t>
            </a:r>
          </a:p>
          <a:p>
            <a:endParaRPr lang="ru-RU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2" name="Google Shape;492;p24"/>
          <p:cNvCxnSpPr/>
          <p:nvPr/>
        </p:nvCxnSpPr>
        <p:spPr>
          <a:xfrm>
            <a:off x="1912327" y="874461"/>
            <a:ext cx="13312135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93" name="Google Shape;493;p24"/>
          <p:cNvGrpSpPr/>
          <p:nvPr/>
        </p:nvGrpSpPr>
        <p:grpSpPr>
          <a:xfrm>
            <a:off x="16109637" y="670137"/>
            <a:ext cx="406823" cy="408647"/>
            <a:chOff x="1813" y="0"/>
            <a:chExt cx="809173" cy="812800"/>
          </a:xfrm>
        </p:grpSpPr>
        <p:sp>
          <p:nvSpPr>
            <p:cNvPr id="494" name="Google Shape;494;p2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6" name="Google Shape;496;p24"/>
          <p:cNvGrpSpPr/>
          <p:nvPr/>
        </p:nvGrpSpPr>
        <p:grpSpPr>
          <a:xfrm>
            <a:off x="16673311" y="670137"/>
            <a:ext cx="406823" cy="408647"/>
            <a:chOff x="1813" y="0"/>
            <a:chExt cx="809173" cy="812800"/>
          </a:xfrm>
        </p:grpSpPr>
        <p:sp>
          <p:nvSpPr>
            <p:cNvPr id="497" name="Google Shape;497;p2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9" name="Google Shape;499;p24"/>
          <p:cNvGrpSpPr/>
          <p:nvPr/>
        </p:nvGrpSpPr>
        <p:grpSpPr>
          <a:xfrm>
            <a:off x="17234359" y="670137"/>
            <a:ext cx="406823" cy="408647"/>
            <a:chOff x="1813" y="0"/>
            <a:chExt cx="809173" cy="812800"/>
          </a:xfrm>
        </p:grpSpPr>
        <p:sp>
          <p:nvSpPr>
            <p:cNvPr id="500" name="Google Shape;500;p2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2" name="Google Shape;502;p24"/>
          <p:cNvGrpSpPr/>
          <p:nvPr/>
        </p:nvGrpSpPr>
        <p:grpSpPr>
          <a:xfrm>
            <a:off x="-5314341" y="4806215"/>
            <a:ext cx="6999655" cy="8614961"/>
            <a:chOff x="0" y="0"/>
            <a:chExt cx="9332874" cy="11486614"/>
          </a:xfrm>
        </p:grpSpPr>
        <p:grpSp>
          <p:nvGrpSpPr>
            <p:cNvPr id="503" name="Google Shape;503;p24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504" name="Google Shape;504;p2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6" name="Google Shape;506;p24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507" name="Google Shape;507;p2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9" name="Google Shape;509;p24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510" name="Google Shape;510;p2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AE76197E-4386-41F7-8770-B5C6D03576C9}"/>
              </a:ext>
            </a:extLst>
          </p:cNvPr>
          <p:cNvSpPr txBox="1"/>
          <p:nvPr/>
        </p:nvSpPr>
        <p:spPr>
          <a:xfrm>
            <a:off x="1912327" y="1379973"/>
            <a:ext cx="7842930" cy="8103896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D47DFF"/>
                </a:solidFill>
                <a:latin typeface="Consolas" panose="020B0609020204030204" pitchFamily="49" charset="0"/>
              </a:rPr>
              <a:t>class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FFFF"/>
                </a:solidFill>
                <a:latin typeface="Consolas" panose="020B0609020204030204" pitchFamily="49" charset="0"/>
              </a:rPr>
              <a:t>OrderService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D47DFF"/>
                </a:solidFill>
                <a:latin typeface="Consolas" panose="020B0609020204030204" pitchFamily="49" charset="0"/>
              </a:rPr>
              <a:t>private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D47DFF"/>
                </a:solidFill>
                <a:latin typeface="Consolas" panose="020B0609020204030204" pitchFamily="49" charset="0"/>
              </a:rPr>
              <a:t>public void </a:t>
            </a:r>
            <a:r>
              <a:rPr lang="en-US" sz="2000" dirty="0" err="1">
                <a:solidFill>
                  <a:srgbClr val="00FFFF"/>
                </a:solidFill>
                <a:latin typeface="Consolas" panose="020B0609020204030204" pitchFamily="49" charset="0"/>
              </a:rPr>
              <a:t>createOrder</a:t>
            </a:r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(Order order)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orderDAO.save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(order);  //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Просто!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Order </a:t>
            </a:r>
            <a:r>
              <a:rPr lang="en-US" sz="2000" dirty="0" err="1">
                <a:solidFill>
                  <a:srgbClr val="00FFFF"/>
                </a:solidFill>
                <a:latin typeface="Consolas" panose="020B0609020204030204" pitchFamily="49" charset="0"/>
              </a:rPr>
              <a:t>getOrder</a:t>
            </a:r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(Long id)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rgbClr val="D47D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orderDAO.findById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(id);  //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Просто!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D47DFF"/>
                </a:solidFill>
                <a:latin typeface="Consolas" panose="020B0609020204030204" pitchFamily="49" charset="0"/>
              </a:rPr>
              <a:t>class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FFFF"/>
                </a:solidFill>
                <a:latin typeface="Consolas" panose="020B0609020204030204" pitchFamily="49" charset="0"/>
              </a:rPr>
              <a:t>OrderDAO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D47DFF"/>
                </a:solidFill>
                <a:latin typeface="Consolas" panose="020B0609020204030204" pitchFamily="49" charset="0"/>
              </a:rPr>
              <a:t>public void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save</a:t>
            </a:r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(Order order)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// SQL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код только здесь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ABE338"/>
                </a:solidFill>
                <a:latin typeface="Consolas" panose="020B0609020204030204" pitchFamily="49" charset="0"/>
              </a:rPr>
              <a:t>"INSERT INTO orders ..."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Order </a:t>
            </a:r>
            <a:r>
              <a:rPr lang="en-US" sz="2000" dirty="0" err="1">
                <a:solidFill>
                  <a:srgbClr val="00FFFF"/>
                </a:solidFill>
                <a:latin typeface="Consolas" panose="020B0609020204030204" pitchFamily="49" charset="0"/>
              </a:rPr>
              <a:t>findById</a:t>
            </a:r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(Long id)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// SQL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код только здесь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b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ru-RU" sz="1417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2BBFDF-31D1-4791-BA0F-2D0F498C50E9}"/>
              </a:ext>
            </a:extLst>
          </p:cNvPr>
          <p:cNvSpPr txBox="1"/>
          <p:nvPr/>
        </p:nvSpPr>
        <p:spPr>
          <a:xfrm>
            <a:off x="11043658" y="5309512"/>
            <a:ext cx="67073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B1320"/>
                </a:solidFill>
                <a:latin typeface="Playfair Display Black"/>
              </a:rPr>
              <a:t>Преимущества:</a:t>
            </a:r>
          </a:p>
          <a:p>
            <a:endParaRPr lang="ru-RU" sz="2800" dirty="0">
              <a:solidFill>
                <a:srgbClr val="0B1320"/>
              </a:solidFill>
              <a:latin typeface="Playfair Display Black"/>
            </a:endParaRP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B1320"/>
                </a:solidFill>
                <a:latin typeface="Playfair Display Black"/>
              </a:rPr>
              <a:t>SQL код в одном месте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B1320"/>
                </a:solidFill>
                <a:latin typeface="Playfair Display Black"/>
              </a:rPr>
              <a:t>Бизнес-логика отделена от БД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B1320"/>
                </a:solidFill>
                <a:latin typeface="Playfair Display Black"/>
              </a:rPr>
              <a:t>Легко менять БД (переписываете только DAO)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B1320"/>
                </a:solidFill>
                <a:latin typeface="Playfair Display Black"/>
              </a:rPr>
              <a:t>Легко тестировать (можешь подделать DAO в тестах)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B1320"/>
                </a:solidFill>
                <a:latin typeface="Playfair Display Black"/>
              </a:rPr>
              <a:t>Чистая архитектура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B1BF82-F637-4A7A-8AB4-9F67163E3604}"/>
              </a:ext>
            </a:extLst>
          </p:cNvPr>
          <p:cNvSpPr txBox="1"/>
          <p:nvPr/>
        </p:nvSpPr>
        <p:spPr>
          <a:xfrm>
            <a:off x="11043658" y="2000599"/>
            <a:ext cx="580094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B1320"/>
                </a:solidFill>
                <a:latin typeface="Playfair Display Black"/>
              </a:rPr>
              <a:t>Правильный способ — DAO </a:t>
            </a:r>
            <a:r>
              <a:rPr lang="ru-RU" sz="2800" dirty="0" err="1">
                <a:solidFill>
                  <a:srgbClr val="0B1320"/>
                </a:solidFill>
                <a:latin typeface="Playfair Display Black"/>
              </a:rPr>
              <a:t>Pattern</a:t>
            </a:r>
            <a:r>
              <a:rPr lang="ru-RU" sz="2800" dirty="0">
                <a:solidFill>
                  <a:srgbClr val="0B1320"/>
                </a:solidFill>
                <a:latin typeface="Playfair Display Black"/>
              </a:rPr>
              <a:t>:</a:t>
            </a:r>
          </a:p>
          <a:p>
            <a:endParaRPr lang="ru-RU" sz="2800" dirty="0">
              <a:solidFill>
                <a:srgbClr val="0B1320"/>
              </a:solidFill>
              <a:latin typeface="Playfair Display Black"/>
            </a:endParaRPr>
          </a:p>
          <a:p>
            <a:r>
              <a:rPr lang="ru-RU" sz="2800" dirty="0">
                <a:solidFill>
                  <a:srgbClr val="0B1320"/>
                </a:solidFill>
                <a:latin typeface="Playfair Display Black"/>
              </a:rPr>
              <a:t>Вы создаете отдельный класс </a:t>
            </a:r>
            <a:r>
              <a:rPr lang="ru-RU" sz="2800" dirty="0" err="1">
                <a:solidFill>
                  <a:srgbClr val="0B1320"/>
                </a:solidFill>
                <a:latin typeface="Playfair Display Black"/>
              </a:rPr>
              <a:t>OrderDAO</a:t>
            </a:r>
            <a:r>
              <a:rPr lang="ru-RU" sz="2800" dirty="0">
                <a:solidFill>
                  <a:srgbClr val="0B1320"/>
                </a:solidFill>
                <a:latin typeface="Playfair Display Black"/>
              </a:rPr>
              <a:t>, который содержит ВСЕ SQL операции с заказами: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8" name="Google Shape;438;p23"/>
          <p:cNvGrpSpPr/>
          <p:nvPr/>
        </p:nvGrpSpPr>
        <p:grpSpPr>
          <a:xfrm>
            <a:off x="1028700" y="884039"/>
            <a:ext cx="16230600" cy="8374261"/>
            <a:chOff x="0" y="-38100"/>
            <a:chExt cx="4274726" cy="2205567"/>
          </a:xfrm>
        </p:grpSpPr>
        <p:sp>
          <p:nvSpPr>
            <p:cNvPr id="439" name="Google Shape;439;p2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0B13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2" name="Google Shape;442;p23"/>
          <p:cNvSpPr txBox="1"/>
          <p:nvPr/>
        </p:nvSpPr>
        <p:spPr>
          <a:xfrm>
            <a:off x="-3437210" y="1383687"/>
            <a:ext cx="9909096" cy="1144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ru-RU" sz="4800" dirty="0">
                <a:solidFill>
                  <a:schemeClr val="bg1">
                    <a:lumMod val="95000"/>
                  </a:schemeClr>
                </a:solidFill>
                <a:latin typeface="Playfair Display Black"/>
                <a:ea typeface="Playfair Display Black"/>
                <a:cs typeface="Playfair Display Black"/>
              </a:rPr>
              <a:t>ТРАНЗАКЦИИ</a:t>
            </a: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43" name="Google Shape;443;p23"/>
          <p:cNvGrpSpPr/>
          <p:nvPr/>
        </p:nvGrpSpPr>
        <p:grpSpPr>
          <a:xfrm>
            <a:off x="-3233490" y="5979520"/>
            <a:ext cx="6999655" cy="8614961"/>
            <a:chOff x="0" y="0"/>
            <a:chExt cx="9332874" cy="11486614"/>
          </a:xfrm>
        </p:grpSpPr>
        <p:grpSp>
          <p:nvGrpSpPr>
            <p:cNvPr id="444" name="Google Shape;444;p23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445" name="Google Shape;445;p2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7" name="Google Shape;447;p23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448" name="Google Shape;448;p2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0" name="Google Shape;450;p23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451" name="Google Shape;451;p2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3" name="Google Shape;453;p23"/>
          <p:cNvGrpSpPr/>
          <p:nvPr/>
        </p:nvGrpSpPr>
        <p:grpSpPr>
          <a:xfrm rot="10800000">
            <a:off x="13557529" y="-3278780"/>
            <a:ext cx="6999655" cy="8614961"/>
            <a:chOff x="0" y="0"/>
            <a:chExt cx="9332874" cy="11486614"/>
          </a:xfrm>
        </p:grpSpPr>
        <p:grpSp>
          <p:nvGrpSpPr>
            <p:cNvPr id="454" name="Google Shape;454;p23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455" name="Google Shape;455;p2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7" name="Google Shape;457;p23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458" name="Google Shape;458;p2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0" name="Google Shape;460;p23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461" name="Google Shape;461;p2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63" name="Google Shape;463;p23"/>
          <p:cNvCxnSpPr/>
          <p:nvPr/>
        </p:nvCxnSpPr>
        <p:spPr>
          <a:xfrm>
            <a:off x="1894977" y="2274547"/>
            <a:ext cx="9799801" cy="0"/>
          </a:xfrm>
          <a:prstGeom prst="straightConnector1">
            <a:avLst/>
          </a:prstGeom>
          <a:noFill/>
          <a:ln w="38100" cap="flat" cmpd="sng">
            <a:solidFill>
              <a:srgbClr val="F3F6F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64" name="Google Shape;464;p23"/>
          <p:cNvGrpSpPr/>
          <p:nvPr/>
        </p:nvGrpSpPr>
        <p:grpSpPr>
          <a:xfrm>
            <a:off x="15226010" y="2079760"/>
            <a:ext cx="406823" cy="408647"/>
            <a:chOff x="1813" y="0"/>
            <a:chExt cx="809173" cy="812800"/>
          </a:xfrm>
        </p:grpSpPr>
        <p:sp>
          <p:nvSpPr>
            <p:cNvPr id="465" name="Google Shape;465;p2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7" name="Google Shape;467;p23"/>
          <p:cNvGrpSpPr/>
          <p:nvPr/>
        </p:nvGrpSpPr>
        <p:grpSpPr>
          <a:xfrm>
            <a:off x="15789684" y="2079760"/>
            <a:ext cx="406823" cy="408647"/>
            <a:chOff x="1813" y="0"/>
            <a:chExt cx="809173" cy="812800"/>
          </a:xfrm>
        </p:grpSpPr>
        <p:sp>
          <p:nvSpPr>
            <p:cNvPr id="468" name="Google Shape;468;p2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0" name="Google Shape;470;p23"/>
          <p:cNvGrpSpPr/>
          <p:nvPr/>
        </p:nvGrpSpPr>
        <p:grpSpPr>
          <a:xfrm>
            <a:off x="16350731" y="2079760"/>
            <a:ext cx="406823" cy="408647"/>
            <a:chOff x="1813" y="0"/>
            <a:chExt cx="809173" cy="812800"/>
          </a:xfrm>
        </p:grpSpPr>
        <p:sp>
          <p:nvSpPr>
            <p:cNvPr id="471" name="Google Shape;471;p2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7A22923-AA9F-4FBB-B9A4-9C14DB7BDAF2}"/>
              </a:ext>
            </a:extLst>
          </p:cNvPr>
          <p:cNvSpPr txBox="1"/>
          <p:nvPr/>
        </p:nvSpPr>
        <p:spPr>
          <a:xfrm>
            <a:off x="1894977" y="2662642"/>
            <a:ext cx="958622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Playfair Display Black"/>
              </a:rPr>
              <a:t>Представьте реальный сценарий: вы создаете заказ в магазине. Нужно сделать две операции:</a:t>
            </a:r>
          </a:p>
          <a:p>
            <a:endParaRPr lang="ru-RU" sz="2800" dirty="0">
              <a:solidFill>
                <a:schemeClr val="bg1">
                  <a:lumMod val="95000"/>
                </a:schemeClr>
              </a:solidFill>
              <a:latin typeface="Playfair Display Black"/>
            </a:endParaRPr>
          </a:p>
          <a:p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Playfair Display Black"/>
              </a:rPr>
              <a:t>Вставить запись в таблицу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Playfair Display Black"/>
              </a:rPr>
              <a:t>orders</a:t>
            </a:r>
            <a:endParaRPr lang="ru-RU" sz="2800" dirty="0">
              <a:solidFill>
                <a:schemeClr val="bg1">
                  <a:lumMod val="95000"/>
                </a:schemeClr>
              </a:solidFill>
              <a:latin typeface="Playfair Display Black"/>
            </a:endParaRPr>
          </a:p>
          <a:p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Playfair Display Black"/>
              </a:rPr>
              <a:t>Уменьшить количество товара на 5 единиц</a:t>
            </a:r>
          </a:p>
          <a:p>
            <a:endParaRPr lang="ru-RU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299B1A-74D5-4D39-AB26-1C8867C0F8C7}"/>
              </a:ext>
            </a:extLst>
          </p:cNvPr>
          <p:cNvSpPr txBox="1"/>
          <p:nvPr/>
        </p:nvSpPr>
        <p:spPr>
          <a:xfrm>
            <a:off x="2289913" y="5173552"/>
            <a:ext cx="509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Playfair Display Black"/>
              </a:rPr>
              <a:t>Без транзакций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 Black"/>
              </a:rPr>
              <a:t>:</a:t>
            </a:r>
            <a:endParaRPr lang="ru-RU" sz="2800" dirty="0">
              <a:solidFill>
                <a:schemeClr val="bg1">
                  <a:lumMod val="95000"/>
                </a:schemeClr>
              </a:solidFill>
              <a:latin typeface="Playfair Display Black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E18B6A-CABF-43E7-9861-10E962065714}"/>
              </a:ext>
            </a:extLst>
          </p:cNvPr>
          <p:cNvSpPr txBox="1"/>
          <p:nvPr/>
        </p:nvSpPr>
        <p:spPr>
          <a:xfrm>
            <a:off x="6070041" y="5119086"/>
            <a:ext cx="8797521" cy="783193"/>
          </a:xfrm>
          <a:prstGeom prst="roundRect">
            <a:avLst/>
          </a:prstGeom>
          <a:solidFill>
            <a:schemeClr val="tx1"/>
          </a:solidFill>
          <a:ln w="44450">
            <a:solidFill>
              <a:srgbClr val="F3F6FA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1.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INSERT INTO orders ... --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успешно</a:t>
            </a:r>
          </a:p>
          <a:p>
            <a:r>
              <a:rPr lang="ru-RU" sz="2000" dirty="0">
                <a:solidFill>
                  <a:srgbClr val="FFC000"/>
                </a:solidFill>
                <a:latin typeface="Consolas" panose="020B0609020204030204" pitchFamily="49" charset="0"/>
              </a:rPr>
              <a:t>2.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UPDATE products </a:t>
            </a:r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SET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5050"/>
                </a:solidFill>
                <a:latin typeface="Consolas" panose="020B0609020204030204" pitchFamily="49" charset="0"/>
              </a:rPr>
              <a:t>stock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= stock - 5 ... --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ошибка БД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825D8-F80F-4644-B655-862D584EF2DF}"/>
              </a:ext>
            </a:extLst>
          </p:cNvPr>
          <p:cNvSpPr txBox="1"/>
          <p:nvPr/>
        </p:nvSpPr>
        <p:spPr>
          <a:xfrm>
            <a:off x="4672231" y="6464596"/>
            <a:ext cx="113208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Playfair Display Black"/>
              </a:rPr>
              <a:t>В результате, заказ создан, но товар не уменьшился, образовалась несогласованность данных. Это проблема.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" name="Google Shape;517;p25"/>
          <p:cNvGrpSpPr/>
          <p:nvPr/>
        </p:nvGrpSpPr>
        <p:grpSpPr>
          <a:xfrm>
            <a:off x="10743684" y="1852664"/>
            <a:ext cx="6384607" cy="3230767"/>
            <a:chOff x="0" y="-38100"/>
            <a:chExt cx="1681543" cy="850900"/>
          </a:xfrm>
        </p:grpSpPr>
        <p:sp>
          <p:nvSpPr>
            <p:cNvPr id="518" name="Google Shape;518;p25"/>
            <p:cNvSpPr/>
            <p:nvPr/>
          </p:nvSpPr>
          <p:spPr>
            <a:xfrm>
              <a:off x="0" y="0"/>
              <a:ext cx="1681543" cy="340473"/>
            </a:xfrm>
            <a:custGeom>
              <a:avLst/>
              <a:gdLst/>
              <a:ahLst/>
              <a:cxnLst/>
              <a:rect l="l" t="t" r="r" b="b"/>
              <a:pathLst>
                <a:path w="1714009" h="269897" extrusionOk="0">
                  <a:moveTo>
                    <a:pt x="57102" y="0"/>
                  </a:moveTo>
                  <a:lnTo>
                    <a:pt x="1656907" y="0"/>
                  </a:lnTo>
                  <a:cubicBezTo>
                    <a:pt x="1688443" y="0"/>
                    <a:pt x="1714009" y="25565"/>
                    <a:pt x="1714009" y="57102"/>
                  </a:cubicBezTo>
                  <a:lnTo>
                    <a:pt x="1714009" y="212795"/>
                  </a:lnTo>
                  <a:cubicBezTo>
                    <a:pt x="1714009" y="227940"/>
                    <a:pt x="1707992" y="242464"/>
                    <a:pt x="1697284" y="253173"/>
                  </a:cubicBezTo>
                  <a:cubicBezTo>
                    <a:pt x="1686575" y="263881"/>
                    <a:pt x="1672051" y="269897"/>
                    <a:pt x="1656907" y="269897"/>
                  </a:cubicBezTo>
                  <a:lnTo>
                    <a:pt x="57102" y="269897"/>
                  </a:lnTo>
                  <a:cubicBezTo>
                    <a:pt x="25565" y="269897"/>
                    <a:pt x="0" y="244332"/>
                    <a:pt x="0" y="212795"/>
                  </a:cubicBezTo>
                  <a:lnTo>
                    <a:pt x="0" y="57102"/>
                  </a:lnTo>
                  <a:cubicBezTo>
                    <a:pt x="0" y="25565"/>
                    <a:pt x="25565" y="0"/>
                    <a:pt x="571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3" name="Google Shape;523;p25"/>
          <p:cNvSpPr/>
          <p:nvPr/>
        </p:nvSpPr>
        <p:spPr>
          <a:xfrm>
            <a:off x="10751424" y="403396"/>
            <a:ext cx="6507876" cy="1292736"/>
          </a:xfrm>
          <a:custGeom>
            <a:avLst/>
            <a:gdLst/>
            <a:ahLst/>
            <a:cxnLst/>
            <a:rect l="l" t="t" r="r" b="b"/>
            <a:pathLst>
              <a:path w="1714009" h="340474" extrusionOk="0">
                <a:moveTo>
                  <a:pt x="57102" y="0"/>
                </a:moveTo>
                <a:lnTo>
                  <a:pt x="1656907" y="0"/>
                </a:lnTo>
                <a:cubicBezTo>
                  <a:pt x="1688443" y="0"/>
                  <a:pt x="1714009" y="25565"/>
                  <a:pt x="1714009" y="57102"/>
                </a:cubicBezTo>
                <a:lnTo>
                  <a:pt x="1714009" y="283372"/>
                </a:lnTo>
                <a:cubicBezTo>
                  <a:pt x="1714009" y="298516"/>
                  <a:pt x="1707992" y="313040"/>
                  <a:pt x="1697284" y="323749"/>
                </a:cubicBezTo>
                <a:cubicBezTo>
                  <a:pt x="1686575" y="334458"/>
                  <a:pt x="1672051" y="340474"/>
                  <a:pt x="1656907" y="340474"/>
                </a:cubicBezTo>
                <a:lnTo>
                  <a:pt x="57102" y="340474"/>
                </a:lnTo>
                <a:cubicBezTo>
                  <a:pt x="25565" y="340474"/>
                  <a:pt x="0" y="314908"/>
                  <a:pt x="0" y="283372"/>
                </a:cubicBezTo>
                <a:lnTo>
                  <a:pt x="0" y="57102"/>
                </a:lnTo>
                <a:cubicBezTo>
                  <a:pt x="0" y="25565"/>
                  <a:pt x="25565" y="0"/>
                  <a:pt x="57102" y="0"/>
                </a:cubicBezTo>
                <a:close/>
              </a:path>
            </a:pathLst>
          </a:custGeom>
          <a:solidFill>
            <a:srgbClr val="4DA1A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5" name="Google Shape;525;p25"/>
          <p:cNvGrpSpPr/>
          <p:nvPr/>
        </p:nvGrpSpPr>
        <p:grpSpPr>
          <a:xfrm>
            <a:off x="10779573" y="-515792"/>
            <a:ext cx="6433046" cy="2741846"/>
            <a:chOff x="-133341" y="0"/>
            <a:chExt cx="1655348" cy="1093261"/>
          </a:xfrm>
        </p:grpSpPr>
        <p:sp>
          <p:nvSpPr>
            <p:cNvPr id="526" name="Google Shape;526;p25"/>
            <p:cNvSpPr/>
            <p:nvPr/>
          </p:nvSpPr>
          <p:spPr>
            <a:xfrm>
              <a:off x="0" y="0"/>
              <a:ext cx="1296967" cy="321374"/>
            </a:xfrm>
            <a:custGeom>
              <a:avLst/>
              <a:gdLst/>
              <a:ahLst/>
              <a:cxnLst/>
              <a:rect l="l" t="t" r="r" b="b"/>
              <a:pathLst>
                <a:path w="1296967" h="321374" extrusionOk="0">
                  <a:moveTo>
                    <a:pt x="0" y="0"/>
                  </a:moveTo>
                  <a:lnTo>
                    <a:pt x="1296967" y="0"/>
                  </a:lnTo>
                  <a:lnTo>
                    <a:pt x="1296967" y="321374"/>
                  </a:lnTo>
                  <a:lnTo>
                    <a:pt x="0" y="3213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7" name="Google Shape;527;p25"/>
            <p:cNvSpPr txBox="1"/>
            <p:nvPr/>
          </p:nvSpPr>
          <p:spPr>
            <a:xfrm>
              <a:off x="-133341" y="166161"/>
              <a:ext cx="1655348" cy="9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0" tIns="254000" rIns="254000" bIns="25400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ru-RU" sz="2000" dirty="0">
                  <a:solidFill>
                    <a:srgbClr val="F3F6FA"/>
                  </a:solidFill>
                  <a:latin typeface="Playfair Display Black"/>
                </a:rPr>
                <a:t>Транзакция гарантирует ACID свойства:</a:t>
              </a: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/>
            </a:p>
          </p:txBody>
        </p:sp>
      </p:grpSp>
      <p:sp>
        <p:nvSpPr>
          <p:cNvPr id="529" name="Google Shape;529;p25"/>
          <p:cNvSpPr/>
          <p:nvPr/>
        </p:nvSpPr>
        <p:spPr>
          <a:xfrm>
            <a:off x="10751424" y="3715917"/>
            <a:ext cx="6507876" cy="1469173"/>
          </a:xfrm>
          <a:custGeom>
            <a:avLst/>
            <a:gdLst/>
            <a:ahLst/>
            <a:cxnLst/>
            <a:rect l="l" t="t" r="r" b="b"/>
            <a:pathLst>
              <a:path w="1714009" h="269897" extrusionOk="0">
                <a:moveTo>
                  <a:pt x="57102" y="0"/>
                </a:moveTo>
                <a:lnTo>
                  <a:pt x="1656907" y="0"/>
                </a:lnTo>
                <a:cubicBezTo>
                  <a:pt x="1688443" y="0"/>
                  <a:pt x="1714009" y="25565"/>
                  <a:pt x="1714009" y="57102"/>
                </a:cubicBezTo>
                <a:lnTo>
                  <a:pt x="1714009" y="212795"/>
                </a:lnTo>
                <a:cubicBezTo>
                  <a:pt x="1714009" y="227940"/>
                  <a:pt x="1707992" y="242464"/>
                  <a:pt x="1697284" y="253173"/>
                </a:cubicBezTo>
                <a:cubicBezTo>
                  <a:pt x="1686575" y="263881"/>
                  <a:pt x="1672051" y="269897"/>
                  <a:pt x="1656907" y="269897"/>
                </a:cubicBezTo>
                <a:lnTo>
                  <a:pt x="57102" y="269897"/>
                </a:lnTo>
                <a:cubicBezTo>
                  <a:pt x="25565" y="269897"/>
                  <a:pt x="0" y="244332"/>
                  <a:pt x="0" y="212795"/>
                </a:cubicBezTo>
                <a:lnTo>
                  <a:pt x="0" y="57102"/>
                </a:lnTo>
                <a:cubicBezTo>
                  <a:pt x="0" y="25565"/>
                  <a:pt x="25565" y="0"/>
                  <a:pt x="5710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8" name="Google Shape;538;p25"/>
          <p:cNvGrpSpPr/>
          <p:nvPr/>
        </p:nvGrpSpPr>
        <p:grpSpPr>
          <a:xfrm>
            <a:off x="10810558" y="7091008"/>
            <a:ext cx="6507876" cy="3230767"/>
            <a:chOff x="0" y="-38100"/>
            <a:chExt cx="1714009" cy="850900"/>
          </a:xfrm>
        </p:grpSpPr>
        <p:sp>
          <p:nvSpPr>
            <p:cNvPr id="539" name="Google Shape;539;p25"/>
            <p:cNvSpPr/>
            <p:nvPr/>
          </p:nvSpPr>
          <p:spPr>
            <a:xfrm>
              <a:off x="0" y="0"/>
              <a:ext cx="1714009" cy="489354"/>
            </a:xfrm>
            <a:custGeom>
              <a:avLst/>
              <a:gdLst/>
              <a:ahLst/>
              <a:cxnLst/>
              <a:rect l="l" t="t" r="r" b="b"/>
              <a:pathLst>
                <a:path w="1714009" h="269897" extrusionOk="0">
                  <a:moveTo>
                    <a:pt x="57102" y="0"/>
                  </a:moveTo>
                  <a:lnTo>
                    <a:pt x="1656907" y="0"/>
                  </a:lnTo>
                  <a:cubicBezTo>
                    <a:pt x="1688443" y="0"/>
                    <a:pt x="1714009" y="25565"/>
                    <a:pt x="1714009" y="57102"/>
                  </a:cubicBezTo>
                  <a:lnTo>
                    <a:pt x="1714009" y="212795"/>
                  </a:lnTo>
                  <a:cubicBezTo>
                    <a:pt x="1714009" y="227940"/>
                    <a:pt x="1707992" y="242464"/>
                    <a:pt x="1697284" y="253173"/>
                  </a:cubicBezTo>
                  <a:cubicBezTo>
                    <a:pt x="1686575" y="263881"/>
                    <a:pt x="1672051" y="269897"/>
                    <a:pt x="1656907" y="269897"/>
                  </a:cubicBezTo>
                  <a:lnTo>
                    <a:pt x="57102" y="269897"/>
                  </a:lnTo>
                  <a:cubicBezTo>
                    <a:pt x="25565" y="269897"/>
                    <a:pt x="0" y="244332"/>
                    <a:pt x="0" y="212795"/>
                  </a:cubicBezTo>
                  <a:lnTo>
                    <a:pt x="0" y="57102"/>
                  </a:lnTo>
                  <a:cubicBezTo>
                    <a:pt x="0" y="25565"/>
                    <a:pt x="25565" y="0"/>
                    <a:pt x="571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1" name="Google Shape;541;p25"/>
          <p:cNvSpPr txBox="1"/>
          <p:nvPr/>
        </p:nvSpPr>
        <p:spPr>
          <a:xfrm>
            <a:off x="10954029" y="3834950"/>
            <a:ext cx="6220934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C — </a:t>
            </a:r>
            <a:r>
              <a:rPr lang="ru-RU" sz="2000" dirty="0" err="1">
                <a:solidFill>
                  <a:srgbClr val="0B1320"/>
                </a:solidFill>
                <a:latin typeface="Playfair Display Black"/>
                <a:ea typeface="+mn-ea"/>
              </a:rPr>
              <a:t>Consistency</a:t>
            </a:r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 (Согласованность): Данные остаются в корректном состоянии. Если товара было 100, и мы уменьшили на 5, то стало 95. Не может остаться 100.</a:t>
            </a:r>
          </a:p>
        </p:txBody>
      </p:sp>
      <p:grpSp>
        <p:nvGrpSpPr>
          <p:cNvPr id="548" name="Google Shape;548;p25"/>
          <p:cNvGrpSpPr/>
          <p:nvPr/>
        </p:nvGrpSpPr>
        <p:grpSpPr>
          <a:xfrm rot="10800000">
            <a:off x="-2357730" y="-5002761"/>
            <a:ext cx="5563581" cy="6847485"/>
            <a:chOff x="0" y="0"/>
            <a:chExt cx="660400" cy="812800"/>
          </a:xfrm>
        </p:grpSpPr>
        <p:sp>
          <p:nvSpPr>
            <p:cNvPr id="549" name="Google Shape;549;p25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0B13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0" name="Google Shape;550;p25"/>
            <p:cNvSpPr txBox="1"/>
            <p:nvPr/>
          </p:nvSpPr>
          <p:spPr>
            <a:xfrm>
              <a:off x="0" y="69850"/>
              <a:ext cx="6604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1" name="Google Shape;551;p25"/>
          <p:cNvGrpSpPr/>
          <p:nvPr/>
        </p:nvGrpSpPr>
        <p:grpSpPr>
          <a:xfrm rot="10800000">
            <a:off x="-2028538" y="-4559874"/>
            <a:ext cx="4913519" cy="6047407"/>
            <a:chOff x="0" y="0"/>
            <a:chExt cx="660400" cy="812800"/>
          </a:xfrm>
        </p:grpSpPr>
        <p:sp>
          <p:nvSpPr>
            <p:cNvPr id="552" name="Google Shape;552;p25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0B13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5"/>
            <p:cNvSpPr txBox="1"/>
            <p:nvPr/>
          </p:nvSpPr>
          <p:spPr>
            <a:xfrm>
              <a:off x="0" y="69850"/>
              <a:ext cx="6604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4" name="Google Shape;554;p25"/>
          <p:cNvGrpSpPr/>
          <p:nvPr/>
        </p:nvGrpSpPr>
        <p:grpSpPr>
          <a:xfrm rot="10800000">
            <a:off x="-1711824" y="-4207799"/>
            <a:ext cx="4748574" cy="5660309"/>
            <a:chOff x="0" y="103914"/>
            <a:chExt cx="734112" cy="875063"/>
          </a:xfrm>
        </p:grpSpPr>
        <p:sp>
          <p:nvSpPr>
            <p:cNvPr id="555" name="Google Shape;555;p25"/>
            <p:cNvSpPr/>
            <p:nvPr/>
          </p:nvSpPr>
          <p:spPr>
            <a:xfrm>
              <a:off x="73712" y="166177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0B13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6" name="Google Shape;556;p25"/>
            <p:cNvSpPr txBox="1"/>
            <p:nvPr/>
          </p:nvSpPr>
          <p:spPr>
            <a:xfrm>
              <a:off x="0" y="103914"/>
              <a:ext cx="6604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9F1B8C1-30E9-4AC5-A8BA-870A6EDD4F21}"/>
              </a:ext>
            </a:extLst>
          </p:cNvPr>
          <p:cNvSpPr txBox="1"/>
          <p:nvPr/>
        </p:nvSpPr>
        <p:spPr>
          <a:xfrm>
            <a:off x="1650317" y="1395422"/>
            <a:ext cx="8337731" cy="8274606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conn.setAutoCommit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false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  // 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Отключаем </a:t>
            </a:r>
            <a:r>
              <a:rPr lang="ru-RU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автокоммит</a:t>
            </a:r>
            <a:endParaRPr lang="ru-RU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2400" dirty="0">
                <a:solidFill>
                  <a:srgbClr val="F3E9C7"/>
                </a:solidFill>
                <a:latin typeface="Consolas" panose="020B0609020204030204" pitchFamily="49" charset="0"/>
              </a:rPr>
              <a:t>// Операция 1</a:t>
            </a:r>
          </a:p>
          <a:p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pstmt1.execute(</a:t>
            </a:r>
            <a:r>
              <a:rPr lang="en-US" sz="2400" dirty="0">
                <a:solidFill>
                  <a:srgbClr val="ABE338"/>
                </a:solidFill>
                <a:latin typeface="Consolas" panose="020B0609020204030204" pitchFamily="49" charset="0"/>
              </a:rPr>
              <a:t>"INSERT INTO orders ..."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EBE2CF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EBE2CF"/>
                </a:solidFill>
                <a:latin typeface="Consolas" panose="020B0609020204030204" pitchFamily="49" charset="0"/>
              </a:rPr>
              <a:t>Операция 2</a:t>
            </a:r>
          </a:p>
          <a:p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pstmt2.execute(</a:t>
            </a:r>
            <a:r>
              <a:rPr lang="en-US" sz="2400" dirty="0">
                <a:solidFill>
                  <a:srgbClr val="ABE338"/>
                </a:solidFill>
                <a:latin typeface="Consolas" panose="020B0609020204030204" pitchFamily="49" charset="0"/>
              </a:rPr>
              <a:t>"UPDATE products SET stock = stock - 5 ..."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EBE2CF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EBE2CF"/>
                </a:solidFill>
                <a:latin typeface="Consolas" panose="020B0609020204030204" pitchFamily="49" charset="0"/>
              </a:rPr>
              <a:t>Всё успешно? Сохраняем ВСЕ операции</a:t>
            </a:r>
          </a:p>
          <a:p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conn.commit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} </a:t>
            </a:r>
            <a:r>
              <a:rPr lang="en-US" sz="2400" dirty="0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EBE2CF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EBE2CF"/>
                </a:solidFill>
                <a:latin typeface="Consolas" panose="020B0609020204030204" pitchFamily="49" charset="0"/>
              </a:rPr>
              <a:t>Ошибка? Отменяем ВСЕ операции</a:t>
            </a:r>
          </a:p>
          <a:p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conn.rollback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D47DFF"/>
                </a:solidFill>
                <a:latin typeface="Consolas" panose="020B0609020204030204" pitchFamily="49" charset="0"/>
              </a:rPr>
              <a:t>throw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e;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2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4C1534-96CA-4CCF-A841-3B82DC992906}"/>
              </a:ext>
            </a:extLst>
          </p:cNvPr>
          <p:cNvSpPr txBox="1"/>
          <p:nvPr/>
        </p:nvSpPr>
        <p:spPr>
          <a:xfrm>
            <a:off x="10889812" y="2127874"/>
            <a:ext cx="62851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A — </a:t>
            </a:r>
            <a:r>
              <a:rPr lang="ru-RU" sz="2000" dirty="0" err="1">
                <a:solidFill>
                  <a:srgbClr val="0B1320"/>
                </a:solidFill>
                <a:latin typeface="Playfair Display Black"/>
                <a:ea typeface="+mn-ea"/>
              </a:rPr>
              <a:t>Atomicity</a:t>
            </a:r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 (Атомарность): Либо обе операции успешны, либо ни одна. Не может быть </a:t>
            </a:r>
            <a:r>
              <a:rPr lang="ru-RU" sz="2000" dirty="0" err="1">
                <a:solidFill>
                  <a:srgbClr val="0B1320"/>
                </a:solidFill>
                <a:latin typeface="Playfair Display Black"/>
                <a:ea typeface="+mn-ea"/>
              </a:rPr>
              <a:t>полуформленного</a:t>
            </a:r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 заказа.</a:t>
            </a:r>
          </a:p>
          <a:p>
            <a:endParaRPr lang="ru-RU" sz="2400" dirty="0">
              <a:latin typeface="Corbel" panose="020B0503020204020204" pitchFamily="34" charset="0"/>
            </a:endParaRPr>
          </a:p>
          <a:p>
            <a:endParaRPr lang="ru-RU" sz="2400" dirty="0"/>
          </a:p>
        </p:txBody>
      </p:sp>
      <p:sp>
        <p:nvSpPr>
          <p:cNvPr id="46" name="Google Shape;529;p25">
            <a:extLst>
              <a:ext uri="{FF2B5EF4-FFF2-40B4-BE49-F238E27FC236}">
                <a16:creationId xmlns:a16="http://schemas.microsoft.com/office/drawing/2014/main" id="{9BDEE8E4-D3F8-4286-B5C7-0331C040F856}"/>
              </a:ext>
            </a:extLst>
          </p:cNvPr>
          <p:cNvSpPr/>
          <p:nvPr/>
        </p:nvSpPr>
        <p:spPr>
          <a:xfrm>
            <a:off x="10742157" y="5522727"/>
            <a:ext cx="6507876" cy="1230644"/>
          </a:xfrm>
          <a:custGeom>
            <a:avLst/>
            <a:gdLst/>
            <a:ahLst/>
            <a:cxnLst/>
            <a:rect l="l" t="t" r="r" b="b"/>
            <a:pathLst>
              <a:path w="1714009" h="269897" extrusionOk="0">
                <a:moveTo>
                  <a:pt x="57102" y="0"/>
                </a:moveTo>
                <a:lnTo>
                  <a:pt x="1656907" y="0"/>
                </a:lnTo>
                <a:cubicBezTo>
                  <a:pt x="1688443" y="0"/>
                  <a:pt x="1714009" y="25565"/>
                  <a:pt x="1714009" y="57102"/>
                </a:cubicBezTo>
                <a:lnTo>
                  <a:pt x="1714009" y="212795"/>
                </a:lnTo>
                <a:cubicBezTo>
                  <a:pt x="1714009" y="227940"/>
                  <a:pt x="1707992" y="242464"/>
                  <a:pt x="1697284" y="253173"/>
                </a:cubicBezTo>
                <a:cubicBezTo>
                  <a:pt x="1686575" y="263881"/>
                  <a:pt x="1672051" y="269897"/>
                  <a:pt x="1656907" y="269897"/>
                </a:cubicBezTo>
                <a:lnTo>
                  <a:pt x="57102" y="269897"/>
                </a:lnTo>
                <a:cubicBezTo>
                  <a:pt x="25565" y="269897"/>
                  <a:pt x="0" y="244332"/>
                  <a:pt x="0" y="212795"/>
                </a:cubicBezTo>
                <a:lnTo>
                  <a:pt x="0" y="57102"/>
                </a:lnTo>
                <a:cubicBezTo>
                  <a:pt x="0" y="25565"/>
                  <a:pt x="25565" y="0"/>
                  <a:pt x="5710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60546C-8357-4758-BB97-22F851E70AD6}"/>
              </a:ext>
            </a:extLst>
          </p:cNvPr>
          <p:cNvSpPr txBox="1"/>
          <p:nvPr/>
        </p:nvSpPr>
        <p:spPr>
          <a:xfrm>
            <a:off x="10954028" y="5612034"/>
            <a:ext cx="600321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I — </a:t>
            </a:r>
            <a:r>
              <a:rPr lang="ru-RU" sz="2000" dirty="0" err="1">
                <a:solidFill>
                  <a:srgbClr val="0B1320"/>
                </a:solidFill>
                <a:latin typeface="Playfair Display Black"/>
                <a:ea typeface="+mn-ea"/>
              </a:rPr>
              <a:t>Isolation</a:t>
            </a:r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 (Изоляция): Если два клиента одновременно покупают последний товар в магазине, один из них получит ошибку.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90988D-FF0A-42ED-A230-BBBBE2518F8A}"/>
              </a:ext>
            </a:extLst>
          </p:cNvPr>
          <p:cNvSpPr txBox="1"/>
          <p:nvPr/>
        </p:nvSpPr>
        <p:spPr>
          <a:xfrm>
            <a:off x="10954028" y="7476346"/>
            <a:ext cx="636440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D — </a:t>
            </a:r>
            <a:r>
              <a:rPr lang="ru-RU" sz="2000" dirty="0" err="1">
                <a:solidFill>
                  <a:srgbClr val="0B1320"/>
                </a:solidFill>
                <a:latin typeface="Playfair Display Black"/>
                <a:ea typeface="+mn-ea"/>
              </a:rPr>
              <a:t>Durability</a:t>
            </a:r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 (Надежность): Когда вы выполнили </a:t>
            </a:r>
            <a:r>
              <a:rPr lang="ru-RU" sz="2000" dirty="0" err="1">
                <a:solidFill>
                  <a:srgbClr val="0B1320"/>
                </a:solidFill>
                <a:latin typeface="Playfair Display Black"/>
                <a:ea typeface="+mn-ea"/>
              </a:rPr>
              <a:t>commit</a:t>
            </a:r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(), данные на диске. Если сервер упал, заказ остался в базе. </a:t>
            </a:r>
            <a:endParaRPr lang="en-US" sz="2000" dirty="0">
              <a:solidFill>
                <a:srgbClr val="0B1320"/>
              </a:solidFill>
              <a:latin typeface="Playfair Display Black"/>
              <a:ea typeface="+mn-ea"/>
            </a:endParaRPr>
          </a:p>
          <a:p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Не потеряется.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85BAD8-3384-4225-9562-4C1BD06F6C7F}"/>
              </a:ext>
            </a:extLst>
          </p:cNvPr>
          <p:cNvSpPr txBox="1"/>
          <p:nvPr/>
        </p:nvSpPr>
        <p:spPr>
          <a:xfrm>
            <a:off x="3491681" y="863438"/>
            <a:ext cx="4648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С транзакциями</a:t>
            </a:r>
            <a:r>
              <a:rPr lang="en-US" sz="2000" dirty="0">
                <a:solidFill>
                  <a:srgbClr val="0B1320"/>
                </a:solidFill>
                <a:latin typeface="Playfair Display Black"/>
                <a:ea typeface="+mn-ea"/>
              </a:rPr>
              <a:t>:</a:t>
            </a:r>
            <a:endParaRPr lang="ru-RU" sz="2000" dirty="0">
              <a:solidFill>
                <a:srgbClr val="0B1320"/>
              </a:solidFill>
              <a:latin typeface="Playfair Display Black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7"/>
          <p:cNvSpPr txBox="1"/>
          <p:nvPr/>
        </p:nvSpPr>
        <p:spPr>
          <a:xfrm>
            <a:off x="1028700" y="349419"/>
            <a:ext cx="162306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48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Вырезка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603" name="Google Shape;603;p27"/>
          <p:cNvSpPr txBox="1"/>
          <p:nvPr/>
        </p:nvSpPr>
        <p:spPr>
          <a:xfrm>
            <a:off x="2030534" y="2348199"/>
            <a:ext cx="2842132" cy="2975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6" name="Google Shape;616;p27"/>
          <p:cNvCxnSpPr/>
          <p:nvPr/>
        </p:nvCxnSpPr>
        <p:spPr>
          <a:xfrm>
            <a:off x="10559314" y="792244"/>
            <a:ext cx="1595070" cy="0"/>
          </a:xfrm>
          <a:prstGeom prst="straightConnector1">
            <a:avLst/>
          </a:prstGeom>
          <a:noFill/>
          <a:ln w="38100" cap="flat" cmpd="sng">
            <a:solidFill>
              <a:srgbClr val="4DA1A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7" name="Google Shape;617;p27"/>
          <p:cNvCxnSpPr/>
          <p:nvPr/>
        </p:nvCxnSpPr>
        <p:spPr>
          <a:xfrm>
            <a:off x="6128275" y="792244"/>
            <a:ext cx="1595070" cy="0"/>
          </a:xfrm>
          <a:prstGeom prst="straightConnector1">
            <a:avLst/>
          </a:prstGeom>
          <a:noFill/>
          <a:ln w="38100" cap="flat" cmpd="sng">
            <a:solidFill>
              <a:srgbClr val="FF9F1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22" name="Google Shape;622;p27"/>
          <p:cNvGrpSpPr/>
          <p:nvPr/>
        </p:nvGrpSpPr>
        <p:grpSpPr>
          <a:xfrm>
            <a:off x="16743241" y="4185870"/>
            <a:ext cx="6045617" cy="7440760"/>
            <a:chOff x="0" y="0"/>
            <a:chExt cx="8060823" cy="9921013"/>
          </a:xfrm>
        </p:grpSpPr>
        <p:grpSp>
          <p:nvGrpSpPr>
            <p:cNvPr id="623" name="Google Shape;623;p27"/>
            <p:cNvGrpSpPr/>
            <p:nvPr/>
          </p:nvGrpSpPr>
          <p:grpSpPr>
            <a:xfrm>
              <a:off x="0" y="0"/>
              <a:ext cx="8060823" cy="9921013"/>
              <a:chOff x="0" y="0"/>
              <a:chExt cx="660400" cy="812800"/>
            </a:xfrm>
          </p:grpSpPr>
          <p:sp>
            <p:nvSpPr>
              <p:cNvPr id="624" name="Google Shape;624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6" name="Google Shape;626;p27"/>
            <p:cNvGrpSpPr/>
            <p:nvPr/>
          </p:nvGrpSpPr>
          <p:grpSpPr>
            <a:xfrm>
              <a:off x="470923" y="579598"/>
              <a:ext cx="7118977" cy="8761817"/>
              <a:chOff x="0" y="0"/>
              <a:chExt cx="660400" cy="812800"/>
            </a:xfrm>
          </p:grpSpPr>
          <p:sp>
            <p:nvSpPr>
              <p:cNvPr id="627" name="Google Shape;627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9" name="Google Shape;629;p27"/>
            <p:cNvGrpSpPr/>
            <p:nvPr/>
          </p:nvGrpSpPr>
          <p:grpSpPr>
            <a:xfrm>
              <a:off x="935823" y="1151782"/>
              <a:ext cx="6189177" cy="7617449"/>
              <a:chOff x="0" y="0"/>
              <a:chExt cx="660400" cy="812800"/>
            </a:xfrm>
          </p:grpSpPr>
          <p:sp>
            <p:nvSpPr>
              <p:cNvPr id="630" name="Google Shape;630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32" name="Google Shape;632;p27"/>
          <p:cNvGrpSpPr/>
          <p:nvPr/>
        </p:nvGrpSpPr>
        <p:grpSpPr>
          <a:xfrm rot="10800000">
            <a:off x="-3996916" y="-910903"/>
            <a:ext cx="5734716" cy="7058111"/>
            <a:chOff x="0" y="0"/>
            <a:chExt cx="7646287" cy="9410815"/>
          </a:xfrm>
        </p:grpSpPr>
        <p:grpSp>
          <p:nvGrpSpPr>
            <p:cNvPr id="633" name="Google Shape;633;p27"/>
            <p:cNvGrpSpPr/>
            <p:nvPr/>
          </p:nvGrpSpPr>
          <p:grpSpPr>
            <a:xfrm>
              <a:off x="0" y="0"/>
              <a:ext cx="7646287" cy="9410815"/>
              <a:chOff x="0" y="0"/>
              <a:chExt cx="660400" cy="812800"/>
            </a:xfrm>
          </p:grpSpPr>
          <p:sp>
            <p:nvSpPr>
              <p:cNvPr id="634" name="Google Shape;634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6" name="Google Shape;636;p27"/>
            <p:cNvGrpSpPr/>
            <p:nvPr/>
          </p:nvGrpSpPr>
          <p:grpSpPr>
            <a:xfrm>
              <a:off x="446706" y="549792"/>
              <a:ext cx="6752876" cy="8311232"/>
              <a:chOff x="0" y="0"/>
              <a:chExt cx="660400" cy="812800"/>
            </a:xfrm>
          </p:grpSpPr>
          <p:sp>
            <p:nvSpPr>
              <p:cNvPr id="637" name="Google Shape;637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9" name="Google Shape;639;p27"/>
            <p:cNvGrpSpPr/>
            <p:nvPr/>
          </p:nvGrpSpPr>
          <p:grpSpPr>
            <a:xfrm>
              <a:off x="887697" y="1092550"/>
              <a:ext cx="5870893" cy="7225714"/>
              <a:chOff x="0" y="0"/>
              <a:chExt cx="660400" cy="812800"/>
            </a:xfrm>
          </p:grpSpPr>
          <p:sp>
            <p:nvSpPr>
              <p:cNvPr id="640" name="Google Shape;640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3236E9D-4686-4425-9ED8-66F574646EEC}"/>
              </a:ext>
            </a:extLst>
          </p:cNvPr>
          <p:cNvSpPr txBox="1"/>
          <p:nvPr/>
        </p:nvSpPr>
        <p:spPr>
          <a:xfrm>
            <a:off x="2030534" y="987463"/>
            <a:ext cx="59344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rgbClr val="0B1320"/>
                </a:solidFill>
                <a:latin typeface="Playfair Display Black"/>
              </a:rPr>
              <a:t>1</a:t>
            </a:r>
            <a:r>
              <a:rPr lang="ru-RU" sz="2800" dirty="0">
                <a:solidFill>
                  <a:srgbClr val="0B1320"/>
                </a:solidFill>
                <a:latin typeface="Playfair Display Black"/>
              </a:rPr>
              <a:t> - Всегда </a:t>
            </a:r>
            <a:r>
              <a:rPr lang="en-US" sz="2800" dirty="0" err="1">
                <a:solidFill>
                  <a:srgbClr val="0B1320"/>
                </a:solidFill>
                <a:latin typeface="Playfair Display Black"/>
              </a:rPr>
              <a:t>PreparedStatement</a:t>
            </a:r>
            <a:r>
              <a:rPr lang="en-US" sz="2800" dirty="0">
                <a:solidFill>
                  <a:srgbClr val="0B1320"/>
                </a:solidFill>
                <a:latin typeface="Playfair Display Black"/>
              </a:rPr>
              <a:t>.</a:t>
            </a:r>
            <a:endParaRPr lang="ru-RU" sz="2800" dirty="0">
              <a:solidFill>
                <a:srgbClr val="0B1320"/>
              </a:solidFill>
              <a:latin typeface="Playfair Display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0361DD-970A-4A7C-BD07-715B78D81B47}"/>
              </a:ext>
            </a:extLst>
          </p:cNvPr>
          <p:cNvSpPr txBox="1"/>
          <p:nvPr/>
        </p:nvSpPr>
        <p:spPr>
          <a:xfrm>
            <a:off x="2551189" y="1875641"/>
            <a:ext cx="3994674" cy="14850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0B1320"/>
                </a:solidFill>
                <a:latin typeface="Playfair Display Black"/>
                <a:cs typeface="Arial"/>
              </a:rPr>
              <a:t>Никогда не конкатенируйте параметры в SQL. Всегда используйте '?' и </a:t>
            </a:r>
            <a:r>
              <a:rPr lang="ru-RU" sz="2000" dirty="0" err="1">
                <a:solidFill>
                  <a:srgbClr val="0B1320"/>
                </a:solidFill>
                <a:latin typeface="Playfair Display Black"/>
                <a:cs typeface="Arial"/>
              </a:rPr>
              <a:t>setXxx</a:t>
            </a:r>
            <a:r>
              <a:rPr lang="ru-RU" sz="2000" dirty="0">
                <a:solidFill>
                  <a:srgbClr val="0B1320"/>
                </a:solidFill>
                <a:latin typeface="Playfair Display Black"/>
                <a:cs typeface="Arial"/>
              </a:rPr>
              <a:t>() методы.</a:t>
            </a:r>
          </a:p>
          <a:p>
            <a:endParaRPr lang="ru-RU" sz="11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29B3C7-B547-44DD-9FF7-37ADB35E19E0}"/>
              </a:ext>
            </a:extLst>
          </p:cNvPr>
          <p:cNvSpPr txBox="1"/>
          <p:nvPr/>
        </p:nvSpPr>
        <p:spPr>
          <a:xfrm>
            <a:off x="2166090" y="3980417"/>
            <a:ext cx="5061802" cy="783193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0B1320"/>
                </a:solidFill>
                <a:latin typeface="Playfair Display Black"/>
              </a:rPr>
              <a:t>2</a:t>
            </a:r>
            <a:r>
              <a:rPr lang="ru-RU" sz="2800" dirty="0">
                <a:solidFill>
                  <a:srgbClr val="0B1320"/>
                </a:solidFill>
                <a:latin typeface="Playfair Display Black"/>
              </a:rPr>
              <a:t> — </a:t>
            </a:r>
            <a:r>
              <a:rPr lang="en-US" sz="2800" dirty="0">
                <a:solidFill>
                  <a:srgbClr val="0B1320"/>
                </a:solidFill>
                <a:latin typeface="Playfair Display Black"/>
              </a:rPr>
              <a:t>Try-with-resources.</a:t>
            </a:r>
            <a:endParaRPr lang="ru-RU" sz="2800" dirty="0">
              <a:solidFill>
                <a:srgbClr val="0B1320"/>
              </a:solidFill>
              <a:latin typeface="Playfair Display Black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A908E0-6146-48D8-8046-5CA4698006EE}"/>
              </a:ext>
            </a:extLst>
          </p:cNvPr>
          <p:cNvSpPr txBox="1"/>
          <p:nvPr/>
        </p:nvSpPr>
        <p:spPr>
          <a:xfrm>
            <a:off x="939055" y="6533112"/>
            <a:ext cx="7704814" cy="214526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5050"/>
                </a:solidFill>
                <a:latin typeface="Consolas" panose="020B0609020204030204" pitchFamily="49" charset="0"/>
              </a:rPr>
              <a:t>conn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dataSource.getConnection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</a:t>
            </a:r>
            <a:r>
              <a:rPr lang="en-US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5050"/>
                </a:solidFill>
                <a:latin typeface="Consolas" panose="020B0609020204030204" pitchFamily="49" charset="0"/>
              </a:rPr>
              <a:t>pstmt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prepareStatement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sql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F3E9C7"/>
                </a:solidFill>
                <a:latin typeface="Consolas" panose="020B0609020204030204" pitchFamily="49" charset="0"/>
              </a:rPr>
              <a:t>код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}  </a:t>
            </a:r>
            <a:r>
              <a:rPr lang="ru-RU" sz="20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en-US" sz="2000" dirty="0">
                <a:solidFill>
                  <a:srgbClr val="F3E9C7"/>
                </a:solidFill>
                <a:latin typeface="Consolas" panose="020B0609020204030204" pitchFamily="49" charset="0"/>
              </a:rPr>
              <a:t>Connection </a:t>
            </a:r>
            <a:r>
              <a:rPr lang="ru-RU" sz="2000" dirty="0">
                <a:solidFill>
                  <a:srgbClr val="F3E9C7"/>
                </a:solidFill>
                <a:latin typeface="Consolas" panose="020B0609020204030204" pitchFamily="49" charset="0"/>
              </a:rPr>
              <a:t>и </a:t>
            </a:r>
            <a:r>
              <a:rPr lang="en-US" sz="2000" dirty="0" err="1">
                <a:solidFill>
                  <a:srgbClr val="F3E9C7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2000" dirty="0">
                <a:solidFill>
                  <a:srgbClr val="F3E9C7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закроются автоматически!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2A480-47E2-4F2C-8540-3CCCF11603AB}"/>
              </a:ext>
            </a:extLst>
          </p:cNvPr>
          <p:cNvSpPr txBox="1"/>
          <p:nvPr/>
        </p:nvSpPr>
        <p:spPr>
          <a:xfrm>
            <a:off x="1254548" y="5252443"/>
            <a:ext cx="6884886" cy="92333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Это гарантирует что ресурсы закроются, даже если произойдет исключение</a:t>
            </a:r>
            <a:r>
              <a:rPr lang="ru-RU" sz="1400" dirty="0">
                <a:latin typeface="Corbel" panose="020B0503020204020204" pitchFamily="34" charset="0"/>
              </a:rPr>
              <a:t>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044D56-668C-4E44-A96D-C9F9A9AF8110}"/>
              </a:ext>
            </a:extLst>
          </p:cNvPr>
          <p:cNvSpPr txBox="1"/>
          <p:nvPr/>
        </p:nvSpPr>
        <p:spPr>
          <a:xfrm>
            <a:off x="11308177" y="977736"/>
            <a:ext cx="4367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0B1320"/>
                </a:solidFill>
                <a:latin typeface="Playfair Display Black"/>
              </a:rPr>
              <a:t>3</a:t>
            </a:r>
            <a:r>
              <a:rPr lang="ru-RU" sz="2800" dirty="0">
                <a:solidFill>
                  <a:srgbClr val="0B1320"/>
                </a:solidFill>
                <a:latin typeface="Playfair Display Black"/>
              </a:rPr>
              <a:t> — </a:t>
            </a:r>
            <a:r>
              <a:rPr lang="en-US" sz="2800" dirty="0">
                <a:solidFill>
                  <a:srgbClr val="0B1320"/>
                </a:solidFill>
                <a:latin typeface="Playfair Display Black"/>
              </a:rPr>
              <a:t>Connection Pool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.</a:t>
            </a:r>
            <a:endParaRPr lang="ru-RU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219AC5-1FE9-4401-8AF2-B641B7F031F3}"/>
              </a:ext>
            </a:extLst>
          </p:cNvPr>
          <p:cNvSpPr txBox="1"/>
          <p:nvPr/>
        </p:nvSpPr>
        <p:spPr>
          <a:xfrm>
            <a:off x="10875435" y="1699704"/>
            <a:ext cx="5233412" cy="1231106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Не используйте </a:t>
            </a:r>
            <a:r>
              <a:rPr lang="ru-RU" sz="2000" dirty="0" err="1">
                <a:solidFill>
                  <a:srgbClr val="0B1320"/>
                </a:solidFill>
                <a:latin typeface="Playfair Display Black"/>
                <a:ea typeface="+mn-ea"/>
              </a:rPr>
              <a:t>DriverManager.getConnection</a:t>
            </a:r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() каждый раз. Используйте </a:t>
            </a:r>
            <a:r>
              <a:rPr lang="ru-RU" sz="2000" dirty="0" err="1">
                <a:solidFill>
                  <a:srgbClr val="0B1320"/>
                </a:solidFill>
                <a:latin typeface="Playfair Display Black"/>
                <a:ea typeface="+mn-ea"/>
              </a:rPr>
              <a:t>pool</a:t>
            </a:r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:</a:t>
            </a:r>
          </a:p>
          <a:p>
            <a:endParaRPr lang="ru-RU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8D36D57-4A97-4EA4-AD2F-72F2B6BE75C6}"/>
              </a:ext>
            </a:extLst>
          </p:cNvPr>
          <p:cNvSpPr txBox="1"/>
          <p:nvPr/>
        </p:nvSpPr>
        <p:spPr>
          <a:xfrm>
            <a:off x="10961239" y="3231167"/>
            <a:ext cx="5061803" cy="163449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FFC000"/>
                </a:solidFill>
                <a:latin typeface="Consolas" panose="020B0609020204030204" pitchFamily="49" charset="0"/>
              </a:rPr>
              <a:t>DataSource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5050"/>
                </a:solidFill>
                <a:latin typeface="Consolas" panose="020B0609020204030204" pitchFamily="49" charset="0"/>
              </a:rPr>
              <a:t>dataSource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DatabaseConfig.getDataSource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5050"/>
                </a:solidFill>
                <a:latin typeface="Consolas" panose="020B0609020204030204" pitchFamily="49" charset="0"/>
              </a:rPr>
              <a:t>conn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dataSource.getConnection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();  </a:t>
            </a:r>
            <a:r>
              <a:rPr lang="en-US" sz="18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ru-RU" sz="1800" dirty="0">
                <a:solidFill>
                  <a:srgbClr val="F3E9C7"/>
                </a:solidFill>
                <a:latin typeface="Consolas" panose="020B0609020204030204" pitchFamily="49" charset="0"/>
              </a:rPr>
              <a:t>из пула!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6BAB5D-0E12-4CC4-B2E5-57BD558807E9}"/>
              </a:ext>
            </a:extLst>
          </p:cNvPr>
          <p:cNvSpPr txBox="1"/>
          <p:nvPr/>
        </p:nvSpPr>
        <p:spPr>
          <a:xfrm>
            <a:off x="9970420" y="5106601"/>
            <a:ext cx="4367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0B1320"/>
                </a:solidFill>
                <a:latin typeface="Playfair Display Black"/>
              </a:rPr>
              <a:t>4 —</a:t>
            </a:r>
            <a:r>
              <a:rPr lang="ru-RU" sz="2800" dirty="0">
                <a:solidFill>
                  <a:srgbClr val="0B1320"/>
                </a:solidFill>
                <a:latin typeface="Playfair Display Black"/>
              </a:rPr>
              <a:t> </a:t>
            </a:r>
            <a:r>
              <a:rPr lang="en-US" sz="2800" dirty="0">
                <a:solidFill>
                  <a:srgbClr val="0B1320"/>
                </a:solidFill>
                <a:latin typeface="Playfair Display Black"/>
              </a:rPr>
              <a:t>DAO Pattern.</a:t>
            </a:r>
            <a:endParaRPr lang="ru-RU" sz="2800" dirty="0">
              <a:solidFill>
                <a:srgbClr val="0B1320"/>
              </a:solidFill>
              <a:latin typeface="Playfair Display Blac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8B8F1D-1631-4916-BAF4-6FAC19127417}"/>
              </a:ext>
            </a:extLst>
          </p:cNvPr>
          <p:cNvSpPr txBox="1"/>
          <p:nvPr/>
        </p:nvSpPr>
        <p:spPr>
          <a:xfrm>
            <a:off x="9393541" y="5830034"/>
            <a:ext cx="5308160" cy="1231106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SQL код не должен быть в сервисах. Должен быть в отдельных DAO классах.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D48D14-F8C1-4249-8BA4-507D05715DA3}"/>
              </a:ext>
            </a:extLst>
          </p:cNvPr>
          <p:cNvSpPr txBox="1"/>
          <p:nvPr/>
        </p:nvSpPr>
        <p:spPr>
          <a:xfrm>
            <a:off x="13257167" y="6972619"/>
            <a:ext cx="4567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0B1320"/>
                </a:solidFill>
                <a:latin typeface="Playfair Display Black"/>
              </a:rPr>
              <a:t>5 — Логирование.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C20BC9-FC6F-43B1-896F-740769BE7E92}"/>
              </a:ext>
            </a:extLst>
          </p:cNvPr>
          <p:cNvSpPr txBox="1"/>
          <p:nvPr/>
        </p:nvSpPr>
        <p:spPr>
          <a:xfrm>
            <a:off x="9364068" y="7694907"/>
            <a:ext cx="7322415" cy="51077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logger.info(</a:t>
            </a:r>
            <a:r>
              <a:rPr lang="en-US" sz="2400" dirty="0">
                <a:solidFill>
                  <a:srgbClr val="ABE338"/>
                </a:solidFill>
                <a:latin typeface="Consolas" panose="020B0609020204030204" pitchFamily="49" charset="0"/>
              </a:rPr>
              <a:t>"Executing query: " 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+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sql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endParaRPr lang="ru-RU" sz="2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0D4DCB-6188-44C0-8416-17639E6D5FD3}"/>
              </a:ext>
            </a:extLst>
          </p:cNvPr>
          <p:cNvSpPr txBox="1"/>
          <p:nvPr/>
        </p:nvSpPr>
        <p:spPr>
          <a:xfrm>
            <a:off x="9535315" y="8678380"/>
            <a:ext cx="6979920" cy="70788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Вы должны видеть какие SQL запросы выполняются. Это помогает найти проблемы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6" name="Google Shape;666;p28"/>
          <p:cNvCxnSpPr/>
          <p:nvPr/>
        </p:nvCxnSpPr>
        <p:spPr>
          <a:xfrm>
            <a:off x="8491791" y="751231"/>
            <a:ext cx="7321767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67" name="Google Shape;667;p28"/>
          <p:cNvGrpSpPr/>
          <p:nvPr/>
        </p:nvGrpSpPr>
        <p:grpSpPr>
          <a:xfrm>
            <a:off x="16256347" y="546907"/>
            <a:ext cx="406823" cy="408647"/>
            <a:chOff x="1813" y="0"/>
            <a:chExt cx="809173" cy="812800"/>
          </a:xfrm>
        </p:grpSpPr>
        <p:sp>
          <p:nvSpPr>
            <p:cNvPr id="668" name="Google Shape;668;p2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0" name="Google Shape;670;p28"/>
          <p:cNvGrpSpPr/>
          <p:nvPr/>
        </p:nvGrpSpPr>
        <p:grpSpPr>
          <a:xfrm>
            <a:off x="16745448" y="532540"/>
            <a:ext cx="458741" cy="565083"/>
            <a:chOff x="-328388" y="-2787007"/>
            <a:chExt cx="912438" cy="1123952"/>
          </a:xfrm>
        </p:grpSpPr>
        <p:sp>
          <p:nvSpPr>
            <p:cNvPr id="671" name="Google Shape;671;p28"/>
            <p:cNvSpPr/>
            <p:nvPr/>
          </p:nvSpPr>
          <p:spPr>
            <a:xfrm>
              <a:off x="-225123" y="-2787007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 txBox="1"/>
            <p:nvPr/>
          </p:nvSpPr>
          <p:spPr>
            <a:xfrm>
              <a:off x="-328388" y="-2380606"/>
              <a:ext cx="660399" cy="717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17338385" y="546907"/>
            <a:ext cx="406823" cy="408647"/>
            <a:chOff x="1813" y="0"/>
            <a:chExt cx="809173" cy="812800"/>
          </a:xfrm>
        </p:grpSpPr>
        <p:sp>
          <p:nvSpPr>
            <p:cNvPr id="674" name="Google Shape;674;p2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E9C1F3C9-0C2D-4B32-99FD-B58C09A72C5A}"/>
              </a:ext>
            </a:extLst>
          </p:cNvPr>
          <p:cNvSpPr txBox="1"/>
          <p:nvPr/>
        </p:nvSpPr>
        <p:spPr>
          <a:xfrm>
            <a:off x="847796" y="2186636"/>
            <a:ext cx="78237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rgbClr val="0B1320"/>
                </a:solidFill>
                <a:latin typeface="Playfair Display Black"/>
              </a:rPr>
              <a:t>6</a:t>
            </a:r>
            <a:r>
              <a:rPr lang="ru-RU" sz="2800" dirty="0">
                <a:solidFill>
                  <a:srgbClr val="0B1320"/>
                </a:solidFill>
                <a:latin typeface="Playfair Display Black"/>
              </a:rPr>
              <a:t> - Правильная обработка исключений</a:t>
            </a:r>
            <a:r>
              <a:rPr lang="en-US" sz="2800" dirty="0">
                <a:solidFill>
                  <a:srgbClr val="0B1320"/>
                </a:solidFill>
                <a:latin typeface="Playfair Display Black"/>
              </a:rPr>
              <a:t>.</a:t>
            </a:r>
            <a:endParaRPr lang="ru-RU" sz="2800" dirty="0">
              <a:solidFill>
                <a:srgbClr val="0B1320"/>
              </a:solidFill>
              <a:latin typeface="Playfair Display Black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9F9F07-D995-4BA4-A186-BB2FDAB976B4}"/>
              </a:ext>
            </a:extLst>
          </p:cNvPr>
          <p:cNvSpPr txBox="1"/>
          <p:nvPr/>
        </p:nvSpPr>
        <p:spPr>
          <a:xfrm>
            <a:off x="593623" y="3595430"/>
            <a:ext cx="8332109" cy="500562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F3E9C7"/>
                </a:solidFill>
                <a:latin typeface="Consolas" panose="020B0609020204030204" pitchFamily="49" charset="0"/>
              </a:rPr>
              <a:t>// НЕПРАВИЛЬНО</a:t>
            </a:r>
          </a:p>
          <a:p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 </a:t>
            </a:r>
            <a:r>
              <a:rPr lang="en-US" sz="2400" dirty="0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// 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молчим</a:t>
            </a:r>
          </a:p>
          <a:p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F3E9C7"/>
                </a:solidFill>
                <a:latin typeface="Consolas" panose="020B0609020204030204" pitchFamily="49" charset="0"/>
              </a:rPr>
              <a:t>// ПРАВИЛЬНО</a:t>
            </a:r>
          </a:p>
          <a:p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 </a:t>
            </a:r>
            <a:r>
              <a:rPr lang="en-US" sz="2400" dirty="0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logger.error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BE338"/>
                </a:solidFill>
                <a:latin typeface="Consolas" panose="020B0609020204030204" pitchFamily="49" charset="0"/>
              </a:rPr>
              <a:t>"Database error while creating order"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, e);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D47DFF"/>
                </a:solidFill>
                <a:latin typeface="Consolas" panose="020B0609020204030204" pitchFamily="49" charset="0"/>
              </a:rPr>
              <a:t>throw new </a:t>
            </a:r>
            <a:r>
              <a:rPr lang="en-US" sz="2400" dirty="0" err="1">
                <a:solidFill>
                  <a:srgbClr val="00FFFF"/>
                </a:solidFill>
                <a:latin typeface="Consolas" panose="020B0609020204030204" pitchFamily="49" charset="0"/>
              </a:rPr>
              <a:t>RuntimeException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BE338"/>
                </a:solidFill>
                <a:latin typeface="Consolas" panose="020B0609020204030204" pitchFamily="49" charset="0"/>
              </a:rPr>
              <a:t>"Cannot create order"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, e);</a:t>
            </a:r>
          </a:p>
          <a:p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2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B2BFA2-1221-4B91-BA12-4A5A0DD363A2}"/>
              </a:ext>
            </a:extLst>
          </p:cNvPr>
          <p:cNvSpPr txBox="1"/>
          <p:nvPr/>
        </p:nvSpPr>
        <p:spPr>
          <a:xfrm>
            <a:off x="10500360" y="1084021"/>
            <a:ext cx="7823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B1320"/>
                </a:solidFill>
                <a:latin typeface="Playfair Display Black"/>
              </a:rPr>
              <a:t>7— </a:t>
            </a:r>
            <a:r>
              <a:rPr lang="en-US" sz="2800" dirty="0">
                <a:solidFill>
                  <a:srgbClr val="0B1320"/>
                </a:solidFill>
                <a:latin typeface="Playfair Display Black"/>
              </a:rPr>
              <a:t>Batch </a:t>
            </a:r>
            <a:r>
              <a:rPr lang="ru-RU" sz="2800" dirty="0">
                <a:solidFill>
                  <a:srgbClr val="0B1320"/>
                </a:solidFill>
                <a:latin typeface="Playfair Display Black"/>
              </a:rPr>
              <a:t>операции.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DD503-9426-4634-AE52-4280B7326A3F}"/>
              </a:ext>
            </a:extLst>
          </p:cNvPr>
          <p:cNvSpPr txBox="1"/>
          <p:nvPr/>
        </p:nvSpPr>
        <p:spPr>
          <a:xfrm>
            <a:off x="10500360" y="1952395"/>
            <a:ext cx="554954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Если вы вставляете 1000 заказов, не делайте 1000 отдельных </a:t>
            </a:r>
            <a:r>
              <a:rPr lang="ru-RU" sz="2000" dirty="0" err="1">
                <a:solidFill>
                  <a:srgbClr val="0B1320"/>
                </a:solidFill>
                <a:latin typeface="Playfair Display Black"/>
                <a:ea typeface="+mn-ea"/>
              </a:rPr>
              <a:t>executeUpdate</a:t>
            </a:r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(). Используйте </a:t>
            </a:r>
            <a:r>
              <a:rPr lang="ru-RU" sz="2000" dirty="0" err="1">
                <a:solidFill>
                  <a:srgbClr val="0B1320"/>
                </a:solidFill>
                <a:latin typeface="Playfair Display Black"/>
                <a:ea typeface="+mn-ea"/>
              </a:rPr>
              <a:t>addBatch</a:t>
            </a:r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():</a:t>
            </a:r>
          </a:p>
          <a:p>
            <a:endParaRPr lang="ru-RU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4A58CA-3D82-478D-9335-5ED48F2A335A}"/>
              </a:ext>
            </a:extLst>
          </p:cNvPr>
          <p:cNvSpPr txBox="1"/>
          <p:nvPr/>
        </p:nvSpPr>
        <p:spPr>
          <a:xfrm>
            <a:off x="10500360" y="3114018"/>
            <a:ext cx="6896010" cy="1804749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ru-RU" sz="2000" dirty="0" err="1">
                <a:solidFill>
                  <a:srgbClr val="D47DFF"/>
                </a:solidFill>
                <a:latin typeface="Consolas" panose="020B0609020204030204" pitchFamily="49" charset="0"/>
              </a:rPr>
              <a:t>for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: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orders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pstmt.setLong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2000" dirty="0">
                <a:solidFill>
                  <a:srgbClr val="FFC000"/>
                </a:solidFill>
                <a:latin typeface="Consolas" panose="020B0609020204030204" pitchFamily="49" charset="0"/>
              </a:rPr>
              <a:t>1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order.getId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pstmt.addBatch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();  </a:t>
            </a:r>
            <a:r>
              <a:rPr lang="ru-RU" sz="2000" dirty="0">
                <a:solidFill>
                  <a:srgbClr val="F3E9C7"/>
                </a:solidFill>
                <a:latin typeface="Consolas" panose="020B0609020204030204" pitchFamily="49" charset="0"/>
              </a:rPr>
              <a:t>// В памяти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pstmt.executeBatch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();  </a:t>
            </a:r>
            <a:r>
              <a:rPr lang="ru-RU" sz="2000" dirty="0">
                <a:solidFill>
                  <a:srgbClr val="F3E9C7"/>
                </a:solidFill>
                <a:latin typeface="Consolas" panose="020B0609020204030204" pitchFamily="49" charset="0"/>
              </a:rPr>
              <a:t>// Один раз в БД!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622489-9C71-42BD-9AD3-F40FB38B28B3}"/>
              </a:ext>
            </a:extLst>
          </p:cNvPr>
          <p:cNvSpPr txBox="1"/>
          <p:nvPr/>
        </p:nvSpPr>
        <p:spPr>
          <a:xfrm>
            <a:off x="10500360" y="5581040"/>
            <a:ext cx="7823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B1320"/>
                </a:solidFill>
                <a:latin typeface="Playfair Display Black"/>
              </a:rPr>
              <a:t>8— Индексы.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93535E-8972-41DF-A389-19BF33AD3D1A}"/>
              </a:ext>
            </a:extLst>
          </p:cNvPr>
          <p:cNvSpPr txBox="1"/>
          <p:nvPr/>
        </p:nvSpPr>
        <p:spPr>
          <a:xfrm>
            <a:off x="9362268" y="6255755"/>
            <a:ext cx="8332109" cy="51077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CREATE INDEX </a:t>
            </a:r>
            <a:r>
              <a:rPr lang="ru-RU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idx_status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ON </a:t>
            </a:r>
            <a:r>
              <a:rPr lang="ru-RU" sz="2400" dirty="0" err="1">
                <a:solidFill>
                  <a:srgbClr val="00FFFF"/>
                </a:solidFill>
                <a:latin typeface="Consolas" panose="020B0609020204030204" pitchFamily="49" charset="0"/>
              </a:rPr>
              <a:t>orders</a:t>
            </a:r>
            <a:r>
              <a:rPr lang="ru-RU" sz="24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ru-RU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status</a:t>
            </a:r>
            <a:r>
              <a:rPr lang="ru-RU" sz="2400" dirty="0">
                <a:solidFill>
                  <a:srgbClr val="FFC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C766B4-CBAC-4EF7-8E92-EF508C889BFF}"/>
              </a:ext>
            </a:extLst>
          </p:cNvPr>
          <p:cNvSpPr txBox="1"/>
          <p:nvPr/>
        </p:nvSpPr>
        <p:spPr>
          <a:xfrm>
            <a:off x="9640353" y="7103499"/>
            <a:ext cx="743712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Без индекса запрос 'SELECT * FROM </a:t>
            </a:r>
            <a:r>
              <a:rPr lang="ru-RU" sz="2000" dirty="0" err="1">
                <a:solidFill>
                  <a:srgbClr val="0B1320"/>
                </a:solidFill>
                <a:latin typeface="Playfair Display Black"/>
                <a:ea typeface="+mn-ea"/>
              </a:rPr>
              <a:t>orders</a:t>
            </a:r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 WHERE </a:t>
            </a:r>
            <a:r>
              <a:rPr lang="ru-RU" sz="2000" dirty="0" err="1">
                <a:solidFill>
                  <a:srgbClr val="0B1320"/>
                </a:solidFill>
                <a:latin typeface="Playfair Display Black"/>
                <a:ea typeface="+mn-ea"/>
              </a:rPr>
              <a:t>status</a:t>
            </a:r>
            <a:r>
              <a:rPr lang="ru-RU" sz="2000" dirty="0">
                <a:solidFill>
                  <a:srgbClr val="0B1320"/>
                </a:solidFill>
                <a:latin typeface="Playfair Display Black"/>
                <a:ea typeface="+mn-ea"/>
              </a:rPr>
              <a:t> = PENDING' сканирует ВСЕ строки в таблице. С индексом находит нужные строки сразу.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0" name="Google Shape;680;p29"/>
          <p:cNvGrpSpPr/>
          <p:nvPr/>
        </p:nvGrpSpPr>
        <p:grpSpPr>
          <a:xfrm>
            <a:off x="1028700" y="884039"/>
            <a:ext cx="16230600" cy="8374261"/>
            <a:chOff x="0" y="-38100"/>
            <a:chExt cx="4274726" cy="2205567"/>
          </a:xfrm>
        </p:grpSpPr>
        <p:sp>
          <p:nvSpPr>
            <p:cNvPr id="681" name="Google Shape;681;p29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0B13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4" name="Google Shape;684;p29"/>
          <p:cNvSpPr txBox="1"/>
          <p:nvPr/>
        </p:nvSpPr>
        <p:spPr>
          <a:xfrm>
            <a:off x="6990590" y="7808738"/>
            <a:ext cx="9909096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20000"/>
              </a:lnSpc>
            </a:pPr>
            <a:r>
              <a:rPr lang="ru-RU" sz="4800" dirty="0">
                <a:solidFill>
                  <a:schemeClr val="bg1">
                    <a:lumMod val="95000"/>
                  </a:schemeClr>
                </a:solidFill>
                <a:latin typeface="Playfair Display Black"/>
                <a:ea typeface="Playfair Display Black"/>
                <a:cs typeface="Playfair Display Black"/>
              </a:rPr>
              <a:t>Структура проекта</a:t>
            </a:r>
            <a:endParaRPr sz="4800" dirty="0">
              <a:solidFill>
                <a:schemeClr val="bg1">
                  <a:lumMod val="95000"/>
                </a:schemeClr>
              </a:solidFill>
              <a:latin typeface="Playfair Display Black"/>
              <a:ea typeface="Playfair Display Black"/>
              <a:cs typeface="Playfair Display Black"/>
            </a:endParaRPr>
          </a:p>
        </p:txBody>
      </p:sp>
      <p:grpSp>
        <p:nvGrpSpPr>
          <p:cNvPr id="685" name="Google Shape;685;p29"/>
          <p:cNvGrpSpPr/>
          <p:nvPr/>
        </p:nvGrpSpPr>
        <p:grpSpPr>
          <a:xfrm>
            <a:off x="-3499828" y="6812217"/>
            <a:ext cx="6999655" cy="8614961"/>
            <a:chOff x="0" y="0"/>
            <a:chExt cx="9332874" cy="11486614"/>
          </a:xfrm>
        </p:grpSpPr>
        <p:grpSp>
          <p:nvGrpSpPr>
            <p:cNvPr id="686" name="Google Shape;686;p29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687" name="Google Shape;687;p2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2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9" name="Google Shape;689;p29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690" name="Google Shape;690;p2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2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2" name="Google Shape;692;p29"/>
            <p:cNvGrpSpPr/>
            <p:nvPr/>
          </p:nvGrpSpPr>
          <p:grpSpPr>
            <a:xfrm>
              <a:off x="717428" y="1333541"/>
              <a:ext cx="7531944" cy="9184207"/>
              <a:chOff x="-33737" y="0"/>
              <a:chExt cx="694137" cy="846408"/>
            </a:xfrm>
          </p:grpSpPr>
          <p:sp>
            <p:nvSpPr>
              <p:cNvPr id="693" name="Google Shape;693;p2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29"/>
              <p:cNvSpPr txBox="1"/>
              <p:nvPr/>
            </p:nvSpPr>
            <p:spPr>
              <a:xfrm>
                <a:off x="-33737" y="103458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5" name="Google Shape;695;p29"/>
          <p:cNvGrpSpPr/>
          <p:nvPr/>
        </p:nvGrpSpPr>
        <p:grpSpPr>
          <a:xfrm rot="10800000">
            <a:off x="13557529" y="-3278780"/>
            <a:ext cx="6999655" cy="8614961"/>
            <a:chOff x="0" y="0"/>
            <a:chExt cx="9332874" cy="11486614"/>
          </a:xfrm>
        </p:grpSpPr>
        <p:grpSp>
          <p:nvGrpSpPr>
            <p:cNvPr id="696" name="Google Shape;696;p29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697" name="Google Shape;697;p2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2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9" name="Google Shape;699;p29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700" name="Google Shape;700;p2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2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2" name="Google Shape;702;p29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703" name="Google Shape;703;p2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2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705" name="Google Shape;705;p29"/>
          <p:cNvCxnSpPr/>
          <p:nvPr/>
        </p:nvCxnSpPr>
        <p:spPr>
          <a:xfrm>
            <a:off x="4638177" y="2245984"/>
            <a:ext cx="9799801" cy="0"/>
          </a:xfrm>
          <a:prstGeom prst="straightConnector1">
            <a:avLst/>
          </a:prstGeom>
          <a:noFill/>
          <a:ln w="38100" cap="flat" cmpd="sng">
            <a:solidFill>
              <a:srgbClr val="F3F6F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06" name="Google Shape;706;p29"/>
          <p:cNvGrpSpPr/>
          <p:nvPr/>
        </p:nvGrpSpPr>
        <p:grpSpPr>
          <a:xfrm>
            <a:off x="15226010" y="2079760"/>
            <a:ext cx="406823" cy="408647"/>
            <a:chOff x="1813" y="0"/>
            <a:chExt cx="809173" cy="812800"/>
          </a:xfrm>
        </p:grpSpPr>
        <p:sp>
          <p:nvSpPr>
            <p:cNvPr id="707" name="Google Shape;707;p2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9" name="Google Shape;709;p29"/>
          <p:cNvGrpSpPr/>
          <p:nvPr/>
        </p:nvGrpSpPr>
        <p:grpSpPr>
          <a:xfrm>
            <a:off x="15789684" y="2079760"/>
            <a:ext cx="406823" cy="408647"/>
            <a:chOff x="1813" y="0"/>
            <a:chExt cx="809173" cy="812800"/>
          </a:xfrm>
        </p:grpSpPr>
        <p:sp>
          <p:nvSpPr>
            <p:cNvPr id="710" name="Google Shape;710;p2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2" name="Google Shape;712;p29"/>
          <p:cNvGrpSpPr/>
          <p:nvPr/>
        </p:nvGrpSpPr>
        <p:grpSpPr>
          <a:xfrm>
            <a:off x="16350731" y="2079760"/>
            <a:ext cx="406823" cy="408647"/>
            <a:chOff x="1813" y="0"/>
            <a:chExt cx="809173" cy="812800"/>
          </a:xfrm>
        </p:grpSpPr>
        <p:sp>
          <p:nvSpPr>
            <p:cNvPr id="713" name="Google Shape;713;p2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DC696E86-67C6-4335-9A9C-524B6136FC30}"/>
              </a:ext>
            </a:extLst>
          </p:cNvPr>
          <p:cNvSpPr txBox="1"/>
          <p:nvPr/>
        </p:nvSpPr>
        <p:spPr>
          <a:xfrm>
            <a:off x="2738749" y="2483036"/>
            <a:ext cx="7924800" cy="783193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Playfair Display Black"/>
                <a:cs typeface="Arial"/>
              </a:rPr>
              <a:t>DatabaseConfig.java — инициализирует </a:t>
            </a:r>
            <a:r>
              <a:rPr lang="ru-RU" sz="2000" dirty="0" err="1">
                <a:solidFill>
                  <a:schemeClr val="bg1"/>
                </a:solidFill>
                <a:latin typeface="Playfair Display Black"/>
                <a:cs typeface="Arial"/>
              </a:rPr>
              <a:t>HikariCP</a:t>
            </a:r>
            <a:r>
              <a:rPr lang="ru-RU" sz="2000" dirty="0">
                <a:solidFill>
                  <a:schemeClr val="bg1"/>
                </a:solidFill>
                <a:latin typeface="Playfair Display Black"/>
                <a:cs typeface="Arial"/>
              </a:rPr>
              <a:t> пул. 10 соединений, готовых к работе.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72C7E7-564B-4C3F-A3A0-226573CC8BF4}"/>
              </a:ext>
            </a:extLst>
          </p:cNvPr>
          <p:cNvSpPr txBox="1"/>
          <p:nvPr/>
        </p:nvSpPr>
        <p:spPr>
          <a:xfrm>
            <a:off x="2738749" y="3949453"/>
            <a:ext cx="7924800" cy="1038582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layfair Display Black"/>
                <a:cs typeface="Arial"/>
              </a:rPr>
              <a:t>Order.java — </a:t>
            </a:r>
            <a:r>
              <a:rPr lang="ru-RU" sz="2000" dirty="0">
                <a:solidFill>
                  <a:schemeClr val="bg1"/>
                </a:solidFill>
                <a:latin typeface="Playfair Display Black"/>
                <a:cs typeface="Arial"/>
              </a:rPr>
              <a:t>модель заказа. Содержит поля: </a:t>
            </a:r>
            <a:r>
              <a:rPr lang="en-US" sz="2000" dirty="0">
                <a:solidFill>
                  <a:schemeClr val="bg1"/>
                </a:solidFill>
                <a:latin typeface="Playfair Display Black"/>
                <a:cs typeface="Arial"/>
              </a:rPr>
              <a:t>id, </a:t>
            </a:r>
            <a:r>
              <a:rPr lang="en-US" sz="2000" dirty="0" err="1">
                <a:solidFill>
                  <a:schemeClr val="bg1"/>
                </a:solidFill>
                <a:latin typeface="Playfair Display Black"/>
                <a:cs typeface="Arial"/>
              </a:rPr>
              <a:t>customerId</a:t>
            </a:r>
            <a:r>
              <a:rPr lang="en-US" sz="2000" dirty="0">
                <a:solidFill>
                  <a:schemeClr val="bg1"/>
                </a:solidFill>
                <a:latin typeface="Playfair Display Black"/>
                <a:cs typeface="Arial"/>
              </a:rPr>
              <a:t>, status, </a:t>
            </a:r>
            <a:r>
              <a:rPr lang="en-US" sz="2000" dirty="0" err="1">
                <a:solidFill>
                  <a:schemeClr val="bg1"/>
                </a:solidFill>
                <a:latin typeface="Playfair Display Black"/>
                <a:cs typeface="Arial"/>
              </a:rPr>
              <a:t>totalAmount</a:t>
            </a:r>
            <a:r>
              <a:rPr lang="en-US" sz="2000" dirty="0">
                <a:solidFill>
                  <a:schemeClr val="bg1"/>
                </a:solidFill>
                <a:latin typeface="Playfair Display Black"/>
                <a:cs typeface="Arial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Playfair Display Black"/>
                <a:cs typeface="Arial"/>
              </a:rPr>
              <a:t>deliveryAddress</a:t>
            </a:r>
            <a:r>
              <a:rPr lang="en-US" sz="2000" dirty="0">
                <a:solidFill>
                  <a:schemeClr val="bg1"/>
                </a:solidFill>
                <a:latin typeface="Playfair Display Black"/>
                <a:cs typeface="Arial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Playfair Display Black"/>
                <a:cs typeface="Arial"/>
              </a:rPr>
              <a:t>и т.д.</a:t>
            </a:r>
          </a:p>
          <a:p>
            <a:endParaRPr lang="ru-RU" sz="1500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55A5CC-B6DC-4289-BD95-23C0C98F444E}"/>
              </a:ext>
            </a:extLst>
          </p:cNvPr>
          <p:cNvSpPr txBox="1"/>
          <p:nvPr/>
        </p:nvSpPr>
        <p:spPr>
          <a:xfrm>
            <a:off x="2738749" y="5678789"/>
            <a:ext cx="7924799" cy="442674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Playfair Display Black"/>
                <a:cs typeface="Arial"/>
              </a:rPr>
              <a:t>OrderDAO.java — все SQL операции с заказами.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71331C-1454-463E-8E88-2B6F0E0CA412}"/>
              </a:ext>
            </a:extLst>
          </p:cNvPr>
          <p:cNvSpPr txBox="1"/>
          <p:nvPr/>
        </p:nvSpPr>
        <p:spPr>
          <a:xfrm>
            <a:off x="2738747" y="6777970"/>
            <a:ext cx="7924800" cy="783193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layfair Display Black"/>
                <a:cs typeface="Arial"/>
              </a:rPr>
              <a:t>Application.java — entry point. </a:t>
            </a:r>
            <a:r>
              <a:rPr lang="ru-RU" sz="2000" dirty="0">
                <a:solidFill>
                  <a:schemeClr val="bg1"/>
                </a:solidFill>
                <a:latin typeface="Playfair Display Black"/>
                <a:cs typeface="Arial"/>
              </a:rPr>
              <a:t>Запускает всё: </a:t>
            </a:r>
            <a:r>
              <a:rPr lang="en-US" sz="2000" dirty="0" err="1">
                <a:solidFill>
                  <a:schemeClr val="bg1"/>
                </a:solidFill>
                <a:latin typeface="Playfair Display Black"/>
                <a:cs typeface="Arial"/>
              </a:rPr>
              <a:t>DatabaseConfig</a:t>
            </a:r>
            <a:r>
              <a:rPr lang="en-US" sz="2000" dirty="0">
                <a:solidFill>
                  <a:schemeClr val="bg1"/>
                </a:solidFill>
                <a:latin typeface="Playfair Display Black"/>
                <a:cs typeface="Arial"/>
              </a:rPr>
              <a:t>, </a:t>
            </a:r>
            <a:r>
              <a:rPr lang="ru-RU" sz="2000" dirty="0">
                <a:solidFill>
                  <a:schemeClr val="bg1"/>
                </a:solidFill>
                <a:latin typeface="Playfair Display Black"/>
                <a:cs typeface="Arial"/>
              </a:rPr>
              <a:t>миграции, демонстрирует </a:t>
            </a:r>
            <a:r>
              <a:rPr lang="en-US" sz="2000" dirty="0">
                <a:solidFill>
                  <a:schemeClr val="bg1"/>
                </a:solidFill>
                <a:latin typeface="Playfair Display Black"/>
                <a:cs typeface="Arial"/>
              </a:rPr>
              <a:t>CRUD </a:t>
            </a:r>
            <a:r>
              <a:rPr lang="ru-RU" sz="2000" dirty="0">
                <a:solidFill>
                  <a:schemeClr val="bg1"/>
                </a:solidFill>
                <a:latin typeface="Playfair Display Black"/>
                <a:cs typeface="Arial"/>
              </a:rPr>
              <a:t>операции.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6"/>
          <p:cNvSpPr txBox="1"/>
          <p:nvPr/>
        </p:nvSpPr>
        <p:spPr>
          <a:xfrm>
            <a:off x="1419033" y="762000"/>
            <a:ext cx="2696654" cy="2267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56" b="0" i="0" u="none" strike="noStrike" cap="none">
                <a:solidFill>
                  <a:srgbClr val="F3F6F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03.</a:t>
            </a:r>
            <a:endParaRPr/>
          </a:p>
        </p:txBody>
      </p:sp>
      <p:sp>
        <p:nvSpPr>
          <p:cNvPr id="565" name="Google Shape;565;p26"/>
          <p:cNvSpPr txBox="1"/>
          <p:nvPr/>
        </p:nvSpPr>
        <p:spPr>
          <a:xfrm>
            <a:off x="6849371" y="7292586"/>
            <a:ext cx="9909096" cy="157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0" b="0" i="0" u="none" strike="noStrike" cap="none">
                <a:solidFill>
                  <a:srgbClr val="F3F6FA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section name</a:t>
            </a:r>
            <a:endParaRPr/>
          </a:p>
        </p:txBody>
      </p:sp>
      <p:grpSp>
        <p:nvGrpSpPr>
          <p:cNvPr id="566" name="Google Shape;566;p26"/>
          <p:cNvGrpSpPr/>
          <p:nvPr/>
        </p:nvGrpSpPr>
        <p:grpSpPr>
          <a:xfrm>
            <a:off x="-3736410" y="8078398"/>
            <a:ext cx="6999655" cy="8614961"/>
            <a:chOff x="0" y="0"/>
            <a:chExt cx="9332874" cy="11486614"/>
          </a:xfrm>
        </p:grpSpPr>
        <p:grpSp>
          <p:nvGrpSpPr>
            <p:cNvPr id="567" name="Google Shape;567;p26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568" name="Google Shape;568;p26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26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0" name="Google Shape;570;p26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571" name="Google Shape;571;p26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6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3" name="Google Shape;573;p26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574" name="Google Shape;574;p26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26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6" name="Google Shape;576;p26"/>
          <p:cNvGrpSpPr/>
          <p:nvPr/>
        </p:nvGrpSpPr>
        <p:grpSpPr>
          <a:xfrm rot="10800000">
            <a:off x="15260612" y="-7192172"/>
            <a:ext cx="6999655" cy="8614961"/>
            <a:chOff x="0" y="0"/>
            <a:chExt cx="9332874" cy="11486614"/>
          </a:xfrm>
        </p:grpSpPr>
        <p:grpSp>
          <p:nvGrpSpPr>
            <p:cNvPr id="577" name="Google Shape;577;p26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578" name="Google Shape;578;p26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26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0" name="Google Shape;580;p26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581" name="Google Shape;581;p26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26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3" name="Google Shape;583;p26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584" name="Google Shape;584;p26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26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86" name="Google Shape;586;p26"/>
          <p:cNvCxnSpPr/>
          <p:nvPr/>
        </p:nvCxnSpPr>
        <p:spPr>
          <a:xfrm>
            <a:off x="4638177" y="2245984"/>
            <a:ext cx="9799801" cy="0"/>
          </a:xfrm>
          <a:prstGeom prst="straightConnector1">
            <a:avLst/>
          </a:prstGeom>
          <a:noFill/>
          <a:ln w="38100" cap="flat" cmpd="sng">
            <a:solidFill>
              <a:srgbClr val="F3F6F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87" name="Google Shape;587;p26"/>
          <p:cNvGrpSpPr/>
          <p:nvPr/>
        </p:nvGrpSpPr>
        <p:grpSpPr>
          <a:xfrm>
            <a:off x="14444860" y="149029"/>
            <a:ext cx="406823" cy="408647"/>
            <a:chOff x="1813" y="0"/>
            <a:chExt cx="809173" cy="812800"/>
          </a:xfrm>
        </p:grpSpPr>
        <p:sp>
          <p:nvSpPr>
            <p:cNvPr id="588" name="Google Shape;588;p2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0" name="Google Shape;590;p26"/>
          <p:cNvGrpSpPr/>
          <p:nvPr/>
        </p:nvGrpSpPr>
        <p:grpSpPr>
          <a:xfrm>
            <a:off x="15056147" y="147107"/>
            <a:ext cx="406823" cy="408647"/>
            <a:chOff x="1813" y="0"/>
            <a:chExt cx="809173" cy="812800"/>
          </a:xfrm>
        </p:grpSpPr>
        <p:sp>
          <p:nvSpPr>
            <p:cNvPr id="591" name="Google Shape;591;p2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3" name="Google Shape;593;p26"/>
          <p:cNvGrpSpPr/>
          <p:nvPr/>
        </p:nvGrpSpPr>
        <p:grpSpPr>
          <a:xfrm>
            <a:off x="15667434" y="131238"/>
            <a:ext cx="444533" cy="421965"/>
            <a:chOff x="2414176" y="-3027429"/>
            <a:chExt cx="884178" cy="839290"/>
          </a:xfrm>
        </p:grpSpPr>
        <p:sp>
          <p:nvSpPr>
            <p:cNvPr id="594" name="Google Shape;594;p26"/>
            <p:cNvSpPr/>
            <p:nvPr/>
          </p:nvSpPr>
          <p:spPr>
            <a:xfrm>
              <a:off x="2489181" y="-3000939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6"/>
            <p:cNvSpPr txBox="1"/>
            <p:nvPr/>
          </p:nvSpPr>
          <p:spPr>
            <a:xfrm>
              <a:off x="2414176" y="-3027429"/>
              <a:ext cx="660399" cy="717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C05B2FE4-5653-44F3-8E71-3293EE2C2C7F}"/>
              </a:ext>
            </a:extLst>
          </p:cNvPr>
          <p:cNvSpPr txBox="1"/>
          <p:nvPr/>
        </p:nvSpPr>
        <p:spPr>
          <a:xfrm>
            <a:off x="5547360" y="806103"/>
            <a:ext cx="11849467" cy="9159954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D47DFF"/>
                </a:solidFill>
                <a:latin typeface="Consolas" panose="020B0609020204030204" pitchFamily="49" charset="0"/>
              </a:rPr>
              <a:t>public class </a:t>
            </a:r>
            <a:r>
              <a:rPr lang="en-US" sz="2800" dirty="0" err="1">
                <a:solidFill>
                  <a:srgbClr val="00FFFF"/>
                </a:solidFill>
                <a:latin typeface="Consolas" panose="020B0609020204030204" pitchFamily="49" charset="0"/>
              </a:rPr>
              <a:t>DatabaseConfig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D47DFF"/>
                </a:solidFill>
                <a:latin typeface="Consolas" panose="020B0609020204030204" pitchFamily="49" charset="0"/>
              </a:rPr>
              <a:t>private static 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49" charset="0"/>
              </a:rPr>
              <a:t>HikariDataSource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D47DFF"/>
                </a:solidFill>
                <a:latin typeface="Consolas" panose="020B0609020204030204" pitchFamily="49" charset="0"/>
              </a:rPr>
              <a:t>public static 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49" charset="0"/>
              </a:rPr>
              <a:t>HikariDataSource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FFFF"/>
                </a:solidFill>
                <a:latin typeface="Consolas" panose="020B0609020204030204" pitchFamily="49" charset="0"/>
              </a:rPr>
              <a:t>getDataSource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</a:rPr>
              <a:t>()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D47DFF"/>
                </a:solidFill>
                <a:latin typeface="Consolas" panose="020B0609020204030204" pitchFamily="49" charset="0"/>
              </a:rPr>
              <a:t>if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== 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</a:rPr>
              <a:t>null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2800" dirty="0" err="1">
                <a:solidFill>
                  <a:srgbClr val="FFC000"/>
                </a:solidFill>
                <a:latin typeface="Consolas" panose="020B0609020204030204" pitchFamily="49" charset="0"/>
              </a:rPr>
              <a:t>HikariConfig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49" charset="0"/>
              </a:rPr>
              <a:t>config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FFFF"/>
                </a:solidFill>
                <a:latin typeface="Consolas" panose="020B0609020204030204" pitchFamily="49" charset="0"/>
              </a:rPr>
              <a:t>HikariConfig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49" charset="0"/>
              </a:rPr>
              <a:t>config.setJdbcUrl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2800" dirty="0" err="1">
                <a:solidFill>
                  <a:srgbClr val="ABE338"/>
                </a:solidFill>
                <a:latin typeface="Consolas" panose="020B0609020204030204" pitchFamily="49" charset="0"/>
              </a:rPr>
              <a:t>jdbc:postgresql</a:t>
            </a:r>
            <a:r>
              <a:rPr lang="en-US" sz="2800" dirty="0">
                <a:solidFill>
                  <a:srgbClr val="ABE338"/>
                </a:solidFill>
                <a:latin typeface="Consolas" panose="020B0609020204030204" pitchFamily="49" charset="0"/>
              </a:rPr>
              <a:t>://</a:t>
            </a:r>
            <a:r>
              <a:rPr lang="en-US" sz="2800" dirty="0" err="1">
                <a:solidFill>
                  <a:srgbClr val="ABE338"/>
                </a:solidFill>
                <a:latin typeface="Consolas" panose="020B0609020204030204" pitchFamily="49" charset="0"/>
              </a:rPr>
              <a:t>localh</a:t>
            </a:r>
            <a:endParaRPr lang="en-US" sz="2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sz="2800" dirty="0">
                <a:solidFill>
                  <a:srgbClr val="ABE338"/>
                </a:solidFill>
                <a:latin typeface="Consolas" panose="020B0609020204030204" pitchFamily="49" charset="0"/>
              </a:rPr>
              <a:t>ost:5432/</a:t>
            </a:r>
            <a:r>
              <a:rPr lang="en-US" sz="2800" dirty="0" err="1">
                <a:solidFill>
                  <a:srgbClr val="ABE338"/>
                </a:solidFill>
                <a:latin typeface="Consolas" panose="020B0609020204030204" pitchFamily="49" charset="0"/>
              </a:rPr>
              <a:t>shop_db</a:t>
            </a:r>
            <a:r>
              <a:rPr lang="en-US" sz="28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algn="just"/>
            <a:endParaRPr lang="en-US" sz="2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49" charset="0"/>
              </a:rPr>
              <a:t>config.setUsername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2800" dirty="0" err="1">
                <a:solidFill>
                  <a:srgbClr val="ABE338"/>
                </a:solidFill>
                <a:latin typeface="Consolas" panose="020B0609020204030204" pitchFamily="49" charset="0"/>
              </a:rPr>
              <a:t>postgres</a:t>
            </a:r>
            <a:r>
              <a:rPr lang="en-US" sz="28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49" charset="0"/>
              </a:rPr>
              <a:t>config.setPassword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ABE338"/>
                </a:solidFill>
                <a:latin typeface="Consolas" panose="020B0609020204030204" pitchFamily="49" charset="0"/>
              </a:rPr>
              <a:t>"admin"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49" charset="0"/>
              </a:rPr>
              <a:t>config.setMaximumPoolSize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</a:rPr>
              <a:t>10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49" charset="0"/>
              </a:rPr>
              <a:t>config.setConnectionTimeout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</a:rPr>
              <a:t>20000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FFFF"/>
                </a:solidFill>
                <a:latin typeface="Consolas" panose="020B0609020204030204" pitchFamily="49" charset="0"/>
              </a:rPr>
              <a:t>HikariDataSource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(config);</a:t>
            </a: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       return </a:t>
            </a:r>
            <a:r>
              <a:rPr lang="en-US" sz="28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2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ECB0C2-175C-46AF-B784-8F6CFBAD654E}"/>
              </a:ext>
            </a:extLst>
          </p:cNvPr>
          <p:cNvSpPr txBox="1"/>
          <p:nvPr/>
        </p:nvSpPr>
        <p:spPr>
          <a:xfrm>
            <a:off x="955199" y="919494"/>
            <a:ext cx="40995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rgbClr val="0B1320"/>
                </a:solidFill>
                <a:latin typeface="Playfair Display Black"/>
              </a:rPr>
              <a:t>DatabaseConfig</a:t>
            </a:r>
            <a:r>
              <a:rPr lang="en-US" sz="3600" dirty="0">
                <a:solidFill>
                  <a:srgbClr val="0B1320"/>
                </a:solidFill>
                <a:latin typeface="Playfair Display Black"/>
              </a:rPr>
              <a:t>. </a:t>
            </a:r>
            <a:r>
              <a:rPr lang="en-US" sz="3600" dirty="0" err="1">
                <a:solidFill>
                  <a:srgbClr val="0B1320"/>
                </a:solidFill>
                <a:latin typeface="Playfair Display Black"/>
              </a:rPr>
              <a:t>HikariCP</a:t>
            </a:r>
            <a:r>
              <a:rPr lang="en-US" sz="3600" dirty="0">
                <a:solidFill>
                  <a:srgbClr val="0B1320"/>
                </a:solidFill>
                <a:latin typeface="Playfair Display Black"/>
              </a:rPr>
              <a:t> </a:t>
            </a:r>
            <a:r>
              <a:rPr lang="ru-RU" sz="3600" dirty="0">
                <a:solidFill>
                  <a:srgbClr val="0B1320"/>
                </a:solidFill>
                <a:latin typeface="Playfair Display Black"/>
              </a:rPr>
              <a:t>инициализация:</a:t>
            </a:r>
          </a:p>
          <a:p>
            <a:endParaRPr lang="ru-RU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3" name="Google Shape;753;p31"/>
          <p:cNvCxnSpPr/>
          <p:nvPr/>
        </p:nvCxnSpPr>
        <p:spPr>
          <a:xfrm>
            <a:off x="6249299" y="1264024"/>
            <a:ext cx="8289292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54" name="Google Shape;754;p31"/>
          <p:cNvGrpSpPr/>
          <p:nvPr/>
        </p:nvGrpSpPr>
        <p:grpSpPr>
          <a:xfrm>
            <a:off x="15040972" y="1059700"/>
            <a:ext cx="406823" cy="408647"/>
            <a:chOff x="1813" y="0"/>
            <a:chExt cx="809173" cy="812800"/>
          </a:xfrm>
        </p:grpSpPr>
        <p:sp>
          <p:nvSpPr>
            <p:cNvPr id="755" name="Google Shape;755;p3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7" name="Google Shape;757;p31"/>
          <p:cNvGrpSpPr/>
          <p:nvPr/>
        </p:nvGrpSpPr>
        <p:grpSpPr>
          <a:xfrm>
            <a:off x="15604646" y="1059700"/>
            <a:ext cx="406823" cy="408647"/>
            <a:chOff x="1813" y="0"/>
            <a:chExt cx="809173" cy="812800"/>
          </a:xfrm>
        </p:grpSpPr>
        <p:sp>
          <p:nvSpPr>
            <p:cNvPr id="758" name="Google Shape;758;p3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0" name="Google Shape;760;p31"/>
          <p:cNvGrpSpPr/>
          <p:nvPr/>
        </p:nvGrpSpPr>
        <p:grpSpPr>
          <a:xfrm>
            <a:off x="16165694" y="1059700"/>
            <a:ext cx="406823" cy="408647"/>
            <a:chOff x="1813" y="0"/>
            <a:chExt cx="809173" cy="812800"/>
          </a:xfrm>
        </p:grpSpPr>
        <p:sp>
          <p:nvSpPr>
            <p:cNvPr id="761" name="Google Shape;761;p3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C4D911B-D1B7-46A7-ABAC-622EC70D2CEC}"/>
              </a:ext>
            </a:extLst>
          </p:cNvPr>
          <p:cNvSpPr txBox="1"/>
          <p:nvPr/>
        </p:nvSpPr>
        <p:spPr>
          <a:xfrm>
            <a:off x="1193636" y="1770866"/>
            <a:ext cx="12284330" cy="7934087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ru-RU" sz="2000" dirty="0" err="1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long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save</a:t>
            </a:r>
            <a:r>
              <a:rPr lang="ru-RU" sz="20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ru-RU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ru-RU" sz="20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ru-RU" sz="2000" dirty="0">
                <a:solidFill>
                  <a:srgbClr val="FFC000"/>
                </a:solidFill>
                <a:latin typeface="Consolas" panose="020B0609020204030204" pitchFamily="49" charset="0"/>
              </a:rPr>
              <a:t>)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 err="1">
                <a:solidFill>
                  <a:srgbClr val="FF5050"/>
                </a:solidFill>
                <a:latin typeface="Consolas" panose="020B0609020204030204" pitchFamily="49" charset="0"/>
              </a:rPr>
              <a:t>sql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ru-RU" sz="2000" dirty="0">
                <a:solidFill>
                  <a:srgbClr val="ABE338"/>
                </a:solidFill>
                <a:latin typeface="Consolas" panose="020B0609020204030204" pitchFamily="49" charset="0"/>
              </a:rPr>
              <a:t>"INSERT INTO </a:t>
            </a:r>
            <a:r>
              <a:rPr lang="ru-RU" sz="2000" dirty="0" err="1">
                <a:solidFill>
                  <a:srgbClr val="ABE338"/>
                </a:solidFill>
                <a:latin typeface="Consolas" panose="020B0609020204030204" pitchFamily="49" charset="0"/>
              </a:rPr>
              <a:t>orders</a:t>
            </a:r>
            <a:r>
              <a:rPr lang="ru-RU" sz="2000" dirty="0">
                <a:solidFill>
                  <a:srgbClr val="ABE338"/>
                </a:solidFill>
                <a:latin typeface="Consolas" panose="020B0609020204030204" pitchFamily="49" charset="0"/>
              </a:rPr>
              <a:t> (</a:t>
            </a:r>
            <a:r>
              <a:rPr lang="ru-RU" sz="2000" dirty="0" err="1">
                <a:solidFill>
                  <a:srgbClr val="ABE338"/>
                </a:solidFill>
                <a:latin typeface="Consolas" panose="020B0609020204030204" pitchFamily="49" charset="0"/>
              </a:rPr>
              <a:t>customer_id</a:t>
            </a:r>
            <a:r>
              <a:rPr lang="ru-RU" sz="2000" dirty="0">
                <a:solidFill>
                  <a:srgbClr val="ABE338"/>
                </a:solidFill>
                <a:latin typeface="Consolas" panose="020B0609020204030204" pitchFamily="49" charset="0"/>
              </a:rPr>
              <a:t>, </a:t>
            </a:r>
            <a:r>
              <a:rPr lang="ru-RU" sz="2000" dirty="0" err="1">
                <a:solidFill>
                  <a:srgbClr val="ABE338"/>
                </a:solidFill>
                <a:latin typeface="Consolas" panose="020B0609020204030204" pitchFamily="49" charset="0"/>
              </a:rPr>
              <a:t>status</a:t>
            </a:r>
            <a:r>
              <a:rPr lang="ru-RU" sz="2000" dirty="0">
                <a:solidFill>
                  <a:srgbClr val="ABE338"/>
                </a:solidFill>
                <a:latin typeface="Consolas" panose="020B0609020204030204" pitchFamily="49" charset="0"/>
              </a:rPr>
              <a:t>, </a:t>
            </a:r>
            <a:r>
              <a:rPr lang="ru-RU" sz="2000" dirty="0" err="1">
                <a:solidFill>
                  <a:srgbClr val="ABE338"/>
                </a:solidFill>
                <a:latin typeface="Consolas" panose="020B0609020204030204" pitchFamily="49" charset="0"/>
              </a:rPr>
              <a:t>total_amount</a:t>
            </a:r>
            <a:r>
              <a:rPr lang="ru-RU" sz="2000" dirty="0">
                <a:solidFill>
                  <a:srgbClr val="ABE338"/>
                </a:solidFill>
                <a:latin typeface="Consolas" panose="020B0609020204030204" pitchFamily="49" charset="0"/>
              </a:rPr>
              <a:t>, "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</a:t>
            </a:r>
            <a:r>
              <a:rPr lang="ru-RU" sz="20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2000" dirty="0" err="1">
                <a:solidFill>
                  <a:srgbClr val="ABE338"/>
                </a:solidFill>
                <a:latin typeface="Consolas" panose="020B0609020204030204" pitchFamily="49" charset="0"/>
              </a:rPr>
              <a:t>delivery_address</a:t>
            </a:r>
            <a:r>
              <a:rPr lang="ru-RU" sz="2000" dirty="0">
                <a:solidFill>
                  <a:srgbClr val="ABE338"/>
                </a:solidFill>
                <a:latin typeface="Consolas" panose="020B0609020204030204" pitchFamily="49" charset="0"/>
              </a:rPr>
              <a:t>, </a:t>
            </a:r>
            <a:r>
              <a:rPr lang="ru-RU" sz="2000" dirty="0" err="1">
                <a:solidFill>
                  <a:srgbClr val="ABE338"/>
                </a:solidFill>
                <a:latin typeface="Consolas" panose="020B0609020204030204" pitchFamily="49" charset="0"/>
              </a:rPr>
              <a:t>created_at</a:t>
            </a:r>
            <a:r>
              <a:rPr lang="ru-RU" sz="2000" dirty="0">
                <a:solidFill>
                  <a:srgbClr val="ABE338"/>
                </a:solidFill>
                <a:latin typeface="Consolas" panose="020B0609020204030204" pitchFamily="49" charset="0"/>
              </a:rPr>
              <a:t>) "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</a:t>
            </a:r>
            <a:r>
              <a:rPr lang="ru-RU" sz="2000" dirty="0">
                <a:solidFill>
                  <a:srgbClr val="ABE338"/>
                </a:solidFill>
                <a:latin typeface="Consolas" panose="020B0609020204030204" pitchFamily="49" charset="0"/>
              </a:rPr>
              <a:t>"VALUES (?, ?, ?, ?, NOW()) RETURNING </a:t>
            </a:r>
            <a:r>
              <a:rPr lang="ru-RU" sz="2000" dirty="0" err="1">
                <a:solidFill>
                  <a:srgbClr val="ABE338"/>
                </a:solidFill>
                <a:latin typeface="Consolas" panose="020B0609020204030204" pitchFamily="49" charset="0"/>
              </a:rPr>
              <a:t>id</a:t>
            </a:r>
            <a:r>
              <a:rPr lang="ru-RU" sz="20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2000" dirty="0" err="1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2000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 err="1">
                <a:solidFill>
                  <a:srgbClr val="FF5050"/>
                </a:solidFill>
                <a:latin typeface="Consolas" panose="020B0609020204030204" pitchFamily="49" charset="0"/>
              </a:rPr>
              <a:t>conn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dataSource.getConnection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 </a:t>
            </a:r>
            <a:r>
              <a:rPr lang="ru-RU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 err="1">
                <a:solidFill>
                  <a:srgbClr val="FF5050"/>
                </a:solidFill>
                <a:latin typeface="Consolas" panose="020B0609020204030204" pitchFamily="49" charset="0"/>
              </a:rPr>
              <a:t>pstmt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sql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pstmt.setLong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2000" dirty="0">
                <a:solidFill>
                  <a:srgbClr val="FFC000"/>
                </a:solidFill>
                <a:latin typeface="Consolas" panose="020B0609020204030204" pitchFamily="49" charset="0"/>
              </a:rPr>
              <a:t>1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order.getCustomerId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pstmt.setString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2000" dirty="0">
                <a:solidFill>
                  <a:srgbClr val="FFC000"/>
                </a:solidFill>
                <a:latin typeface="Consolas" panose="020B0609020204030204" pitchFamily="49" charset="0"/>
              </a:rPr>
              <a:t>2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order.getStatus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().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toString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pstmt.setBigDecimal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2000" dirty="0">
                <a:solidFill>
                  <a:srgbClr val="FFC000"/>
                </a:solidFill>
                <a:latin typeface="Consolas" panose="020B0609020204030204" pitchFamily="49" charset="0"/>
              </a:rPr>
              <a:t>3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order.getTotalAmount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pstmt.setString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2000" dirty="0">
                <a:solidFill>
                  <a:srgbClr val="FFC000"/>
                </a:solidFill>
                <a:latin typeface="Consolas" panose="020B0609020204030204" pitchFamily="49" charset="0"/>
              </a:rPr>
              <a:t>4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order.getDeliveryAddress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2000" dirty="0" err="1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ResultSet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 err="1">
                <a:solidFill>
                  <a:srgbClr val="FF5050"/>
                </a:solidFill>
                <a:latin typeface="Consolas" panose="020B0609020204030204" pitchFamily="49" charset="0"/>
              </a:rPr>
              <a:t>rs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pstmt.executeQuery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ru-RU" sz="2000" dirty="0" err="1">
                <a:solidFill>
                  <a:srgbClr val="D47DFF"/>
                </a:solidFill>
                <a:latin typeface="Consolas" panose="020B0609020204030204" pitchFamily="49" charset="0"/>
              </a:rPr>
              <a:t>if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rs.next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</a:t>
            </a:r>
            <a:r>
              <a:rPr lang="ru-RU" sz="2000" dirty="0" err="1">
                <a:solidFill>
                  <a:srgbClr val="D47DFF"/>
                </a:solidFill>
                <a:latin typeface="Consolas" panose="020B0609020204030204" pitchFamily="49" charset="0"/>
              </a:rPr>
              <a:t>return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rs.getLong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20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2000" dirty="0" err="1">
                <a:solidFill>
                  <a:srgbClr val="ABE338"/>
                </a:solidFill>
                <a:latin typeface="Consolas" panose="020B0609020204030204" pitchFamily="49" charset="0"/>
              </a:rPr>
              <a:t>id</a:t>
            </a:r>
            <a:r>
              <a:rPr lang="ru-RU" sz="20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} </a:t>
            </a:r>
            <a:r>
              <a:rPr lang="ru-RU" sz="2000" dirty="0" err="1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2000" dirty="0" err="1">
                <a:solidFill>
                  <a:srgbClr val="D47DFF"/>
                </a:solidFill>
                <a:latin typeface="Consolas" panose="020B0609020204030204" pitchFamily="49" charset="0"/>
              </a:rPr>
              <a:t>throw</a:t>
            </a:r>
            <a:r>
              <a:rPr lang="ru-RU" sz="2000" dirty="0">
                <a:solidFill>
                  <a:srgbClr val="D47DFF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 err="1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ru-RU" sz="2000" dirty="0">
                <a:solidFill>
                  <a:srgbClr val="D47DFF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 err="1">
                <a:solidFill>
                  <a:srgbClr val="00FFFF"/>
                </a:solidFill>
                <a:latin typeface="Consolas" panose="020B0609020204030204" pitchFamily="49" charset="0"/>
              </a:rPr>
              <a:t>RuntimeException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20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2000" dirty="0" err="1">
                <a:solidFill>
                  <a:srgbClr val="ABE338"/>
                </a:solidFill>
                <a:latin typeface="Consolas" panose="020B0609020204030204" pitchFamily="49" charset="0"/>
              </a:rPr>
              <a:t>Cannot</a:t>
            </a:r>
            <a:r>
              <a:rPr lang="ru-RU" sz="2000" dirty="0">
                <a:solidFill>
                  <a:srgbClr val="ABE338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 err="1">
                <a:solidFill>
                  <a:srgbClr val="ABE338"/>
                </a:solidFill>
                <a:latin typeface="Consolas" panose="020B0609020204030204" pitchFamily="49" charset="0"/>
              </a:rPr>
              <a:t>save</a:t>
            </a:r>
            <a:r>
              <a:rPr lang="ru-RU" sz="2000" dirty="0">
                <a:solidFill>
                  <a:srgbClr val="ABE338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 err="1">
                <a:solidFill>
                  <a:srgbClr val="ABE338"/>
                </a:solidFill>
                <a:latin typeface="Consolas" panose="020B0609020204030204" pitchFamily="49" charset="0"/>
              </a:rPr>
              <a:t>order</a:t>
            </a:r>
            <a:r>
              <a:rPr lang="ru-RU" sz="20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, e);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2000" dirty="0" err="1">
                <a:solidFill>
                  <a:srgbClr val="D47DFF"/>
                </a:solidFill>
                <a:latin typeface="Consolas" panose="020B0609020204030204" pitchFamily="49" charset="0"/>
              </a:rPr>
              <a:t>return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 -1;</a:t>
            </a:r>
          </a:p>
          <a:p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86E643-6F24-4907-A379-DF9CD09BA38A}"/>
              </a:ext>
            </a:extLst>
          </p:cNvPr>
          <p:cNvSpPr txBox="1"/>
          <p:nvPr/>
        </p:nvSpPr>
        <p:spPr>
          <a:xfrm>
            <a:off x="13726170" y="4165535"/>
            <a:ext cx="4495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err="1">
                <a:solidFill>
                  <a:srgbClr val="0B1320"/>
                </a:solidFill>
                <a:latin typeface="Playfair Display Black"/>
              </a:rPr>
              <a:t>OrderDAO.save</a:t>
            </a:r>
            <a:r>
              <a:rPr lang="en-US" sz="3600" dirty="0">
                <a:solidFill>
                  <a:srgbClr val="0B1320"/>
                </a:solidFill>
                <a:latin typeface="Playfair Display Black"/>
              </a:rPr>
              <a:t>(). </a:t>
            </a:r>
            <a:r>
              <a:rPr lang="ru-RU" sz="3600" dirty="0">
                <a:solidFill>
                  <a:srgbClr val="0B1320"/>
                </a:solidFill>
                <a:latin typeface="Playfair Display Black"/>
              </a:rPr>
              <a:t>Создание заказа: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4"/>
          <p:cNvSpPr txBox="1"/>
          <p:nvPr/>
        </p:nvSpPr>
        <p:spPr>
          <a:xfrm>
            <a:off x="533304" y="8257273"/>
            <a:ext cx="7863936" cy="1852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600" dirty="0" err="1">
                <a:solidFill>
                  <a:srgbClr val="0B1320"/>
                </a:solidFill>
                <a:latin typeface="Playfair Display Black"/>
              </a:rPr>
              <a:t>OrderDAO.findByCustomerId</a:t>
            </a:r>
            <a:r>
              <a:rPr lang="en-US" sz="3600" dirty="0">
                <a:solidFill>
                  <a:srgbClr val="0B1320"/>
                </a:solidFill>
                <a:latin typeface="Playfair Display Black"/>
              </a:rPr>
              <a:t>(</a:t>
            </a:r>
            <a:r>
              <a:rPr lang="ru-RU" sz="3600" dirty="0">
                <a:solidFill>
                  <a:srgbClr val="0B1320"/>
                </a:solidFill>
                <a:latin typeface="Playfair Display Black"/>
              </a:rPr>
              <a:t>)</a:t>
            </a:r>
            <a:r>
              <a:rPr lang="en-US" sz="3600" dirty="0">
                <a:solidFill>
                  <a:srgbClr val="0B1320"/>
                </a:solidFill>
                <a:latin typeface="Playfair Display Black"/>
              </a:rPr>
              <a:t>. </a:t>
            </a:r>
            <a:r>
              <a:rPr lang="ru-RU" sz="3600" dirty="0">
                <a:solidFill>
                  <a:srgbClr val="0B1320"/>
                </a:solidFill>
                <a:latin typeface="Playfair Display Black"/>
              </a:rPr>
              <a:t>Получение заказов</a:t>
            </a:r>
            <a:r>
              <a:rPr lang="en-US" sz="3600" dirty="0">
                <a:solidFill>
                  <a:srgbClr val="0B1320"/>
                </a:solidFill>
                <a:latin typeface="Playfair Display Black"/>
              </a:rPr>
              <a:t>:</a:t>
            </a:r>
            <a:endParaRPr lang="ru-RU" sz="3600" dirty="0">
              <a:solidFill>
                <a:srgbClr val="0B1320"/>
              </a:solidFill>
              <a:latin typeface="Playfair Display Black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827" name="Google Shape;827;p34"/>
          <p:cNvCxnSpPr/>
          <p:nvPr/>
        </p:nvCxnSpPr>
        <p:spPr>
          <a:xfrm>
            <a:off x="533304" y="8105343"/>
            <a:ext cx="5334000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28" name="Google Shape;828;p34"/>
          <p:cNvGrpSpPr/>
          <p:nvPr/>
        </p:nvGrpSpPr>
        <p:grpSpPr>
          <a:xfrm rot="10800000">
            <a:off x="-3818490" y="-1887992"/>
            <a:ext cx="6613177" cy="8139295"/>
            <a:chOff x="0" y="0"/>
            <a:chExt cx="8817569" cy="10852393"/>
          </a:xfrm>
        </p:grpSpPr>
        <p:grpSp>
          <p:nvGrpSpPr>
            <p:cNvPr id="829" name="Google Shape;829;p34"/>
            <p:cNvGrpSpPr/>
            <p:nvPr/>
          </p:nvGrpSpPr>
          <p:grpSpPr>
            <a:xfrm>
              <a:off x="0" y="0"/>
              <a:ext cx="8817569" cy="10852393"/>
              <a:chOff x="0" y="0"/>
              <a:chExt cx="660400" cy="812800"/>
            </a:xfrm>
          </p:grpSpPr>
          <p:sp>
            <p:nvSpPr>
              <p:cNvPr id="830" name="Google Shape;830;p3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3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2" name="Google Shape;832;p34"/>
            <p:cNvGrpSpPr/>
            <p:nvPr/>
          </p:nvGrpSpPr>
          <p:grpSpPr>
            <a:xfrm>
              <a:off x="515133" y="634010"/>
              <a:ext cx="7787303" cy="9584373"/>
              <a:chOff x="0" y="0"/>
              <a:chExt cx="660400" cy="812800"/>
            </a:xfrm>
          </p:grpSpPr>
          <p:sp>
            <p:nvSpPr>
              <p:cNvPr id="833" name="Google Shape;833;p3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3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5" name="Google Shape;835;p34"/>
            <p:cNvGrpSpPr/>
            <p:nvPr/>
          </p:nvGrpSpPr>
          <p:grpSpPr>
            <a:xfrm>
              <a:off x="1023677" y="1259911"/>
              <a:ext cx="6770215" cy="8332572"/>
              <a:chOff x="0" y="0"/>
              <a:chExt cx="660400" cy="812800"/>
            </a:xfrm>
          </p:grpSpPr>
          <p:sp>
            <p:nvSpPr>
              <p:cNvPr id="836" name="Google Shape;836;p3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3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38" name="Google Shape;838;p34"/>
          <p:cNvGrpSpPr/>
          <p:nvPr/>
        </p:nvGrpSpPr>
        <p:grpSpPr>
          <a:xfrm>
            <a:off x="16758111" y="3691323"/>
            <a:ext cx="6613177" cy="8139295"/>
            <a:chOff x="0" y="0"/>
            <a:chExt cx="8817569" cy="10852393"/>
          </a:xfrm>
        </p:grpSpPr>
        <p:grpSp>
          <p:nvGrpSpPr>
            <p:cNvPr id="839" name="Google Shape;839;p34"/>
            <p:cNvGrpSpPr/>
            <p:nvPr/>
          </p:nvGrpSpPr>
          <p:grpSpPr>
            <a:xfrm>
              <a:off x="0" y="0"/>
              <a:ext cx="8817569" cy="10852393"/>
              <a:chOff x="0" y="0"/>
              <a:chExt cx="660400" cy="812800"/>
            </a:xfrm>
          </p:grpSpPr>
          <p:sp>
            <p:nvSpPr>
              <p:cNvPr id="840" name="Google Shape;840;p3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3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2" name="Google Shape;842;p34"/>
            <p:cNvGrpSpPr/>
            <p:nvPr/>
          </p:nvGrpSpPr>
          <p:grpSpPr>
            <a:xfrm>
              <a:off x="515133" y="634010"/>
              <a:ext cx="7787303" cy="9584373"/>
              <a:chOff x="0" y="0"/>
              <a:chExt cx="660400" cy="812800"/>
            </a:xfrm>
          </p:grpSpPr>
          <p:sp>
            <p:nvSpPr>
              <p:cNvPr id="843" name="Google Shape;843;p3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3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5" name="Google Shape;845;p34"/>
            <p:cNvGrpSpPr/>
            <p:nvPr/>
          </p:nvGrpSpPr>
          <p:grpSpPr>
            <a:xfrm>
              <a:off x="1023677" y="1259911"/>
              <a:ext cx="6770215" cy="8332572"/>
              <a:chOff x="0" y="0"/>
              <a:chExt cx="660400" cy="812800"/>
            </a:xfrm>
          </p:grpSpPr>
          <p:sp>
            <p:nvSpPr>
              <p:cNvPr id="846" name="Google Shape;846;p3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3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8" name="Google Shape;848;p34"/>
          <p:cNvGrpSpPr/>
          <p:nvPr/>
        </p:nvGrpSpPr>
        <p:grpSpPr>
          <a:xfrm>
            <a:off x="16351288" y="9665587"/>
            <a:ext cx="406823" cy="408647"/>
            <a:chOff x="1813" y="0"/>
            <a:chExt cx="809173" cy="812800"/>
          </a:xfrm>
        </p:grpSpPr>
        <p:sp>
          <p:nvSpPr>
            <p:cNvPr id="849" name="Google Shape;849;p3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1" name="Google Shape;851;p34"/>
          <p:cNvGrpSpPr/>
          <p:nvPr/>
        </p:nvGrpSpPr>
        <p:grpSpPr>
          <a:xfrm>
            <a:off x="16951286" y="9656009"/>
            <a:ext cx="406823" cy="408647"/>
            <a:chOff x="1813" y="0"/>
            <a:chExt cx="809173" cy="812800"/>
          </a:xfrm>
        </p:grpSpPr>
        <p:sp>
          <p:nvSpPr>
            <p:cNvPr id="852" name="Google Shape;852;p3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4" name="Google Shape;854;p34"/>
          <p:cNvGrpSpPr/>
          <p:nvPr/>
        </p:nvGrpSpPr>
        <p:grpSpPr>
          <a:xfrm>
            <a:off x="17551284" y="9646431"/>
            <a:ext cx="406823" cy="408647"/>
            <a:chOff x="1813" y="0"/>
            <a:chExt cx="809173" cy="812800"/>
          </a:xfrm>
        </p:grpSpPr>
        <p:sp>
          <p:nvSpPr>
            <p:cNvPr id="855" name="Google Shape;855;p3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6097CC45-91D3-4C8E-A336-B4BAA86CC953}"/>
              </a:ext>
            </a:extLst>
          </p:cNvPr>
          <p:cNvSpPr txBox="1"/>
          <p:nvPr/>
        </p:nvSpPr>
        <p:spPr>
          <a:xfrm>
            <a:off x="3615574" y="269625"/>
            <a:ext cx="11056851" cy="7593568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List&lt;Order&gt; </a:t>
            </a:r>
            <a:r>
              <a:rPr lang="en-US" sz="2000" dirty="0" err="1">
                <a:solidFill>
                  <a:srgbClr val="00FFFF"/>
                </a:solidFill>
                <a:latin typeface="Consolas" panose="020B0609020204030204" pitchFamily="49" charset="0"/>
              </a:rPr>
              <a:t>findByCustomerId</a:t>
            </a:r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(long </a:t>
            </a:r>
            <a:r>
              <a:rPr lang="en-US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customerId</a:t>
            </a:r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5050"/>
                </a:solidFill>
                <a:latin typeface="Consolas" panose="020B0609020204030204" pitchFamily="49" charset="0"/>
              </a:rPr>
              <a:t>sql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ABE338"/>
                </a:solidFill>
                <a:latin typeface="Consolas" panose="020B0609020204030204" pitchFamily="49" charset="0"/>
              </a:rPr>
              <a:t>"SELECT * FROM orders WHERE </a:t>
            </a:r>
            <a:r>
              <a:rPr lang="en-US" sz="2000" dirty="0" err="1">
                <a:solidFill>
                  <a:srgbClr val="ABE338"/>
                </a:solidFill>
                <a:latin typeface="Consolas" panose="020B0609020204030204" pitchFamily="49" charset="0"/>
              </a:rPr>
              <a:t>customer_id</a:t>
            </a:r>
            <a:r>
              <a:rPr lang="en-US" sz="2000" dirty="0">
                <a:solidFill>
                  <a:srgbClr val="ABE338"/>
                </a:solidFill>
                <a:latin typeface="Consolas" panose="020B0609020204030204" pitchFamily="49" charset="0"/>
              </a:rPr>
              <a:t> = ? "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</a:t>
            </a:r>
            <a:r>
              <a:rPr lang="en-US" sz="2000" dirty="0">
                <a:solidFill>
                  <a:srgbClr val="ABE338"/>
                </a:solidFill>
                <a:latin typeface="Consolas" panose="020B0609020204030204" pitchFamily="49" charset="0"/>
              </a:rPr>
              <a:t>"ORDER BY </a:t>
            </a:r>
            <a:r>
              <a:rPr lang="en-US" sz="2000" dirty="0" err="1">
                <a:solidFill>
                  <a:srgbClr val="ABE338"/>
                </a:solidFill>
                <a:latin typeface="Consolas" panose="020B0609020204030204" pitchFamily="49" charset="0"/>
              </a:rPr>
              <a:t>created_at</a:t>
            </a:r>
            <a:r>
              <a:rPr lang="en-US" sz="2000" dirty="0">
                <a:solidFill>
                  <a:srgbClr val="ABE338"/>
                </a:solidFill>
                <a:latin typeface="Consolas" panose="020B0609020204030204" pitchFamily="49" charset="0"/>
              </a:rPr>
              <a:t> DESC"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List&lt;Order&gt; orders = </a:t>
            </a:r>
            <a:r>
              <a:rPr lang="en-US" sz="2000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FFFF"/>
                </a:solidFill>
                <a:latin typeface="Consolas" panose="020B0609020204030204" pitchFamily="49" charset="0"/>
              </a:rPr>
              <a:t>ArrayList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5050"/>
                </a:solidFill>
                <a:latin typeface="Consolas" panose="020B0609020204030204" pitchFamily="49" charset="0"/>
              </a:rPr>
              <a:t>conn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dataSource.getConnection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 </a:t>
            </a:r>
            <a:r>
              <a:rPr lang="en-US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5050"/>
                </a:solidFill>
                <a:latin typeface="Consolas" panose="020B0609020204030204" pitchFamily="49" charset="0"/>
              </a:rPr>
              <a:t>pstmt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sql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pstmt.setLong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customerId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ResultSet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5050"/>
                </a:solidFill>
                <a:latin typeface="Consolas" panose="020B0609020204030204" pitchFamily="49" charset="0"/>
              </a:rPr>
              <a:t>rs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pstmt.executeQuery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rgbClr val="D47DFF"/>
                </a:solidFill>
                <a:latin typeface="Consolas" panose="020B0609020204030204" pitchFamily="49" charset="0"/>
              </a:rPr>
              <a:t>while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rs.next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5050"/>
                </a:solidFill>
                <a:latin typeface="Consolas" panose="020B0609020204030204" pitchFamily="49" charset="0"/>
              </a:rPr>
              <a:t>order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mapResultSetToOrder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rs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orders.add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(order);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} </a:t>
            </a:r>
            <a:r>
              <a:rPr lang="en-US" sz="2000" dirty="0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rgbClr val="D47DFF"/>
                </a:solidFill>
                <a:latin typeface="Consolas" panose="020B0609020204030204" pitchFamily="49" charset="0"/>
              </a:rPr>
              <a:t>throw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FFFF"/>
                </a:solidFill>
                <a:latin typeface="Consolas" panose="020B0609020204030204" pitchFamily="49" charset="0"/>
              </a:rPr>
              <a:t>RuntimeException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ABE338"/>
                </a:solidFill>
                <a:latin typeface="Consolas" panose="020B0609020204030204" pitchFamily="49" charset="0"/>
              </a:rPr>
              <a:t>"Cannot fetch orders"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, e);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D47D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orders;</a:t>
            </a: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39"/>
          <p:cNvSpPr txBox="1"/>
          <p:nvPr/>
        </p:nvSpPr>
        <p:spPr>
          <a:xfrm>
            <a:off x="7343791" y="8849653"/>
            <a:ext cx="1039357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3600" dirty="0">
                <a:solidFill>
                  <a:srgbClr val="0B1320"/>
                </a:solidFill>
                <a:latin typeface="Playfair Display Black"/>
              </a:rPr>
              <a:t>Application.java. </a:t>
            </a:r>
            <a:r>
              <a:rPr lang="ru-RU" sz="3600" dirty="0">
                <a:solidFill>
                  <a:srgbClr val="0B1320"/>
                </a:solidFill>
                <a:latin typeface="Playfair Display Black"/>
              </a:rPr>
              <a:t>Полный цикл:</a:t>
            </a: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008" name="Google Shape;1008;p39"/>
          <p:cNvGrpSpPr/>
          <p:nvPr/>
        </p:nvGrpSpPr>
        <p:grpSpPr>
          <a:xfrm>
            <a:off x="1029612" y="8849653"/>
            <a:ext cx="406823" cy="408647"/>
            <a:chOff x="1813" y="0"/>
            <a:chExt cx="809173" cy="812800"/>
          </a:xfrm>
        </p:grpSpPr>
        <p:sp>
          <p:nvSpPr>
            <p:cNvPr id="1009" name="Google Shape;1009;p3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1" name="Google Shape;1011;p39"/>
          <p:cNvGrpSpPr/>
          <p:nvPr/>
        </p:nvGrpSpPr>
        <p:grpSpPr>
          <a:xfrm>
            <a:off x="1593286" y="8849653"/>
            <a:ext cx="406823" cy="408647"/>
            <a:chOff x="1813" y="0"/>
            <a:chExt cx="809173" cy="812800"/>
          </a:xfrm>
        </p:grpSpPr>
        <p:sp>
          <p:nvSpPr>
            <p:cNvPr id="1012" name="Google Shape;1012;p3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4" name="Google Shape;1014;p39"/>
          <p:cNvGrpSpPr/>
          <p:nvPr/>
        </p:nvGrpSpPr>
        <p:grpSpPr>
          <a:xfrm>
            <a:off x="2154334" y="8849653"/>
            <a:ext cx="406823" cy="408647"/>
            <a:chOff x="1813" y="0"/>
            <a:chExt cx="809173" cy="812800"/>
          </a:xfrm>
        </p:grpSpPr>
        <p:sp>
          <p:nvSpPr>
            <p:cNvPr id="1015" name="Google Shape;1015;p3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17" name="Google Shape;1017;p39"/>
          <p:cNvCxnSpPr/>
          <p:nvPr/>
        </p:nvCxnSpPr>
        <p:spPr>
          <a:xfrm>
            <a:off x="3142926" y="9015876"/>
            <a:ext cx="7237301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9162C1B-457A-40D2-B6F7-40106EA86EC1}"/>
              </a:ext>
            </a:extLst>
          </p:cNvPr>
          <p:cNvSpPr txBox="1"/>
          <p:nvPr/>
        </p:nvSpPr>
        <p:spPr>
          <a:xfrm>
            <a:off x="441960" y="865156"/>
            <a:ext cx="8122920" cy="701730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D47DFF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sz="1800" dirty="0">
                <a:solidFill>
                  <a:srgbClr val="00FFFF"/>
                </a:solidFill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(String[] </a:t>
            </a:r>
            <a:r>
              <a:rPr lang="en-US" sz="1800" dirty="0" err="1">
                <a:solidFill>
                  <a:srgbClr val="FFC000"/>
                </a:solidFill>
                <a:latin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F3E9C7"/>
                </a:solidFill>
                <a:latin typeface="Consolas" panose="020B0609020204030204" pitchFamily="49" charset="0"/>
              </a:rPr>
              <a:t>// 1. </a:t>
            </a:r>
            <a:r>
              <a:rPr lang="ru-RU" sz="1800" dirty="0">
                <a:solidFill>
                  <a:srgbClr val="F3E9C7"/>
                </a:solidFill>
                <a:latin typeface="Consolas" panose="020B0609020204030204" pitchFamily="49" charset="0"/>
              </a:rPr>
              <a:t>Инициализируем </a:t>
            </a:r>
            <a:r>
              <a:rPr lang="en-US" sz="1800" dirty="0" err="1">
                <a:solidFill>
                  <a:srgbClr val="F3E9C7"/>
                </a:solidFill>
                <a:latin typeface="Consolas" panose="020B0609020204030204" pitchFamily="49" charset="0"/>
              </a:rPr>
              <a:t>DataSource</a:t>
            </a:r>
            <a:endParaRPr lang="en-US" sz="1800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FFC000"/>
                </a:solidFill>
                <a:latin typeface="Consolas" panose="020B0609020204030204" pitchFamily="49" charset="0"/>
              </a:rPr>
              <a:t>DataSource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5050"/>
                </a:solidFill>
                <a:latin typeface="Consolas" panose="020B0609020204030204" pitchFamily="49" charset="0"/>
              </a:rPr>
              <a:t>ds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DatabaseConfig.getDataSource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ABE338"/>
                </a:solidFill>
                <a:latin typeface="Consolas" panose="020B0609020204030204" pitchFamily="49" charset="0"/>
              </a:rPr>
              <a:t>HikariCP</a:t>
            </a:r>
            <a:r>
              <a:rPr lang="en-US" sz="1800" dirty="0">
                <a:solidFill>
                  <a:srgbClr val="ABE338"/>
                </a:solidFill>
                <a:latin typeface="Consolas" panose="020B0609020204030204" pitchFamily="49" charset="0"/>
              </a:rPr>
              <a:t> pool </a:t>
            </a:r>
            <a:r>
              <a:rPr lang="ru-RU" sz="1800" dirty="0">
                <a:solidFill>
                  <a:srgbClr val="ABE338"/>
                </a:solidFill>
                <a:latin typeface="Consolas" panose="020B0609020204030204" pitchFamily="49" charset="0"/>
              </a:rPr>
              <a:t>инициализирован"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F3E9C7"/>
                </a:solidFill>
                <a:latin typeface="Consolas" panose="020B0609020204030204" pitchFamily="49" charset="0"/>
              </a:rPr>
              <a:t>// 2. Запускаем </a:t>
            </a:r>
            <a:r>
              <a:rPr lang="en-US" sz="1800" dirty="0">
                <a:solidFill>
                  <a:srgbClr val="F3E9C7"/>
                </a:solidFill>
                <a:latin typeface="Consolas" panose="020B0609020204030204" pitchFamily="49" charset="0"/>
              </a:rPr>
              <a:t>Flyway </a:t>
            </a:r>
            <a:r>
              <a:rPr lang="ru-RU" sz="1800" dirty="0">
                <a:solidFill>
                  <a:srgbClr val="F3E9C7"/>
                </a:solidFill>
                <a:latin typeface="Consolas" panose="020B0609020204030204" pitchFamily="49" charset="0"/>
              </a:rPr>
              <a:t>миграции</a:t>
            </a:r>
          </a:p>
          <a:p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Flyway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5050"/>
                </a:solidFill>
                <a:latin typeface="Consolas" panose="020B0609020204030204" pitchFamily="49" charset="0"/>
              </a:rPr>
              <a:t>flyway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Flyway.configure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.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(ds)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.locations(</a:t>
            </a:r>
            <a:r>
              <a:rPr lang="en-US" sz="18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ABE338"/>
                </a:solidFill>
                <a:latin typeface="Consolas" panose="020B0609020204030204" pitchFamily="49" charset="0"/>
              </a:rPr>
              <a:t>classpath:db</a:t>
            </a:r>
            <a:r>
              <a:rPr lang="en-US" sz="1800" dirty="0">
                <a:solidFill>
                  <a:srgbClr val="ABE338"/>
                </a:solidFill>
                <a:latin typeface="Consolas" panose="020B0609020204030204" pitchFamily="49" charset="0"/>
              </a:rPr>
              <a:t>/migration"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.load();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flyway.migrate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BE338"/>
                </a:solidFill>
                <a:latin typeface="Consolas" panose="020B0609020204030204" pitchFamily="49" charset="0"/>
              </a:rPr>
              <a:t>Миграции выполнены"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F3E9C7"/>
                </a:solidFill>
                <a:latin typeface="Consolas" panose="020B0609020204030204" pitchFamily="49" charset="0"/>
              </a:rPr>
              <a:t>// 3. Демонстрация </a:t>
            </a:r>
            <a:r>
              <a:rPr lang="en-US" sz="1800" dirty="0">
                <a:solidFill>
                  <a:srgbClr val="F3E9C7"/>
                </a:solidFill>
                <a:latin typeface="Consolas" panose="020B0609020204030204" pitchFamily="49" charset="0"/>
              </a:rPr>
              <a:t>CRUD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FFC000"/>
                </a:solidFill>
                <a:latin typeface="Consolas" panose="020B0609020204030204" pitchFamily="49" charset="0"/>
              </a:rPr>
              <a:t>OrderDAO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5050"/>
                </a:solidFill>
                <a:latin typeface="Consolas" panose="020B0609020204030204" pitchFamily="49" charset="0"/>
              </a:rPr>
              <a:t>orderDAO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FFFF"/>
                </a:solidFill>
                <a:latin typeface="Consolas" panose="020B0609020204030204" pitchFamily="49" charset="0"/>
              </a:rPr>
              <a:t>OrderDAO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(ds);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F3E9C7"/>
                </a:solidFill>
                <a:latin typeface="Consolas" panose="020B0609020204030204" pitchFamily="49" charset="0"/>
              </a:rPr>
              <a:t>// CREATE — </a:t>
            </a:r>
            <a:r>
              <a:rPr lang="ru-RU" sz="1800" dirty="0">
                <a:solidFill>
                  <a:srgbClr val="F3E9C7"/>
                </a:solidFill>
                <a:latin typeface="Consolas" panose="020B0609020204030204" pitchFamily="49" charset="0"/>
              </a:rPr>
              <a:t>создаем заказ</a:t>
            </a:r>
          </a:p>
          <a:p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5050"/>
                </a:solidFill>
                <a:latin typeface="Consolas" panose="020B0609020204030204" pitchFamily="49" charset="0"/>
              </a:rPr>
              <a:t>order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FFFF"/>
                </a:solidFill>
                <a:latin typeface="Consolas" panose="020B0609020204030204" pitchFamily="49" charset="0"/>
              </a:rPr>
              <a:t>Order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1L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,  </a:t>
            </a:r>
            <a:r>
              <a:rPr lang="en-US" sz="18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F3E9C7"/>
                </a:solidFill>
                <a:latin typeface="Consolas" panose="020B0609020204030204" pitchFamily="49" charset="0"/>
              </a:rPr>
              <a:t>customer_id</a:t>
            </a:r>
            <a:endParaRPr lang="en-US" sz="1800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FFFF"/>
                </a:solidFill>
                <a:latin typeface="Consolas" panose="020B0609020204030204" pitchFamily="49" charset="0"/>
              </a:rPr>
              <a:t>BigDecimal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BE338"/>
                </a:solidFill>
                <a:latin typeface="Consolas" panose="020B0609020204030204" pitchFamily="49" charset="0"/>
              </a:rPr>
              <a:t>"1599.99"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),  </a:t>
            </a:r>
            <a:r>
              <a:rPr lang="en-US" sz="18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F3E9C7"/>
                </a:solidFill>
                <a:latin typeface="Consolas" panose="020B0609020204030204" pitchFamily="49" charset="0"/>
              </a:rPr>
              <a:t>total_amount</a:t>
            </a:r>
            <a:endParaRPr lang="en-US" sz="1800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BE338"/>
                </a:solidFill>
                <a:latin typeface="Consolas" panose="020B0609020204030204" pitchFamily="49" charset="0"/>
              </a:rPr>
              <a:t>ул. Пушкина, 10"  </a:t>
            </a:r>
            <a:r>
              <a:rPr lang="ru-RU" sz="18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F3E9C7"/>
                </a:solidFill>
                <a:latin typeface="Consolas" panose="020B0609020204030204" pitchFamily="49" charset="0"/>
              </a:rPr>
              <a:t>delivery_address</a:t>
            </a:r>
            <a:endParaRPr lang="en-US" sz="1800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long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5050"/>
                </a:solidFill>
                <a:latin typeface="Consolas" panose="020B0609020204030204" pitchFamily="49" charset="0"/>
              </a:rPr>
              <a:t>orderId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orderDAO.save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(order);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BE338"/>
                </a:solidFill>
                <a:latin typeface="Consolas" panose="020B0609020204030204" pitchFamily="49" charset="0"/>
              </a:rPr>
              <a:t>Заказ создан: </a:t>
            </a:r>
            <a:r>
              <a:rPr lang="en-US" sz="1800" dirty="0">
                <a:solidFill>
                  <a:srgbClr val="ABE338"/>
                </a:solidFill>
                <a:latin typeface="Consolas" panose="020B0609020204030204" pitchFamily="49" charset="0"/>
              </a:rPr>
              <a:t>ID="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+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orderId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endParaRPr lang="ru-RU" sz="1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673DB3-64E2-4B36-AF9F-6DEC98894771}"/>
              </a:ext>
            </a:extLst>
          </p:cNvPr>
          <p:cNvSpPr txBox="1"/>
          <p:nvPr/>
        </p:nvSpPr>
        <p:spPr>
          <a:xfrm>
            <a:off x="8955618" y="254911"/>
            <a:ext cx="9210462" cy="701730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// READ — 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получаем по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ID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en-US" sz="1800" dirty="0">
                <a:solidFill>
                  <a:srgbClr val="FF5050"/>
                </a:solidFill>
                <a:latin typeface="Consolas" panose="020B0609020204030204" pitchFamily="49" charset="0"/>
              </a:rPr>
              <a:t> found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orderDAO.findById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orderId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).get();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BE338"/>
                </a:solidFill>
                <a:latin typeface="Consolas" panose="020B0609020204030204" pitchFamily="49" charset="0"/>
              </a:rPr>
              <a:t>Найден заказ: " 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+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found);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F3E9C7"/>
                </a:solidFill>
                <a:latin typeface="Consolas" panose="020B0609020204030204" pitchFamily="49" charset="0"/>
              </a:rPr>
              <a:t>// UPDATE — </a:t>
            </a:r>
            <a:r>
              <a:rPr lang="ru-RU" sz="1800" dirty="0">
                <a:solidFill>
                  <a:srgbClr val="F3E9C7"/>
                </a:solidFill>
                <a:latin typeface="Consolas" panose="020B0609020204030204" pitchFamily="49" charset="0"/>
              </a:rPr>
              <a:t>меняем статус</a:t>
            </a:r>
          </a:p>
          <a:p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orderDAO.updateStatus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orderId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OrderStatus.SHIPPED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BE338"/>
                </a:solidFill>
                <a:latin typeface="Consolas" panose="020B0609020204030204" pitchFamily="49" charset="0"/>
              </a:rPr>
              <a:t>“C</a:t>
            </a:r>
            <a:r>
              <a:rPr lang="ru-RU" sz="1800" dirty="0" err="1">
                <a:solidFill>
                  <a:srgbClr val="ABE338"/>
                </a:solidFill>
                <a:latin typeface="Consolas" panose="020B0609020204030204" pitchFamily="49" charset="0"/>
              </a:rPr>
              <a:t>татус</a:t>
            </a:r>
            <a:r>
              <a:rPr lang="ru-RU" sz="1800" dirty="0">
                <a:solidFill>
                  <a:srgbClr val="ABE338"/>
                </a:solidFill>
                <a:latin typeface="Consolas" panose="020B0609020204030204" pitchFamily="49" charset="0"/>
              </a:rPr>
              <a:t> изменен на </a:t>
            </a:r>
            <a:r>
              <a:rPr lang="en-US" sz="1800" dirty="0">
                <a:solidFill>
                  <a:srgbClr val="ABE338"/>
                </a:solidFill>
                <a:latin typeface="Consolas" panose="020B0609020204030204" pitchFamily="49" charset="0"/>
              </a:rPr>
              <a:t>SHIPPED"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F3E9C7"/>
                </a:solidFill>
                <a:latin typeface="Consolas" panose="020B0609020204030204" pitchFamily="49" charset="0"/>
              </a:rPr>
              <a:t>// LIST — </a:t>
            </a:r>
            <a:r>
              <a:rPr lang="ru-RU" sz="1800" dirty="0">
                <a:solidFill>
                  <a:srgbClr val="F3E9C7"/>
                </a:solidFill>
                <a:latin typeface="Consolas" panose="020B0609020204030204" pitchFamily="49" charset="0"/>
              </a:rPr>
              <a:t>получаем все заказы клиента</a:t>
            </a:r>
          </a:p>
          <a:p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List&lt;Order&gt;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customerOrders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orderDAO.findByCustomerId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1L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BE338"/>
                </a:solidFill>
                <a:latin typeface="Consolas" panose="020B0609020204030204" pitchFamily="49" charset="0"/>
              </a:rPr>
              <a:t>Заказы клиента: "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+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customerOrders.size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F3E9C7"/>
                </a:solidFill>
                <a:latin typeface="Consolas" panose="020B0609020204030204" pitchFamily="49" charset="0"/>
              </a:rPr>
              <a:t>// STATS — </a:t>
            </a:r>
            <a:r>
              <a:rPr lang="ru-RU" sz="1800" dirty="0">
                <a:solidFill>
                  <a:srgbClr val="F3E9C7"/>
                </a:solidFill>
                <a:latin typeface="Consolas" panose="020B0609020204030204" pitchFamily="49" charset="0"/>
              </a:rPr>
              <a:t>считаем статистику</a:t>
            </a:r>
          </a:p>
          <a:p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</a:t>
            </a:r>
            <a:r>
              <a:rPr lang="en-US" sz="1800" dirty="0" err="1">
                <a:solidFill>
                  <a:srgbClr val="FFC000"/>
                </a:solidFill>
                <a:latin typeface="Consolas" panose="020B0609020204030204" pitchFamily="49" charset="0"/>
              </a:rPr>
              <a:t>OrderStats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5050"/>
                </a:solidFill>
                <a:latin typeface="Consolas" panose="020B0609020204030204" pitchFamily="49" charset="0"/>
              </a:rPr>
              <a:t>stats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orderDAO.getStats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BE338"/>
                </a:solidFill>
                <a:latin typeface="Consolas" panose="020B0609020204030204" pitchFamily="49" charset="0"/>
              </a:rPr>
              <a:t>Всего заказов: "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+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stats.totalOrders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BE338"/>
                </a:solidFill>
                <a:latin typeface="Consolas" panose="020B0609020204030204" pitchFamily="49" charset="0"/>
              </a:rPr>
              <a:t>Выручка: "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+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stats.totalRevenue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F3E9C7"/>
                </a:solidFill>
                <a:latin typeface="Consolas" panose="020B0609020204030204" pitchFamily="49" charset="0"/>
              </a:rPr>
              <a:t>// DELETE — </a:t>
            </a:r>
            <a:r>
              <a:rPr lang="ru-RU" sz="1800" dirty="0">
                <a:solidFill>
                  <a:srgbClr val="F3E9C7"/>
                </a:solidFill>
                <a:latin typeface="Consolas" panose="020B0609020204030204" pitchFamily="49" charset="0"/>
              </a:rPr>
              <a:t>удаляем заказ</a:t>
            </a:r>
          </a:p>
          <a:p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orderDAO.delete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orderId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BE338"/>
                </a:solidFill>
                <a:latin typeface="Consolas" panose="020B0609020204030204" pitchFamily="49" charset="0"/>
              </a:rPr>
              <a:t>Заказ удален"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  } </a:t>
            </a:r>
            <a:r>
              <a:rPr lang="en-US" sz="1800" dirty="0">
                <a:solidFill>
                  <a:srgbClr val="D47DFF"/>
                </a:solidFill>
                <a:latin typeface="Consolas" panose="020B0609020204030204" pitchFamily="49" charset="0"/>
              </a:rPr>
              <a:t>finally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DatabaseConfig.closeDataSource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1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2577</Words>
  <Application>Microsoft Office PowerPoint</Application>
  <PresentationFormat>Произвольный</PresentationFormat>
  <Paragraphs>357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Roboto</vt:lpstr>
      <vt:lpstr>Arial</vt:lpstr>
      <vt:lpstr>Consolas</vt:lpstr>
      <vt:lpstr>Playfair Display Black</vt:lpstr>
      <vt:lpstr>Courier New</vt:lpstr>
      <vt:lpstr>Calibri</vt:lpstr>
      <vt:lpstr>Corbel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30</cp:revision>
  <dcterms:modified xsi:type="dcterms:W3CDTF">2026-03-26T22:18:49Z</dcterms:modified>
</cp:coreProperties>
</file>