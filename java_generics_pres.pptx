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411479" y="822960"/>
            <a:ext cx="1005842" cy="1005841"/>
          </a:xfrm>
          <a:prstGeom prst="ellipse">
            <a:avLst/>
          </a:prstGeom>
          <a:solidFill>
            <a:srgbClr val="F89820"/>
          </a:solidFill>
          <a:ln w="12700">
            <a:solidFill>
              <a:srgbClr val="F8982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457200" y="948690"/>
            <a:ext cx="914400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400">
                <a:solidFill>
                  <a:srgbClr val="FFFFFF"/>
                </a:solidFill>
              </a:defRPr>
            </a:lvl1pPr>
          </a:lstStyle>
          <a:p>
            <a:pPr/>
            <a:r>
              <a:t>☕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1645919" y="1002208"/>
            <a:ext cx="7040882" cy="510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F89820"/>
                </a:solidFill>
              </a:defRPr>
            </a:lvl1pPr>
          </a:lstStyle>
          <a:p>
            <a:pPr/>
            <a:r>
              <a:t>Дженерики в Java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1645919" y="1856434"/>
            <a:ext cx="7040882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A0AEC0"/>
                </a:solidFill>
              </a:defRPr>
            </a:lvl1pPr>
          </a:lstStyle>
          <a:p>
            <a:pPr/>
            <a:r>
              <a:t>Generics — типобезопасное программирование</a:t>
            </a:r>
          </a:p>
        </p:txBody>
      </p:sp>
      <p:sp>
        <p:nvSpPr>
          <p:cNvPr id="24" name="Shape 4"/>
          <p:cNvSpPr/>
          <p:nvPr/>
        </p:nvSpPr>
        <p:spPr>
          <a:xfrm>
            <a:off x="1645920" y="2331720"/>
            <a:ext cx="5029201" cy="36577"/>
          </a:xfrm>
          <a:prstGeom prst="rect">
            <a:avLst/>
          </a:prstGeom>
          <a:solidFill>
            <a:srgbClr val="F89820"/>
          </a:solidFill>
          <a:ln w="12700">
            <a:solidFill>
              <a:srgbClr val="F8982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>
            <a:off x="1691639" y="2587751"/>
            <a:ext cx="128017" cy="128017"/>
          </a:xfrm>
          <a:prstGeom prst="ellipse">
            <a:avLst/>
          </a:prstGeom>
          <a:solidFill>
            <a:srgbClr val="F89820"/>
          </a:solidFill>
          <a:ln w="12700">
            <a:solidFill>
              <a:srgbClr val="F8982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1965960" y="2604954"/>
            <a:ext cx="5029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1. Определение </a:t>
            </a:r>
          </a:p>
        </p:txBody>
      </p:sp>
      <p:sp>
        <p:nvSpPr>
          <p:cNvPr id="27" name="Shape 7"/>
          <p:cNvSpPr/>
          <p:nvPr/>
        </p:nvSpPr>
        <p:spPr>
          <a:xfrm>
            <a:off x="1691639" y="2971800"/>
            <a:ext cx="128017" cy="128016"/>
          </a:xfrm>
          <a:prstGeom prst="ellipse">
            <a:avLst/>
          </a:prstGeom>
          <a:solidFill>
            <a:srgbClr val="F89820"/>
          </a:solidFill>
          <a:ln w="12700">
            <a:solidFill>
              <a:srgbClr val="F8982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1965960" y="2989003"/>
            <a:ext cx="5029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2–3. Базовый синтаксис (классы, интерфейсы, методы)</a:t>
            </a:r>
          </a:p>
        </p:txBody>
      </p:sp>
      <p:sp>
        <p:nvSpPr>
          <p:cNvPr id="29" name="Shape 9"/>
          <p:cNvSpPr/>
          <p:nvPr/>
        </p:nvSpPr>
        <p:spPr>
          <a:xfrm>
            <a:off x="1691639" y="3355847"/>
            <a:ext cx="128017" cy="128017"/>
          </a:xfrm>
          <a:prstGeom prst="ellipse">
            <a:avLst/>
          </a:prstGeom>
          <a:solidFill>
            <a:srgbClr val="F89820"/>
          </a:solidFill>
          <a:ln w="12700">
            <a:solidFill>
              <a:srgbClr val="F8982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10"/>
          <p:cNvSpPr txBox="1"/>
          <p:nvPr/>
        </p:nvSpPr>
        <p:spPr>
          <a:xfrm>
            <a:off x="1965960" y="3373051"/>
            <a:ext cx="5029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4–5. Ограничения</a:t>
            </a:r>
          </a:p>
        </p:txBody>
      </p:sp>
      <p:sp>
        <p:nvSpPr>
          <p:cNvPr id="31" name="Shape 11"/>
          <p:cNvSpPr/>
          <p:nvPr/>
        </p:nvSpPr>
        <p:spPr>
          <a:xfrm>
            <a:off x="1691639" y="3739896"/>
            <a:ext cx="128017" cy="128017"/>
          </a:xfrm>
          <a:prstGeom prst="ellipse">
            <a:avLst/>
          </a:prstGeom>
          <a:solidFill>
            <a:srgbClr val="F89820"/>
          </a:solidFill>
          <a:ln w="12700">
            <a:solidFill>
              <a:srgbClr val="F8982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12"/>
          <p:cNvSpPr txBox="1"/>
          <p:nvPr/>
        </p:nvSpPr>
        <p:spPr>
          <a:xfrm>
            <a:off x="1965960" y="3757098"/>
            <a:ext cx="5029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6. Wildcard </a:t>
            </a:r>
          </a:p>
        </p:txBody>
      </p:sp>
      <p:sp>
        <p:nvSpPr>
          <p:cNvPr id="33" name="Работу выполнили: Черняев Алексей и Мисарян Савва Группа: 5030102/40004"/>
          <p:cNvSpPr txBox="1"/>
          <p:nvPr/>
        </p:nvSpPr>
        <p:spPr>
          <a:xfrm>
            <a:off x="3688264" y="4345588"/>
            <a:ext cx="5409603" cy="62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t>Работу выполнили: Черняев Алексей и Мисарян Савва</a:t>
            </a:r>
            <a:br/>
            <a:r>
              <a:t>Группа: 5030102/40004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1"/>
          <p:cNvSpPr txBox="1"/>
          <p:nvPr/>
        </p:nvSpPr>
        <p:spPr>
          <a:xfrm>
            <a:off x="320040" y="225677"/>
            <a:ext cx="850392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89820"/>
                </a:solidFill>
              </a:defRPr>
            </a:lvl1pPr>
          </a:lstStyle>
          <a:p>
            <a:pPr/>
            <a:r>
              <a:t>1. Определение</a:t>
            </a:r>
          </a:p>
        </p:txBody>
      </p:sp>
      <p:sp>
        <p:nvSpPr>
          <p:cNvPr id="37" name="Shape 2"/>
          <p:cNvSpPr/>
          <p:nvPr/>
        </p:nvSpPr>
        <p:spPr>
          <a:xfrm>
            <a:off x="320040" y="960119"/>
            <a:ext cx="8503920" cy="1234442"/>
          </a:xfrm>
          <a:prstGeom prst="rect">
            <a:avLst/>
          </a:prstGeom>
          <a:solidFill>
            <a:srgbClr val="FFF8E7"/>
          </a:solidFill>
          <a:ln w="25400">
            <a:solidFill>
              <a:srgbClr val="F8982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3"/>
          <p:cNvSpPr txBox="1"/>
          <p:nvPr/>
        </p:nvSpPr>
        <p:spPr>
          <a:xfrm>
            <a:off x="502919" y="1258632"/>
            <a:ext cx="8229601" cy="646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1A1A2E"/>
                </a:solidFill>
              </a:defRPr>
            </a:pPr>
            <a:r>
              <a:t>Параметризация (Generics)</a:t>
            </a:r>
            <a:r>
              <a:rPr b="0"/>
              <a:t> — механизм Java, позволяющий создавать </a:t>
            </a:r>
            <a:r>
              <a:rPr>
                <a:solidFill>
                  <a:srgbClr val="0D6EFD"/>
                </a:solidFill>
              </a:rPr>
              <a:t>классы, интерфейсы и методы</a:t>
            </a:r>
            <a:r>
              <a:rPr b="0"/>
              <a:t>,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в которых </a:t>
            </a:r>
          </a:p>
          <a:p>
            <a:pPr>
              <a:defRPr b="1" sz="1400">
                <a:solidFill>
                  <a:srgbClr val="1A1A2E"/>
                </a:solidFill>
              </a:defRPr>
            </a:pPr>
            <a:r>
              <a:t>тип обрабатываемых данных задаётся как параметр</a:t>
            </a:r>
            <a:r>
              <a:rPr b="0"/>
              <a:t> — аналогично аргументам функций.</a:t>
            </a:r>
          </a:p>
        </p:txBody>
      </p:sp>
      <p:sp>
        <p:nvSpPr>
          <p:cNvPr id="39" name="Shape 4"/>
          <p:cNvSpPr/>
          <p:nvPr/>
        </p:nvSpPr>
        <p:spPr>
          <a:xfrm>
            <a:off x="274319" y="2377439"/>
            <a:ext cx="2788922" cy="246888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5"/>
          <p:cNvSpPr txBox="1"/>
          <p:nvPr/>
        </p:nvSpPr>
        <p:spPr>
          <a:xfrm>
            <a:off x="274319" y="2573020"/>
            <a:ext cx="278892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🔒</a:t>
            </a:r>
          </a:p>
        </p:txBody>
      </p:sp>
      <p:sp>
        <p:nvSpPr>
          <p:cNvPr id="41" name="Text 6"/>
          <p:cNvSpPr txBox="1"/>
          <p:nvPr/>
        </p:nvSpPr>
        <p:spPr>
          <a:xfrm>
            <a:off x="274319" y="3217603"/>
            <a:ext cx="2788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2E"/>
                </a:solidFill>
              </a:defRPr>
            </a:lvl1pPr>
          </a:lstStyle>
          <a:p>
            <a:pPr/>
            <a:r>
              <a:t>Типобезопасность</a:t>
            </a:r>
          </a:p>
        </p:txBody>
      </p:sp>
      <p:sp>
        <p:nvSpPr>
          <p:cNvPr id="42" name="Text 7"/>
          <p:cNvSpPr txBox="1"/>
          <p:nvPr/>
        </p:nvSpPr>
        <p:spPr>
          <a:xfrm>
            <a:off x="365760" y="3795444"/>
            <a:ext cx="2606040" cy="629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List&lt;String&gt;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br/>
            <a:r>
              <a:t>Ошибки типов обнаруживаются на этапе компиляции, а не в рантайме</a:t>
            </a:r>
          </a:p>
        </p:txBody>
      </p:sp>
      <p:sp>
        <p:nvSpPr>
          <p:cNvPr id="43" name="Shape 8"/>
          <p:cNvSpPr/>
          <p:nvPr/>
        </p:nvSpPr>
        <p:spPr>
          <a:xfrm>
            <a:off x="3182111" y="2377439"/>
            <a:ext cx="2788922" cy="246888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9"/>
          <p:cNvSpPr txBox="1"/>
          <p:nvPr/>
        </p:nvSpPr>
        <p:spPr>
          <a:xfrm>
            <a:off x="3182111" y="2573020"/>
            <a:ext cx="278892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♻️</a:t>
            </a:r>
          </a:p>
        </p:txBody>
      </p:sp>
      <p:sp>
        <p:nvSpPr>
          <p:cNvPr id="45" name="Text 10"/>
          <p:cNvSpPr txBox="1"/>
          <p:nvPr/>
        </p:nvSpPr>
        <p:spPr>
          <a:xfrm>
            <a:off x="3182111" y="3217603"/>
            <a:ext cx="2788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A1A2E"/>
                </a:solidFill>
              </a:defRPr>
            </a:lvl1pPr>
          </a:lstStyle>
          <a:p>
            <a:pPr/>
            <a:r>
              <a:t>Переиспользование</a:t>
            </a:r>
          </a:p>
        </p:txBody>
      </p:sp>
      <p:sp>
        <p:nvSpPr>
          <p:cNvPr id="46" name="Text 11"/>
          <p:cNvSpPr txBox="1"/>
          <p:nvPr/>
        </p:nvSpPr>
        <p:spPr>
          <a:xfrm>
            <a:off x="3273552" y="3792455"/>
            <a:ext cx="2606041" cy="6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StringList, IntegerList, DoubleList –&gt;</a:t>
            </a:r>
            <a:r>
              <a:rPr sz="1000"/>
              <a:t> List&lt;T&gt;</a:t>
            </a:r>
            <a:endParaRPr sz="1000"/>
          </a:p>
          <a:p>
            <a:pPr algn="ctr">
              <a:defRPr sz="1100">
                <a:solidFill>
                  <a:srgbClr val="64748B"/>
                </a:solidFill>
              </a:defRPr>
            </a:pPr>
            <a:br/>
            <a:r>
              <a:t>Один класс/метод работает с любым допустимым типом данных</a:t>
            </a:r>
          </a:p>
        </p:txBody>
      </p:sp>
      <p:sp>
        <p:nvSpPr>
          <p:cNvPr id="47" name="Shape 12"/>
          <p:cNvSpPr/>
          <p:nvPr/>
        </p:nvSpPr>
        <p:spPr>
          <a:xfrm>
            <a:off x="6089903" y="2377439"/>
            <a:ext cx="2788921" cy="246888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13"/>
          <p:cNvSpPr txBox="1"/>
          <p:nvPr/>
        </p:nvSpPr>
        <p:spPr>
          <a:xfrm>
            <a:off x="6089903" y="2573020"/>
            <a:ext cx="278892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🔄</a:t>
            </a:r>
          </a:p>
        </p:txBody>
      </p:sp>
      <p:sp>
        <p:nvSpPr>
          <p:cNvPr id="49" name="Text 14"/>
          <p:cNvSpPr txBox="1"/>
          <p:nvPr/>
        </p:nvSpPr>
        <p:spPr>
          <a:xfrm>
            <a:off x="6089903" y="3116003"/>
            <a:ext cx="278892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1A1A2E"/>
                </a:solidFill>
              </a:defRPr>
            </a:pPr>
            <a:r>
              <a:t>Type Erasure </a:t>
            </a:r>
            <a:br/>
            <a:r>
              <a:t>(Стирание типов)</a:t>
            </a:r>
          </a:p>
        </p:txBody>
      </p:sp>
      <p:sp>
        <p:nvSpPr>
          <p:cNvPr id="50" name="Text 15"/>
          <p:cNvSpPr txBox="1"/>
          <p:nvPr/>
        </p:nvSpPr>
        <p:spPr>
          <a:xfrm>
            <a:off x="6181344" y="3960544"/>
            <a:ext cx="260604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В рантайме тип стирается: T –&gt; Object Отсюда все ограничения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1"/>
          <p:cNvSpPr txBox="1"/>
          <p:nvPr/>
        </p:nvSpPr>
        <p:spPr>
          <a:xfrm>
            <a:off x="320040" y="255368"/>
            <a:ext cx="8503920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89820"/>
                </a:solidFill>
              </a:defRPr>
            </a:lvl1pPr>
          </a:lstStyle>
          <a:p>
            <a:pPr/>
            <a:r>
              <a:t>2. Проблема: без дженериков vs с дженериками</a:t>
            </a:r>
          </a:p>
        </p:txBody>
      </p:sp>
      <p:sp>
        <p:nvSpPr>
          <p:cNvPr id="54" name="Text 2"/>
          <p:cNvSpPr txBox="1"/>
          <p:nvPr/>
        </p:nvSpPr>
        <p:spPr>
          <a:xfrm>
            <a:off x="274319" y="933703"/>
            <a:ext cx="43891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06C75"/>
                </a:solidFill>
              </a:defRPr>
            </a:lvl1pPr>
          </a:lstStyle>
          <a:p>
            <a:pPr/>
            <a:r>
              <a:t>❌  Без дженериков — ошибка в рантайме</a:t>
            </a:r>
          </a:p>
        </p:txBody>
      </p:sp>
      <p:sp>
        <p:nvSpPr>
          <p:cNvPr id="55" name="Shape 3"/>
          <p:cNvSpPr/>
          <p:nvPr/>
        </p:nvSpPr>
        <p:spPr>
          <a:xfrm>
            <a:off x="274319" y="1225296"/>
            <a:ext cx="4389122" cy="228600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4"/>
          <p:cNvSpPr txBox="1"/>
          <p:nvPr/>
        </p:nvSpPr>
        <p:spPr>
          <a:xfrm>
            <a:off x="411479" y="1316736"/>
            <a:ext cx="4206242" cy="1158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List</a:t>
            </a:r>
            <a:r>
              <a:rPr>
                <a:solidFill>
                  <a:srgbClr val="FFFFFF"/>
                </a:solidFill>
              </a:rPr>
              <a:t> list = new </a:t>
            </a:r>
            <a:r>
              <a:t>ArrayList</a:t>
            </a:r>
            <a:r>
              <a:rPr>
                <a:solidFill>
                  <a:srgbClr val="FFFFFF"/>
                </a:solidFill>
              </a:rPr>
              <a:t>();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D19A66"/>
                </a:solidFill>
              </a:rPr>
              <a:t>list.add("hello");</a:t>
            </a:r>
            <a:endParaRPr>
              <a:solidFill>
                <a:srgbClr val="D19A66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D19A66"/>
                </a:solidFill>
              </a:rPr>
              <a:t>list.add(42);</a:t>
            </a:r>
            <a:endParaRPr>
              <a:solidFill>
                <a:srgbClr val="D19A66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C6370"/>
                </a:solidFill>
              </a:rPr>
              <a:t>// нормально для компилятора!</a:t>
            </a:r>
            <a:endParaRPr>
              <a:solidFill>
                <a:srgbClr val="5C6370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5C6370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String</a:t>
            </a:r>
            <a:r>
              <a:rPr>
                <a:solidFill>
                  <a:srgbClr val="FFFFFF"/>
                </a:solidFill>
              </a:rPr>
              <a:t> s = (</a:t>
            </a:r>
            <a:r>
              <a:t>String</a:t>
            </a:r>
            <a:r>
              <a:rPr>
                <a:solidFill>
                  <a:srgbClr val="FFFFFF"/>
                </a:solidFill>
              </a:rPr>
              <a:t>) list.get(1);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E06C75"/>
                </a:solidFill>
              </a:rPr>
              <a:t>// ошибка ClassCastException!</a:t>
            </a:r>
          </a:p>
        </p:txBody>
      </p:sp>
      <p:sp>
        <p:nvSpPr>
          <p:cNvPr id="57" name="Shape 5"/>
          <p:cNvSpPr/>
          <p:nvPr/>
        </p:nvSpPr>
        <p:spPr>
          <a:xfrm>
            <a:off x="274319" y="3584447"/>
            <a:ext cx="4389122" cy="1234441"/>
          </a:xfrm>
          <a:prstGeom prst="rect">
            <a:avLst/>
          </a:prstGeom>
          <a:solidFill>
            <a:srgbClr val="2D0000"/>
          </a:solidFill>
          <a:ln w="12700">
            <a:solidFill>
              <a:srgbClr val="E06C7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6"/>
          <p:cNvSpPr txBox="1"/>
          <p:nvPr/>
        </p:nvSpPr>
        <p:spPr>
          <a:xfrm>
            <a:off x="365759" y="3662216"/>
            <a:ext cx="4206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06C75"/>
                </a:solidFill>
              </a:defRPr>
            </a:lvl1pPr>
          </a:lstStyle>
          <a:p>
            <a:pPr/>
            <a:r>
              <a:t>Вывод:</a:t>
            </a:r>
          </a:p>
        </p:txBody>
      </p:sp>
      <p:sp>
        <p:nvSpPr>
          <p:cNvPr id="59" name="Text 7"/>
          <p:cNvSpPr txBox="1"/>
          <p:nvPr/>
        </p:nvSpPr>
        <p:spPr>
          <a:xfrm>
            <a:off x="411479" y="3858767"/>
            <a:ext cx="4206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java.lang.ClassCastException:</a:t>
            </a:r>
          </a:p>
          <a:p>
            <a:pPr>
              <a:defRPr sz="100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FA0A0"/>
                </a:solidFill>
              </a:rPr>
              <a:t>  Integer cannot be cast to String</a:t>
            </a:r>
            <a:endParaRPr>
              <a:solidFill>
                <a:srgbClr val="FFA0A0"/>
              </a:solidFill>
            </a:endParaRPr>
          </a:p>
          <a:p>
            <a:pPr>
              <a:defRPr sz="100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88888"/>
                </a:solidFill>
              </a:rPr>
              <a:t>  at Main.main(Main.java:5)</a:t>
            </a:r>
          </a:p>
        </p:txBody>
      </p:sp>
      <p:sp>
        <p:nvSpPr>
          <p:cNvPr id="60" name="Text 8"/>
          <p:cNvSpPr txBox="1"/>
          <p:nvPr/>
        </p:nvSpPr>
        <p:spPr>
          <a:xfrm>
            <a:off x="4846320" y="933703"/>
            <a:ext cx="420624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50C878"/>
                </a:solidFill>
              </a:defRPr>
            </a:lvl1pPr>
          </a:lstStyle>
          <a:p>
            <a:pPr/>
            <a:r>
              <a:t>✅  С дженериками — ошибка на компиляции</a:t>
            </a:r>
          </a:p>
        </p:txBody>
      </p:sp>
      <p:sp>
        <p:nvSpPr>
          <p:cNvPr id="61" name="Shape 9"/>
          <p:cNvSpPr/>
          <p:nvPr/>
        </p:nvSpPr>
        <p:spPr>
          <a:xfrm>
            <a:off x="4846320" y="1225296"/>
            <a:ext cx="4114801" cy="228600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0"/>
          <p:cNvSpPr txBox="1"/>
          <p:nvPr/>
        </p:nvSpPr>
        <p:spPr>
          <a:xfrm>
            <a:off x="4983479" y="1316736"/>
            <a:ext cx="3931921" cy="996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List</a:t>
            </a:r>
            <a:r>
              <a:rPr>
                <a:solidFill>
                  <a:srgbClr val="FFFFFF"/>
                </a:solidFill>
              </a:rPr>
              <a:t>&lt;</a:t>
            </a:r>
            <a:r>
              <a:t>String</a:t>
            </a:r>
            <a:r>
              <a:rPr>
                <a:solidFill>
                  <a:srgbClr val="FFFFFF"/>
                </a:solidFill>
              </a:rPr>
              <a:t>&gt; list = new </a:t>
            </a:r>
            <a:r>
              <a:t>ArrayList</a:t>
            </a:r>
            <a:r>
              <a:rPr>
                <a:solidFill>
                  <a:srgbClr val="FFFFFF"/>
                </a:solidFill>
              </a:rPr>
              <a:t>&lt;&gt;();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D19A66"/>
                </a:solidFill>
              </a:rPr>
              <a:t>list.add("hello");  </a:t>
            </a:r>
            <a:r>
              <a:rPr>
                <a:solidFill>
                  <a:srgbClr val="5C6370"/>
                </a:solidFill>
              </a:rPr>
              <a:t>// скомпилировалось</a:t>
            </a:r>
            <a:endParaRPr>
              <a:solidFill>
                <a:srgbClr val="5C6370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D19A66"/>
                </a:solidFill>
              </a:rPr>
              <a:t>list.add(42);       </a:t>
            </a:r>
            <a:r>
              <a:rPr>
                <a:solidFill>
                  <a:srgbClr val="E06C75"/>
                </a:solidFill>
              </a:rPr>
              <a:t>// не скомпилировалось</a:t>
            </a:r>
            <a:endParaRPr>
              <a:solidFill>
                <a:srgbClr val="E06C75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E06C75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C6370"/>
                </a:solidFill>
              </a:rPr>
              <a:t>// каст не нужен:</a:t>
            </a:r>
            <a:endParaRPr>
              <a:solidFill>
                <a:srgbClr val="5C6370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String</a:t>
            </a:r>
            <a:r>
              <a:rPr>
                <a:solidFill>
                  <a:srgbClr val="FFFFFF"/>
                </a:solidFill>
              </a:rPr>
              <a:t> s = list.get(0);  </a:t>
            </a:r>
            <a:r>
              <a:rPr>
                <a:solidFill>
                  <a:srgbClr val="5C6370"/>
                </a:solidFill>
              </a:rPr>
              <a:t>// все хорошо</a:t>
            </a:r>
          </a:p>
        </p:txBody>
      </p:sp>
      <p:sp>
        <p:nvSpPr>
          <p:cNvPr id="63" name="Shape 11"/>
          <p:cNvSpPr/>
          <p:nvPr/>
        </p:nvSpPr>
        <p:spPr>
          <a:xfrm>
            <a:off x="4846320" y="3584447"/>
            <a:ext cx="4114801" cy="1234441"/>
          </a:xfrm>
          <a:prstGeom prst="rect">
            <a:avLst/>
          </a:prstGeom>
          <a:solidFill>
            <a:srgbClr val="002D00"/>
          </a:solidFill>
          <a:ln w="12700">
            <a:solidFill>
              <a:srgbClr val="50C87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12"/>
          <p:cNvSpPr txBox="1"/>
          <p:nvPr/>
        </p:nvSpPr>
        <p:spPr>
          <a:xfrm>
            <a:off x="4937759" y="3662216"/>
            <a:ext cx="3931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0C878"/>
                </a:solidFill>
              </a:defRPr>
            </a:lvl1pPr>
          </a:lstStyle>
          <a:p>
            <a:pPr/>
            <a:r>
              <a:t>Ошибка компилятора:</a:t>
            </a:r>
          </a:p>
        </p:txBody>
      </p:sp>
      <p:sp>
        <p:nvSpPr>
          <p:cNvPr id="65" name="Text 13"/>
          <p:cNvSpPr txBox="1"/>
          <p:nvPr/>
        </p:nvSpPr>
        <p:spPr>
          <a:xfrm>
            <a:off x="4983479" y="3858767"/>
            <a:ext cx="393192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error: incompatible types:</a:t>
            </a:r>
          </a:p>
          <a:p>
            <a:pPr>
              <a:defRPr sz="100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FA0A0"/>
                </a:solidFill>
              </a:rPr>
              <a:t>  int cannot be converted to String</a:t>
            </a:r>
            <a:endParaRPr>
              <a:solidFill>
                <a:srgbClr val="FFA0A0"/>
              </a:solidFill>
            </a:endParaRPr>
          </a:p>
          <a:p>
            <a:pPr>
              <a:defRPr sz="100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88888"/>
                </a:solidFill>
              </a:rPr>
              <a:t>  list.add(42);</a:t>
            </a:r>
          </a:p>
          <a:p>
            <a:pPr>
              <a:defRPr sz="10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^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320040" y="229224"/>
            <a:ext cx="8503920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89820"/>
                </a:solidFill>
              </a:defRPr>
            </a:lvl1pPr>
          </a:lstStyle>
          <a:p>
            <a:pPr/>
            <a:r>
              <a:t>3. Параметризованный класс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274320" y="982271"/>
            <a:ext cx="4297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A2E"/>
                </a:solidFill>
              </a:defRPr>
            </a:lvl1pPr>
          </a:lstStyle>
          <a:p>
            <a:pPr/>
            <a:r>
              <a:t>Объявление</a:t>
            </a:r>
          </a:p>
        </p:txBody>
      </p:sp>
      <p:sp>
        <p:nvSpPr>
          <p:cNvPr id="70" name="Shape 3"/>
          <p:cNvSpPr/>
          <p:nvPr/>
        </p:nvSpPr>
        <p:spPr>
          <a:xfrm>
            <a:off x="274320" y="1207008"/>
            <a:ext cx="429768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411480" y="1298447"/>
            <a:ext cx="4114801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class </a:t>
            </a:r>
            <a:r>
              <a:rPr>
                <a:solidFill>
                  <a:srgbClr val="61AFEF"/>
                </a:solidFill>
              </a:rPr>
              <a:t>Wrapper</a:t>
            </a:r>
            <a:r>
              <a:rPr>
                <a:solidFill>
                  <a:srgbClr val="FFFFFF"/>
                </a:solidFill>
              </a:rPr>
              <a:t>&lt;T&gt; {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private </a:t>
            </a:r>
            <a:r>
              <a:rPr>
                <a:solidFill>
                  <a:srgbClr val="61AFEF"/>
                </a:solidFill>
              </a:rPr>
              <a:t>T</a:t>
            </a:r>
            <a:r>
              <a:rPr>
                <a:solidFill>
                  <a:srgbClr val="FFFFFF"/>
                </a:solidFill>
              </a:rPr>
              <a:t> item;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public void </a:t>
            </a:r>
            <a:r>
              <a:rPr>
                <a:solidFill>
                  <a:srgbClr val="98C379"/>
                </a:solidFill>
              </a:rPr>
              <a:t>setItem</a:t>
            </a:r>
            <a:r>
              <a:rPr>
                <a:solidFill>
                  <a:srgbClr val="FFFFFF"/>
                </a:solidFill>
              </a:rPr>
              <a:t>(</a:t>
            </a:r>
            <a:r>
              <a:rPr>
                <a:solidFill>
                  <a:srgbClr val="61AFEF"/>
                </a:solidFill>
              </a:rPr>
              <a:t>T</a:t>
            </a:r>
            <a:r>
              <a:rPr>
                <a:solidFill>
                  <a:srgbClr val="FFFFFF"/>
                </a:solidFill>
              </a:rPr>
              <a:t> item) {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this</a:t>
            </a:r>
            <a:r>
              <a:rPr>
                <a:solidFill>
                  <a:srgbClr val="FFFFFF"/>
                </a:solidFill>
              </a:rPr>
              <a:t>.item = item;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FFFFF"/>
                </a:solidFill>
              </a:rPr>
              <a:t>  }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public </a:t>
            </a:r>
            <a:r>
              <a:rPr>
                <a:solidFill>
                  <a:srgbClr val="61AFEF"/>
                </a:solidFill>
              </a:rPr>
              <a:t>T </a:t>
            </a:r>
            <a:r>
              <a:rPr>
                <a:solidFill>
                  <a:srgbClr val="98C379"/>
                </a:solidFill>
              </a:rPr>
              <a:t>getItem</a:t>
            </a:r>
            <a:r>
              <a:rPr>
                <a:solidFill>
                  <a:srgbClr val="FFFFFF"/>
                </a:solidFill>
              </a:rPr>
              <a:t>() {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return item;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}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4754879" y="982271"/>
            <a:ext cx="4114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A2E"/>
                </a:solidFill>
              </a:defRPr>
            </a:lvl1pPr>
          </a:lstStyle>
          <a:p>
            <a:pPr/>
            <a:r>
              <a:t>Использование</a:t>
            </a:r>
          </a:p>
        </p:txBody>
      </p:sp>
      <p:sp>
        <p:nvSpPr>
          <p:cNvPr id="73" name="Shape 6"/>
          <p:cNvSpPr/>
          <p:nvPr/>
        </p:nvSpPr>
        <p:spPr>
          <a:xfrm>
            <a:off x="4754879" y="1207008"/>
            <a:ext cx="4114801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4892040" y="1298447"/>
            <a:ext cx="3931921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61AFEF"/>
                </a:solidFill>
              </a:rPr>
              <a:t>Wrapper</a:t>
            </a:r>
            <a:r>
              <a:rPr>
                <a:solidFill>
                  <a:srgbClr val="FFFFFF"/>
                </a:solidFill>
              </a:rPr>
              <a:t>&lt;</a:t>
            </a:r>
            <a:r>
              <a:rPr>
                <a:solidFill>
                  <a:srgbClr val="61AFEF"/>
                </a:solidFill>
              </a:rPr>
              <a:t>Integer</a:t>
            </a:r>
            <a:r>
              <a:rPr>
                <a:solidFill>
                  <a:srgbClr val="FFFFFF"/>
                </a:solidFill>
              </a:rPr>
              <a:t>&gt; w1 = new </a:t>
            </a:r>
            <a:r>
              <a:rPr>
                <a:solidFill>
                  <a:srgbClr val="61AFEF"/>
                </a:solidFill>
              </a:rPr>
              <a:t>Wrapper</a:t>
            </a:r>
            <a:r>
              <a:rPr>
                <a:solidFill>
                  <a:srgbClr val="FFFFFF"/>
                </a:solidFill>
              </a:rPr>
              <a:t>&lt;&gt;();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// явный тип</a:t>
            </a: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61AFEF"/>
                </a:solidFill>
              </a:rPr>
              <a:t>Wrapper</a:t>
            </a:r>
            <a:r>
              <a:rPr>
                <a:solidFill>
                  <a:srgbClr val="FFFFFF"/>
                </a:solidFill>
              </a:rPr>
              <a:t>&lt;</a:t>
            </a:r>
            <a:r>
              <a:rPr>
                <a:solidFill>
                  <a:srgbClr val="61AFEF"/>
                </a:solidFill>
              </a:rPr>
              <a:t>Integer</a:t>
            </a:r>
            <a:r>
              <a:rPr>
                <a:solidFill>
                  <a:srgbClr val="FFFFFF"/>
                </a:solidFill>
              </a:rPr>
              <a:t>&gt; w2 = new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</a:t>
            </a:r>
          </a:p>
          <a:p>
            <a:pPr>
              <a:defRPr sz="10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Wrapper</a:t>
            </a:r>
            <a:r>
              <a:rPr>
                <a:solidFill>
                  <a:srgbClr val="FFFFFF"/>
                </a:solidFill>
              </a:rPr>
              <a:t>&lt;</a:t>
            </a:r>
            <a:r>
              <a:t>Integer</a:t>
            </a:r>
            <a:r>
              <a:rPr>
                <a:solidFill>
                  <a:srgbClr val="FFFFFF"/>
                </a:solidFill>
              </a:rPr>
              <a:t>&gt;();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FFFFF"/>
                </a:solidFill>
              </a:rPr>
              <a:t>w1.</a:t>
            </a:r>
            <a:r>
              <a:rPr>
                <a:solidFill>
                  <a:srgbClr val="98C379"/>
                </a:solidFill>
              </a:rPr>
              <a:t>setItem</a:t>
            </a:r>
            <a:r>
              <a:rPr>
                <a:solidFill>
                  <a:srgbClr val="FFFFFF"/>
                </a:solidFill>
              </a:rPr>
              <a:t>(42);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Integer</a:t>
            </a:r>
            <a:r>
              <a:rPr>
                <a:solidFill>
                  <a:srgbClr val="FFFFFF"/>
                </a:solidFill>
              </a:rPr>
              <a:t> v = w1.</a:t>
            </a:r>
            <a:r>
              <a:rPr>
                <a:solidFill>
                  <a:srgbClr val="98C379"/>
                </a:solidFill>
              </a:rPr>
              <a:t>getItem</a:t>
            </a:r>
            <a:r>
              <a:rPr>
                <a:solidFill>
                  <a:srgbClr val="FFFFFF"/>
                </a:solidFill>
              </a:rPr>
              <a:t>();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C6370"/>
                </a:solidFill>
              </a:rPr>
              <a:t>// v = 42</a:t>
            </a:r>
          </a:p>
        </p:txBody>
      </p:sp>
      <p:sp>
        <p:nvSpPr>
          <p:cNvPr id="75" name="Shape 8"/>
          <p:cNvSpPr/>
          <p:nvPr/>
        </p:nvSpPr>
        <p:spPr>
          <a:xfrm>
            <a:off x="274320" y="3931920"/>
            <a:ext cx="8595360" cy="868681"/>
          </a:xfrm>
          <a:prstGeom prst="rect">
            <a:avLst/>
          </a:prstGeom>
          <a:solidFill>
            <a:srgbClr val="EBF0FF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9"/>
          <p:cNvSpPr txBox="1"/>
          <p:nvPr/>
        </p:nvSpPr>
        <p:spPr>
          <a:xfrm>
            <a:off x="411479" y="4097675"/>
            <a:ext cx="8321042" cy="509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💡  </a:t>
            </a:r>
            <a:r>
              <a:rPr sz="1200"/>
              <a:t>При создании объекта фиктивный тип </a:t>
            </a:r>
            <a:r>
              <a:rPr b="1" sz="1200">
                <a:solidFill>
                  <a:srgbClr val="0D6EFD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sz="1200"/>
              <a:t> заменяется на реальный.</a:t>
            </a:r>
            <a:endParaRPr sz="1200"/>
          </a:p>
          <a:p>
            <a:pPr>
              <a:defRPr sz="1400">
                <a:solidFill>
                  <a:srgbClr val="1A1A2E"/>
                </a:solidFill>
              </a:defRPr>
            </a:pPr>
            <a:r>
              <a:rPr sz="1200"/>
              <a:t>     Можно использовать несколько параметров: </a:t>
            </a:r>
            <a:r>
              <a:rPr sz="1200">
                <a:solidFill>
                  <a:srgbClr val="0D6EFD"/>
                </a:solidFill>
                <a:latin typeface="Consolas"/>
                <a:ea typeface="Consolas"/>
                <a:cs typeface="Consolas"/>
                <a:sym typeface="Consolas"/>
              </a:rPr>
              <a:t>class Map&lt;K, V&gt;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1"/>
          <p:cNvSpPr txBox="1"/>
          <p:nvPr/>
        </p:nvSpPr>
        <p:spPr>
          <a:xfrm>
            <a:off x="320040" y="256769"/>
            <a:ext cx="8503920" cy="291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F89820"/>
                </a:solidFill>
              </a:defRPr>
            </a:lvl1pPr>
          </a:lstStyle>
          <a:p>
            <a:pPr/>
            <a:r>
              <a:t>4. Параметризованный интерфейс и метод</a:t>
            </a:r>
          </a:p>
        </p:txBody>
      </p:sp>
      <p:sp>
        <p:nvSpPr>
          <p:cNvPr id="80" name="Text 2"/>
          <p:cNvSpPr txBox="1"/>
          <p:nvPr/>
        </p:nvSpPr>
        <p:spPr>
          <a:xfrm>
            <a:off x="274320" y="982271"/>
            <a:ext cx="4297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A2E"/>
                </a:solidFill>
              </a:defRPr>
            </a:lvl1pPr>
          </a:lstStyle>
          <a:p>
            <a:pPr/>
            <a:r>
              <a:t>Интерфейс</a:t>
            </a:r>
          </a:p>
        </p:txBody>
      </p:sp>
      <p:sp>
        <p:nvSpPr>
          <p:cNvPr id="81" name="Shape 3"/>
          <p:cNvSpPr/>
          <p:nvPr/>
        </p:nvSpPr>
        <p:spPr>
          <a:xfrm>
            <a:off x="274320" y="1207008"/>
            <a:ext cx="4297680" cy="178307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4"/>
          <p:cNvSpPr txBox="1"/>
          <p:nvPr/>
        </p:nvSpPr>
        <p:spPr>
          <a:xfrm>
            <a:off x="411480" y="1298447"/>
            <a:ext cx="4114801" cy="1157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interface </a:t>
            </a:r>
            <a:r>
              <a:rPr>
                <a:solidFill>
                  <a:srgbClr val="61AFEF"/>
                </a:solidFill>
              </a:rPr>
              <a:t>Pair</a:t>
            </a:r>
            <a:r>
              <a:rPr>
                <a:solidFill>
                  <a:srgbClr val="FFFFFF"/>
                </a:solidFill>
              </a:rPr>
              <a:t>&lt;A, B&gt; {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61AFEF"/>
                </a:solidFill>
              </a:rPr>
              <a:t>  A </a:t>
            </a:r>
            <a:r>
              <a:rPr>
                <a:solidFill>
                  <a:srgbClr val="98C379"/>
                </a:solidFill>
              </a:rPr>
              <a:t>getFirst</a:t>
            </a:r>
            <a:r>
              <a:rPr>
                <a:solidFill>
                  <a:srgbClr val="FFFFFF"/>
                </a:solidFill>
              </a:rPr>
              <a:t>();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61AFEF"/>
                </a:solidFill>
              </a:rPr>
              <a:t>  B </a:t>
            </a:r>
            <a:r>
              <a:rPr>
                <a:solidFill>
                  <a:srgbClr val="98C379"/>
                </a:solidFill>
              </a:rPr>
              <a:t>getSecond</a:t>
            </a:r>
            <a:r>
              <a:rPr>
                <a:solidFill>
                  <a:srgbClr val="FFFFFF"/>
                </a:solidFill>
              </a:rPr>
              <a:t>();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FFFFF"/>
                </a:solidFill>
              </a:rPr>
              <a:t>}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C6370"/>
                </a:solidFill>
              </a:rPr>
              <a:t>// Несколько type-параметров:</a:t>
            </a:r>
            <a:endParaRPr>
              <a:solidFill>
                <a:srgbClr val="5C6370"/>
              </a:solidFill>
            </a:endParaRPr>
          </a:p>
          <a:p>
            <a:pPr>
              <a:defRPr sz="11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61AFEF"/>
                </a:solidFill>
              </a:rPr>
              <a:t>Pair</a:t>
            </a:r>
            <a:r>
              <a:rPr>
                <a:solidFill>
                  <a:srgbClr val="FFFFFF"/>
                </a:solidFill>
              </a:rPr>
              <a:t>&lt;</a:t>
            </a:r>
            <a:r>
              <a:rPr>
                <a:solidFill>
                  <a:srgbClr val="61AFEF"/>
                </a:solidFill>
              </a:rPr>
              <a:t>String</a:t>
            </a:r>
            <a:r>
              <a:rPr>
                <a:solidFill>
                  <a:srgbClr val="FFFFFF"/>
                </a:solidFill>
              </a:rPr>
              <a:t>, </a:t>
            </a:r>
            <a:r>
              <a:rPr>
                <a:solidFill>
                  <a:srgbClr val="61AFEF"/>
                </a:solidFill>
              </a:rPr>
              <a:t>Integer</a:t>
            </a:r>
            <a:r>
              <a:rPr>
                <a:solidFill>
                  <a:srgbClr val="FFFFFF"/>
                </a:solidFill>
              </a:rPr>
              <a:t>&gt; p = ...;</a:t>
            </a:r>
          </a:p>
        </p:txBody>
      </p:sp>
      <p:sp>
        <p:nvSpPr>
          <p:cNvPr id="83" name="Text 5"/>
          <p:cNvSpPr txBox="1"/>
          <p:nvPr/>
        </p:nvSpPr>
        <p:spPr>
          <a:xfrm>
            <a:off x="4754879" y="982271"/>
            <a:ext cx="4114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A2E"/>
                </a:solidFill>
              </a:defRPr>
            </a:lvl1pPr>
          </a:lstStyle>
          <a:p>
            <a:pPr/>
            <a:r>
              <a:t>Параметризованный метод</a:t>
            </a:r>
          </a:p>
        </p:txBody>
      </p:sp>
      <p:sp>
        <p:nvSpPr>
          <p:cNvPr id="84" name="Shape 6"/>
          <p:cNvSpPr/>
          <p:nvPr/>
        </p:nvSpPr>
        <p:spPr>
          <a:xfrm>
            <a:off x="4754879" y="1207008"/>
            <a:ext cx="4114801" cy="178307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7"/>
          <p:cNvSpPr txBox="1"/>
          <p:nvPr/>
        </p:nvSpPr>
        <p:spPr>
          <a:xfrm>
            <a:off x="4892040" y="1298447"/>
            <a:ext cx="3931921" cy="1487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class </a:t>
            </a:r>
            <a:r>
              <a:rPr>
                <a:solidFill>
                  <a:srgbClr val="61AFEF"/>
                </a:solidFill>
              </a:rPr>
              <a:t>Utils</a:t>
            </a:r>
            <a:r>
              <a:rPr>
                <a:solidFill>
                  <a:srgbClr val="FFFFFF"/>
                </a:solidFill>
              </a:rPr>
              <a:t> {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C6370"/>
                </a:solidFill>
              </a:rPr>
              <a:t>  // &lt;T&gt; — свой параметр метода</a:t>
            </a:r>
            <a:endParaRPr>
              <a:solidFill>
                <a:srgbClr val="5C6370"/>
              </a:solidFill>
            </a:endParaRPr>
          </a:p>
          <a:p>
            <a:pPr>
              <a:defRPr sz="11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public static </a:t>
            </a:r>
            <a:r>
              <a:rPr>
                <a:solidFill>
                  <a:srgbClr val="61AFEF"/>
                </a:solidFill>
              </a:rPr>
              <a:t>&lt;T&gt;</a:t>
            </a:r>
            <a:r>
              <a:rPr>
                <a:solidFill>
                  <a:srgbClr val="FFFFFF"/>
                </a:solidFill>
              </a:rPr>
              <a:t> void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</a:t>
            </a:r>
          </a:p>
          <a:p>
            <a:pPr>
              <a:defRPr sz="11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print</a:t>
            </a:r>
            <a:r>
              <a:rPr>
                <a:solidFill>
                  <a:srgbClr val="FFFFFF"/>
                </a:solidFill>
              </a:rPr>
              <a:t>(T[] arr) {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C678DD"/>
                </a:solidFill>
              </a:rPr>
              <a:t>    for</a:t>
            </a:r>
            <a:r>
              <a:rPr>
                <a:solidFill>
                  <a:srgbClr val="FFFFFF"/>
                </a:solidFill>
              </a:rPr>
              <a:t> (T el : arr)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FFFFF"/>
                </a:solidFill>
              </a:rPr>
              <a:t>      System.out.print(el);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}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86" name="Text 8"/>
          <p:cNvSpPr txBox="1"/>
          <p:nvPr/>
        </p:nvSpPr>
        <p:spPr>
          <a:xfrm>
            <a:off x="274320" y="3178986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A1A2E"/>
                </a:solidFill>
              </a:defRPr>
            </a:lvl1pPr>
          </a:lstStyle>
          <a:p>
            <a:pPr/>
            <a:r>
              <a:t>Вызов</a:t>
            </a:r>
          </a:p>
        </p:txBody>
      </p:sp>
      <p:sp>
        <p:nvSpPr>
          <p:cNvPr id="87" name="Shape 9"/>
          <p:cNvSpPr/>
          <p:nvPr/>
        </p:nvSpPr>
        <p:spPr>
          <a:xfrm>
            <a:off x="274320" y="3383279"/>
            <a:ext cx="4572001" cy="146304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10"/>
          <p:cNvSpPr txBox="1"/>
          <p:nvPr/>
        </p:nvSpPr>
        <p:spPr>
          <a:xfrm>
            <a:off x="411479" y="3474720"/>
            <a:ext cx="4389122" cy="661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Utils.</a:t>
            </a:r>
            <a:r>
              <a:rPr>
                <a:solidFill>
                  <a:srgbClr val="98C379"/>
                </a:solidFill>
              </a:rPr>
              <a:t>print</a:t>
            </a:r>
            <a:r>
              <a:t>(new </a:t>
            </a:r>
            <a:r>
              <a:rPr>
                <a:solidFill>
                  <a:srgbClr val="61AFEF"/>
                </a:solidFill>
              </a:rPr>
              <a:t>Integer</a:t>
            </a:r>
            <a:r>
              <a:t>[]{1, 2, 3});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Utils.</a:t>
            </a:r>
            <a:r>
              <a:rPr>
                <a:solidFill>
                  <a:srgbClr val="98C379"/>
                </a:solidFill>
              </a:rPr>
              <a:t>print</a:t>
            </a:r>
            <a:r>
              <a:t>(new </a:t>
            </a:r>
            <a:r>
              <a:rPr>
                <a:solidFill>
                  <a:srgbClr val="61AFEF"/>
                </a:solidFill>
              </a:rPr>
              <a:t>String</a:t>
            </a:r>
            <a:r>
              <a:t>[]{"a","b","c"});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C6370"/>
                </a:solidFill>
              </a:rPr>
              <a:t>// &lt;T&gt; выводится из типа аргумента</a:t>
            </a:r>
          </a:p>
        </p:txBody>
      </p:sp>
      <p:sp>
        <p:nvSpPr>
          <p:cNvPr id="89" name="Text 11"/>
          <p:cNvSpPr txBox="1"/>
          <p:nvPr/>
        </p:nvSpPr>
        <p:spPr>
          <a:xfrm>
            <a:off x="5029200" y="3178986"/>
            <a:ext cx="38404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50C878"/>
                </a:solidFill>
              </a:defRPr>
            </a:lvl1pPr>
          </a:lstStyle>
          <a:p>
            <a:pPr/>
            <a:r>
              <a:t>Вывод</a:t>
            </a:r>
          </a:p>
        </p:txBody>
      </p:sp>
      <p:sp>
        <p:nvSpPr>
          <p:cNvPr id="90" name="Shape 12"/>
          <p:cNvSpPr/>
          <p:nvPr/>
        </p:nvSpPr>
        <p:spPr>
          <a:xfrm>
            <a:off x="5029200" y="3383279"/>
            <a:ext cx="3840480" cy="1463041"/>
          </a:xfrm>
          <a:prstGeom prst="rect">
            <a:avLst/>
          </a:prstGeom>
          <a:solidFill>
            <a:srgbClr val="001400"/>
          </a:solidFill>
          <a:ln w="12700">
            <a:solidFill>
              <a:srgbClr val="50C87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13"/>
          <p:cNvSpPr txBox="1"/>
          <p:nvPr/>
        </p:nvSpPr>
        <p:spPr>
          <a:xfrm>
            <a:off x="5166359" y="3493008"/>
            <a:ext cx="356616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0C878"/>
                </a:solidFill>
              </a:rPr>
              <a:t>1 2 3 </a:t>
            </a:r>
            <a:endParaRPr>
              <a:solidFill>
                <a:srgbClr val="50C878"/>
              </a:solidFill>
            </a:endParaRPr>
          </a:p>
          <a:p>
            <a:pPr>
              <a:defRPr sz="13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0C878"/>
                </a:solidFill>
              </a:rPr>
              <a:t>a b 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"/>
          <p:cNvSpPr txBox="1"/>
          <p:nvPr/>
        </p:nvSpPr>
        <p:spPr>
          <a:xfrm>
            <a:off x="320040" y="229224"/>
            <a:ext cx="8503920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89820"/>
                </a:solidFill>
              </a:defRPr>
            </a:lvl1pPr>
          </a:lstStyle>
          <a:p>
            <a:pPr/>
            <a:r>
              <a:t>5.1 Ограничения дженериков</a:t>
            </a:r>
          </a:p>
        </p:txBody>
      </p:sp>
      <p:sp>
        <p:nvSpPr>
          <p:cNvPr id="95" name="Text 2"/>
          <p:cNvSpPr txBox="1"/>
          <p:nvPr/>
        </p:nvSpPr>
        <p:spPr>
          <a:xfrm>
            <a:off x="228600" y="951991"/>
            <a:ext cx="429768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06C75"/>
                </a:solidFill>
              </a:defRPr>
            </a:lvl1pPr>
          </a:lstStyle>
          <a:p>
            <a:pPr/>
            <a:r>
              <a:t>❌  new T() — нельзя</a:t>
            </a:r>
          </a:p>
        </p:txBody>
      </p:sp>
      <p:sp>
        <p:nvSpPr>
          <p:cNvPr id="96" name="Shape 3"/>
          <p:cNvSpPr/>
          <p:nvPr/>
        </p:nvSpPr>
        <p:spPr>
          <a:xfrm>
            <a:off x="228600" y="1243583"/>
            <a:ext cx="4297680" cy="1536193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4"/>
          <p:cNvSpPr txBox="1"/>
          <p:nvPr/>
        </p:nvSpPr>
        <p:spPr>
          <a:xfrm>
            <a:off x="356615" y="1335024"/>
            <a:ext cx="41148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class </a:t>
            </a:r>
            <a:r>
              <a:rPr>
                <a:solidFill>
                  <a:srgbClr val="61AFEF"/>
                </a:solidFill>
              </a:rPr>
              <a:t>Bad</a:t>
            </a:r>
            <a:r>
              <a:rPr>
                <a:solidFill>
                  <a:srgbClr val="FFFFFF"/>
                </a:solidFill>
              </a:rPr>
              <a:t>&lt;T&gt; {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FFFFF"/>
                </a:solidFill>
              </a:rPr>
              <a:t>  T t = </a:t>
            </a:r>
            <a:r>
              <a:t>new </a:t>
            </a:r>
            <a:r>
              <a:rPr>
                <a:solidFill>
                  <a:srgbClr val="E06C75"/>
                </a:solidFill>
              </a:rPr>
              <a:t>T();</a:t>
            </a:r>
            <a:endParaRPr>
              <a:solidFill>
                <a:srgbClr val="E06C75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C6370"/>
                </a:solidFill>
              </a:rPr>
              <a:t>  // ошибка компиляции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98" name="Text 5"/>
          <p:cNvSpPr txBox="1"/>
          <p:nvPr/>
        </p:nvSpPr>
        <p:spPr>
          <a:xfrm>
            <a:off x="4709159" y="951991"/>
            <a:ext cx="429768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06C75"/>
                </a:solidFill>
              </a:defRPr>
            </a:lvl1pPr>
          </a:lstStyle>
          <a:p>
            <a:pPr/>
            <a:r>
              <a:t>❌  static поле — нельзя</a:t>
            </a:r>
          </a:p>
        </p:txBody>
      </p:sp>
      <p:sp>
        <p:nvSpPr>
          <p:cNvPr id="99" name="Shape 6"/>
          <p:cNvSpPr/>
          <p:nvPr/>
        </p:nvSpPr>
        <p:spPr>
          <a:xfrm>
            <a:off x="4709159" y="1243583"/>
            <a:ext cx="4297681" cy="1536193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7"/>
          <p:cNvSpPr txBox="1"/>
          <p:nvPr/>
        </p:nvSpPr>
        <p:spPr>
          <a:xfrm>
            <a:off x="4837176" y="1335024"/>
            <a:ext cx="41148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class </a:t>
            </a:r>
            <a:r>
              <a:rPr>
                <a:solidFill>
                  <a:srgbClr val="61AFEF"/>
                </a:solidFill>
              </a:rPr>
              <a:t>Bad</a:t>
            </a:r>
            <a:r>
              <a:rPr>
                <a:solidFill>
                  <a:srgbClr val="FFFFFF"/>
                </a:solidFill>
              </a:rPr>
              <a:t>&lt;T&gt; {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static </a:t>
            </a:r>
            <a:r>
              <a:rPr>
                <a:solidFill>
                  <a:srgbClr val="E06C75"/>
                </a:solidFill>
              </a:rPr>
              <a:t>T t;</a:t>
            </a:r>
            <a:endParaRPr>
              <a:solidFill>
                <a:srgbClr val="E06C75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C6370"/>
                </a:solidFill>
              </a:rPr>
              <a:t>  // compile error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101" name="Text 8"/>
          <p:cNvSpPr txBox="1"/>
          <p:nvPr/>
        </p:nvSpPr>
        <p:spPr>
          <a:xfrm>
            <a:off x="228600" y="2945384"/>
            <a:ext cx="429768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06C75"/>
                </a:solidFill>
              </a:defRPr>
            </a:lvl1pPr>
          </a:lstStyle>
          <a:p>
            <a:pPr/>
            <a:r>
              <a:t>❌  static метод с T — нельзя</a:t>
            </a:r>
          </a:p>
        </p:txBody>
      </p:sp>
      <p:sp>
        <p:nvSpPr>
          <p:cNvPr id="102" name="Shape 9"/>
          <p:cNvSpPr/>
          <p:nvPr/>
        </p:nvSpPr>
        <p:spPr>
          <a:xfrm>
            <a:off x="228600" y="3236976"/>
            <a:ext cx="4297680" cy="1536193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10"/>
          <p:cNvSpPr txBox="1"/>
          <p:nvPr/>
        </p:nvSpPr>
        <p:spPr>
          <a:xfrm>
            <a:off x="356615" y="3328415"/>
            <a:ext cx="41148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class </a:t>
            </a:r>
            <a:r>
              <a:rPr>
                <a:solidFill>
                  <a:srgbClr val="61AFEF"/>
                </a:solidFill>
              </a:rPr>
              <a:t>Bad</a:t>
            </a:r>
            <a:r>
              <a:rPr>
                <a:solidFill>
                  <a:srgbClr val="FFFFFF"/>
                </a:solidFill>
              </a:rPr>
              <a:t>&lt;T&gt; {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static void </a:t>
            </a:r>
            <a:r>
              <a:rPr>
                <a:solidFill>
                  <a:srgbClr val="98C379"/>
                </a:solidFill>
              </a:rPr>
              <a:t>f</a:t>
            </a:r>
            <a:r>
              <a:rPr>
                <a:solidFill>
                  <a:srgbClr val="FFFFFF"/>
                </a:solidFill>
              </a:rPr>
              <a:t>(</a:t>
            </a:r>
            <a:r>
              <a:rPr>
                <a:solidFill>
                  <a:srgbClr val="E06C75"/>
                </a:solidFill>
              </a:rPr>
              <a:t>T</a:t>
            </a:r>
            <a:r>
              <a:rPr>
                <a:solidFill>
                  <a:srgbClr val="FFFFFF"/>
                </a:solidFill>
              </a:rPr>
              <a:t> t) {}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C6370"/>
                </a:solidFill>
              </a:rPr>
              <a:t>  // compile error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104" name="Text 11"/>
          <p:cNvSpPr txBox="1"/>
          <p:nvPr/>
        </p:nvSpPr>
        <p:spPr>
          <a:xfrm>
            <a:off x="4709159" y="2945384"/>
            <a:ext cx="429768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06C75"/>
                </a:solidFill>
              </a:defRPr>
            </a:lvl1pPr>
          </a:lstStyle>
          <a:p>
            <a:pPr/>
            <a:r>
              <a:t>❌  Примитивные типы — нельзя</a:t>
            </a:r>
          </a:p>
        </p:txBody>
      </p:sp>
      <p:sp>
        <p:nvSpPr>
          <p:cNvPr id="105" name="Shape 12"/>
          <p:cNvSpPr/>
          <p:nvPr/>
        </p:nvSpPr>
        <p:spPr>
          <a:xfrm>
            <a:off x="4709159" y="3236976"/>
            <a:ext cx="4297681" cy="1536193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13"/>
          <p:cNvSpPr txBox="1"/>
          <p:nvPr/>
        </p:nvSpPr>
        <p:spPr>
          <a:xfrm>
            <a:off x="4837176" y="3328415"/>
            <a:ext cx="41148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// Нельзя:</a:t>
            </a: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61AFEF"/>
                </a:solidFill>
              </a:rPr>
              <a:t>Wrapper</a:t>
            </a:r>
            <a:r>
              <a:rPr>
                <a:solidFill>
                  <a:srgbClr val="FFFFFF"/>
                </a:solidFill>
              </a:rPr>
              <a:t>&lt;</a:t>
            </a:r>
            <a:r>
              <a:rPr>
                <a:solidFill>
                  <a:srgbClr val="E06C75"/>
                </a:solidFill>
              </a:rPr>
              <a:t>int</a:t>
            </a:r>
            <a:r>
              <a:rPr>
                <a:solidFill>
                  <a:srgbClr val="FFFFFF"/>
                </a:solidFill>
              </a:rPr>
              <a:t>&gt; w;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// Только обёртки:</a:t>
            </a: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61AFEF"/>
                </a:solidFill>
              </a:rPr>
              <a:t>Wrapper</a:t>
            </a:r>
            <a:r>
              <a:rPr>
                <a:solidFill>
                  <a:srgbClr val="FFFFFF"/>
                </a:solidFill>
              </a:rPr>
              <a:t>&lt;</a:t>
            </a:r>
            <a:r>
              <a:rPr>
                <a:solidFill>
                  <a:srgbClr val="61AFEF"/>
                </a:solidFill>
              </a:rPr>
              <a:t>Integer</a:t>
            </a:r>
            <a:r>
              <a:rPr>
                <a:solidFill>
                  <a:srgbClr val="FFFFFF"/>
                </a:solidFill>
              </a:rPr>
              <a:t>&gt; w;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1"/>
          <p:cNvSpPr txBox="1"/>
          <p:nvPr/>
        </p:nvSpPr>
        <p:spPr>
          <a:xfrm>
            <a:off x="320040" y="251821"/>
            <a:ext cx="850392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89820"/>
                </a:solidFill>
              </a:defRPr>
            </a:lvl1pPr>
          </a:lstStyle>
          <a:p>
            <a:pPr/>
            <a:r>
              <a:t>5.2 Ограничение типов: extends и super</a:t>
            </a:r>
          </a:p>
        </p:txBody>
      </p:sp>
      <p:sp>
        <p:nvSpPr>
          <p:cNvPr id="110" name="Text 2"/>
          <p:cNvSpPr txBox="1"/>
          <p:nvPr/>
        </p:nvSpPr>
        <p:spPr>
          <a:xfrm>
            <a:off x="274320" y="986843"/>
            <a:ext cx="85953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D6EFD"/>
                </a:solidFill>
              </a:defRPr>
            </a:lvl1pPr>
          </a:lstStyle>
          <a:p>
            <a:pPr/>
            <a:r>
              <a:t>extends — верхняя граница: T должен быть подтипом указанного класса</a:t>
            </a:r>
          </a:p>
        </p:txBody>
      </p:sp>
      <p:sp>
        <p:nvSpPr>
          <p:cNvPr id="111" name="Shape 3"/>
          <p:cNvSpPr/>
          <p:nvPr/>
        </p:nvSpPr>
        <p:spPr>
          <a:xfrm>
            <a:off x="274319" y="1216152"/>
            <a:ext cx="5120642" cy="201167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4"/>
          <p:cNvSpPr txBox="1"/>
          <p:nvPr/>
        </p:nvSpPr>
        <p:spPr>
          <a:xfrm>
            <a:off x="411479" y="1307591"/>
            <a:ext cx="4937762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class </a:t>
            </a:r>
            <a:r>
              <a:rPr>
                <a:solidFill>
                  <a:srgbClr val="61AFEF"/>
                </a:solidFill>
              </a:rPr>
              <a:t>NumBox</a:t>
            </a:r>
            <a:r>
              <a:rPr>
                <a:solidFill>
                  <a:srgbClr val="FFFFFF"/>
                </a:solidFill>
              </a:rPr>
              <a:t>&lt;T </a:t>
            </a:r>
            <a:r>
              <a:t>extends </a:t>
            </a:r>
            <a:r>
              <a:rPr>
                <a:solidFill>
                  <a:srgbClr val="61AFEF"/>
                </a:solidFill>
              </a:rPr>
              <a:t>Number&gt; {</a:t>
            </a:r>
            <a:endParaRPr>
              <a:solidFill>
                <a:srgbClr val="61AFE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private </a:t>
            </a:r>
            <a:r>
              <a:rPr>
                <a:solidFill>
                  <a:srgbClr val="61AFEF"/>
                </a:solidFill>
              </a:rPr>
              <a:t>T</a:t>
            </a:r>
            <a:r>
              <a:rPr>
                <a:solidFill>
                  <a:srgbClr val="FFFFFF"/>
                </a:solidFill>
              </a:rPr>
              <a:t> item;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61AFEF"/>
                </a:solidFill>
              </a:rPr>
              <a:t>  double </a:t>
            </a:r>
            <a:r>
              <a:rPr>
                <a:solidFill>
                  <a:srgbClr val="98C379"/>
                </a:solidFill>
              </a:rPr>
              <a:t>doubled</a:t>
            </a:r>
            <a:r>
              <a:rPr>
                <a:solidFill>
                  <a:srgbClr val="FFFFFF"/>
                </a:solidFill>
              </a:rPr>
              <a:t>() {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return item.doubleValue() * 2;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}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113" name="Shape 5"/>
          <p:cNvSpPr/>
          <p:nvPr/>
        </p:nvSpPr>
        <p:spPr>
          <a:xfrm>
            <a:off x="5577840" y="1216152"/>
            <a:ext cx="3291841" cy="201167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6"/>
          <p:cNvSpPr txBox="1"/>
          <p:nvPr/>
        </p:nvSpPr>
        <p:spPr>
          <a:xfrm>
            <a:off x="5687567" y="1307591"/>
            <a:ext cx="3108961" cy="128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// ✓ Integer → Number</a:t>
            </a: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61AFEF"/>
                </a:solidFill>
              </a:rPr>
              <a:t>NumBox</a:t>
            </a:r>
            <a:r>
              <a:rPr>
                <a:solidFill>
                  <a:srgbClr val="FFFFFF"/>
                </a:solidFill>
              </a:rPr>
              <a:t>&lt;</a:t>
            </a:r>
            <a:r>
              <a:rPr>
                <a:solidFill>
                  <a:srgbClr val="61AFEF"/>
                </a:solidFill>
              </a:rPr>
              <a:t>Integer</a:t>
            </a:r>
            <a:r>
              <a:rPr>
                <a:solidFill>
                  <a:srgbClr val="FFFFFF"/>
                </a:solidFill>
              </a:rPr>
              <a:t>&gt; a;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// ✓ Double → Number</a:t>
            </a: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61AFEF"/>
                </a:solidFill>
              </a:rPr>
              <a:t>NumBox</a:t>
            </a:r>
            <a:r>
              <a:rPr>
                <a:solidFill>
                  <a:srgbClr val="FFFFFF"/>
                </a:solidFill>
              </a:rPr>
              <a:t>&lt;</a:t>
            </a:r>
            <a:r>
              <a:rPr>
                <a:solidFill>
                  <a:srgbClr val="61AFEF"/>
                </a:solidFill>
              </a:rPr>
              <a:t>Double</a:t>
            </a:r>
            <a:r>
              <a:rPr>
                <a:solidFill>
                  <a:srgbClr val="FFFFFF"/>
                </a:solidFill>
              </a:rPr>
              <a:t>&gt; b;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// ❌ String — не Number</a:t>
            </a:r>
          </a:p>
          <a:p>
            <a:pPr>
              <a:defRPr sz="10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61AFEF"/>
                </a:solidFill>
              </a:rPr>
              <a:t>NumBox</a:t>
            </a:r>
            <a:r>
              <a:rPr>
                <a:solidFill>
                  <a:srgbClr val="FFFFFF"/>
                </a:solidFill>
              </a:rPr>
              <a:t>&lt;</a:t>
            </a:r>
            <a:r>
              <a:rPr>
                <a:solidFill>
                  <a:srgbClr val="E06C75"/>
                </a:solidFill>
              </a:rPr>
              <a:t>String</a:t>
            </a:r>
            <a:r>
              <a:rPr>
                <a:solidFill>
                  <a:srgbClr val="FFFFFF"/>
                </a:solidFill>
              </a:rPr>
              <a:t>&gt; c; </a:t>
            </a:r>
            <a:r>
              <a:rPr>
                <a:solidFill>
                  <a:srgbClr val="E06C75"/>
                </a:solidFill>
              </a:rPr>
              <a:t>// ERROR</a:t>
            </a:r>
          </a:p>
        </p:txBody>
      </p:sp>
      <p:sp>
        <p:nvSpPr>
          <p:cNvPr id="115" name="Text 7"/>
          <p:cNvSpPr txBox="1"/>
          <p:nvPr/>
        </p:nvSpPr>
        <p:spPr>
          <a:xfrm>
            <a:off x="274320" y="3437435"/>
            <a:ext cx="85953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28A745"/>
                </a:solidFill>
              </a:defRPr>
            </a:lvl1pPr>
          </a:lstStyle>
          <a:p>
            <a:pPr/>
            <a:r>
              <a:t>super — нижняя граница: T должен быть суперклассом указанного класса</a:t>
            </a:r>
          </a:p>
        </p:txBody>
      </p:sp>
      <p:sp>
        <p:nvSpPr>
          <p:cNvPr id="116" name="Shape 8"/>
          <p:cNvSpPr/>
          <p:nvPr/>
        </p:nvSpPr>
        <p:spPr>
          <a:xfrm>
            <a:off x="274320" y="3666744"/>
            <a:ext cx="8595360" cy="11155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9"/>
          <p:cNvSpPr txBox="1"/>
          <p:nvPr/>
        </p:nvSpPr>
        <p:spPr>
          <a:xfrm>
            <a:off x="411479" y="3758184"/>
            <a:ext cx="8321042" cy="661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// T super Integer — T: Integer, Number, Object</a:t>
            </a:r>
          </a:p>
          <a:p>
            <a:pPr>
              <a:defRPr sz="11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C678DD"/>
                </a:solidFill>
              </a:rPr>
              <a:t>class </a:t>
            </a:r>
            <a:r>
              <a:rPr>
                <a:solidFill>
                  <a:srgbClr val="61AFEF"/>
                </a:solidFill>
              </a:rPr>
              <a:t>Wrapper2</a:t>
            </a:r>
            <a:r>
              <a:rPr>
                <a:solidFill>
                  <a:srgbClr val="FFFFFF"/>
                </a:solidFill>
              </a:rPr>
              <a:t>&lt;T </a:t>
            </a:r>
            <a:r>
              <a:rPr>
                <a:solidFill>
                  <a:srgbClr val="C678DD"/>
                </a:solidFill>
              </a:rPr>
              <a:t>super </a:t>
            </a:r>
            <a:r>
              <a:rPr>
                <a:solidFill>
                  <a:srgbClr val="61AFEF"/>
                </a:solidFill>
              </a:rPr>
              <a:t>Integer</a:t>
            </a:r>
            <a:r>
              <a:rPr>
                <a:solidFill>
                  <a:srgbClr val="FFFFFF"/>
                </a:solidFill>
              </a:rPr>
              <a:t>&gt; { ... }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// super чаще используется с Wildcard (см. следующий слайд)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1"/>
          <p:cNvSpPr txBox="1"/>
          <p:nvPr/>
        </p:nvSpPr>
        <p:spPr>
          <a:xfrm>
            <a:off x="320040" y="225677"/>
            <a:ext cx="850392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89820"/>
                </a:solidFill>
              </a:defRPr>
            </a:lvl1pPr>
          </a:lstStyle>
          <a:p>
            <a:pPr/>
            <a:r>
              <a:t>6. Wildcard — ?</a:t>
            </a:r>
          </a:p>
        </p:txBody>
      </p:sp>
      <p:sp>
        <p:nvSpPr>
          <p:cNvPr id="121" name="Shape 2"/>
          <p:cNvSpPr/>
          <p:nvPr/>
        </p:nvSpPr>
        <p:spPr>
          <a:xfrm>
            <a:off x="228600" y="914400"/>
            <a:ext cx="2834640" cy="1600200"/>
          </a:xfrm>
          <a:prstGeom prst="rect">
            <a:avLst/>
          </a:prstGeom>
          <a:solidFill>
            <a:srgbClr val="EBF0FF"/>
          </a:solidFill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3"/>
          <p:cNvSpPr txBox="1"/>
          <p:nvPr/>
        </p:nvSpPr>
        <p:spPr>
          <a:xfrm>
            <a:off x="228600" y="1172209"/>
            <a:ext cx="28346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&lt;?&gt;</a:t>
            </a:r>
          </a:p>
        </p:txBody>
      </p:sp>
      <p:sp>
        <p:nvSpPr>
          <p:cNvPr id="123" name="Text 4"/>
          <p:cNvSpPr txBox="1"/>
          <p:nvPr/>
        </p:nvSpPr>
        <p:spPr>
          <a:xfrm>
            <a:off x="228600" y="1665654"/>
            <a:ext cx="28346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A1A2E"/>
                </a:solidFill>
              </a:defRPr>
            </a:lvl1pPr>
          </a:lstStyle>
          <a:p>
            <a:pPr/>
            <a:r>
              <a:t>Ни читать, ни писать</a:t>
            </a:r>
          </a:p>
        </p:txBody>
      </p:sp>
      <p:sp>
        <p:nvSpPr>
          <p:cNvPr id="124" name="Text 5"/>
          <p:cNvSpPr txBox="1"/>
          <p:nvPr/>
        </p:nvSpPr>
        <p:spPr>
          <a:xfrm>
            <a:off x="228600" y="2063418"/>
            <a:ext cx="28346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Любой тип</a:t>
            </a:r>
          </a:p>
        </p:txBody>
      </p:sp>
      <p:sp>
        <p:nvSpPr>
          <p:cNvPr id="125" name="Shape 6"/>
          <p:cNvSpPr/>
          <p:nvPr/>
        </p:nvSpPr>
        <p:spPr>
          <a:xfrm>
            <a:off x="3200400" y="914400"/>
            <a:ext cx="2834640" cy="1600200"/>
          </a:xfrm>
          <a:prstGeom prst="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7"/>
          <p:cNvSpPr txBox="1"/>
          <p:nvPr/>
        </p:nvSpPr>
        <p:spPr>
          <a:xfrm>
            <a:off x="3200400" y="1172209"/>
            <a:ext cx="28346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28A7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&lt;? extends T&gt;</a:t>
            </a:r>
          </a:p>
        </p:txBody>
      </p:sp>
      <p:sp>
        <p:nvSpPr>
          <p:cNvPr id="127" name="Text 8"/>
          <p:cNvSpPr txBox="1"/>
          <p:nvPr/>
        </p:nvSpPr>
        <p:spPr>
          <a:xfrm>
            <a:off x="3200400" y="1665654"/>
            <a:ext cx="28346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A1A2E"/>
                </a:solidFill>
              </a:defRPr>
            </a:lvl1pPr>
          </a:lstStyle>
          <a:p>
            <a:pPr/>
            <a:r>
              <a:t>Только читать как T</a:t>
            </a:r>
          </a:p>
        </p:txBody>
      </p:sp>
      <p:sp>
        <p:nvSpPr>
          <p:cNvPr id="128" name="Text 9"/>
          <p:cNvSpPr txBox="1"/>
          <p:nvPr/>
        </p:nvSpPr>
        <p:spPr>
          <a:xfrm>
            <a:off x="3200400" y="2063418"/>
            <a:ext cx="28346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T или его подтип</a:t>
            </a:r>
          </a:p>
        </p:txBody>
      </p:sp>
      <p:sp>
        <p:nvSpPr>
          <p:cNvPr id="129" name="Shape 10"/>
          <p:cNvSpPr/>
          <p:nvPr/>
        </p:nvSpPr>
        <p:spPr>
          <a:xfrm>
            <a:off x="6172200" y="914400"/>
            <a:ext cx="2834640" cy="1600200"/>
          </a:xfrm>
          <a:prstGeom prst="rect">
            <a:avLst/>
          </a:prstGeom>
          <a:solidFill>
            <a:srgbClr val="FFEBEE"/>
          </a:solidFill>
          <a:ln w="25400">
            <a:solidFill>
              <a:srgbClr val="DC35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11"/>
          <p:cNvSpPr txBox="1"/>
          <p:nvPr/>
        </p:nvSpPr>
        <p:spPr>
          <a:xfrm>
            <a:off x="6172200" y="1172209"/>
            <a:ext cx="28346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DC35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&lt;? super T&gt;</a:t>
            </a:r>
          </a:p>
        </p:txBody>
      </p:sp>
      <p:sp>
        <p:nvSpPr>
          <p:cNvPr id="131" name="Text 12"/>
          <p:cNvSpPr txBox="1"/>
          <p:nvPr/>
        </p:nvSpPr>
        <p:spPr>
          <a:xfrm>
            <a:off x="6172200" y="1665654"/>
            <a:ext cx="28346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A1A2E"/>
                </a:solidFill>
              </a:defRPr>
            </a:lvl1pPr>
          </a:lstStyle>
          <a:p>
            <a:pPr/>
            <a:r>
              <a:t>Только писать T</a:t>
            </a:r>
          </a:p>
        </p:txBody>
      </p:sp>
      <p:sp>
        <p:nvSpPr>
          <p:cNvPr id="132" name="Text 13"/>
          <p:cNvSpPr txBox="1"/>
          <p:nvPr/>
        </p:nvSpPr>
        <p:spPr>
          <a:xfrm>
            <a:off x="6172200" y="2063418"/>
            <a:ext cx="28346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T или его надтип</a:t>
            </a:r>
          </a:p>
        </p:txBody>
      </p:sp>
      <p:sp>
        <p:nvSpPr>
          <p:cNvPr id="133" name="Text 14"/>
          <p:cNvSpPr txBox="1"/>
          <p:nvPr/>
        </p:nvSpPr>
        <p:spPr>
          <a:xfrm>
            <a:off x="274320" y="2721786"/>
            <a:ext cx="5029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A1A2E"/>
                </a:solidFill>
              </a:defRPr>
            </a:lvl1pPr>
          </a:lstStyle>
          <a:p>
            <a:pPr/>
            <a:r>
              <a:t>Пример: сумма любых чисел</a:t>
            </a:r>
          </a:p>
        </p:txBody>
      </p:sp>
      <p:sp>
        <p:nvSpPr>
          <p:cNvPr id="134" name="Shape 15"/>
          <p:cNvSpPr/>
          <p:nvPr/>
        </p:nvSpPr>
        <p:spPr>
          <a:xfrm>
            <a:off x="274320" y="2926079"/>
            <a:ext cx="5029201" cy="192024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16"/>
          <p:cNvSpPr txBox="1"/>
          <p:nvPr/>
        </p:nvSpPr>
        <p:spPr>
          <a:xfrm>
            <a:off x="411479" y="3017520"/>
            <a:ext cx="4846322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static double </a:t>
            </a:r>
            <a:r>
              <a:rPr>
                <a:solidFill>
                  <a:srgbClr val="98C379"/>
                </a:solidFill>
              </a:rPr>
              <a:t>sum</a:t>
            </a:r>
            <a:r>
              <a:rPr>
                <a:solidFill>
                  <a:srgbClr val="FFFFFF"/>
                </a:solidFill>
              </a:rPr>
              <a:t>(List&lt;</a:t>
            </a:r>
            <a:r>
              <a:rPr>
                <a:solidFill>
                  <a:srgbClr val="C678DD"/>
                </a:solidFill>
              </a:rPr>
              <a:t>? extends </a:t>
            </a:r>
            <a:r>
              <a:t>Number</a:t>
            </a:r>
            <a:r>
              <a:rPr>
                <a:solidFill>
                  <a:srgbClr val="FFFFFF"/>
                </a:solidFill>
              </a:rPr>
              <a:t>&gt; list) {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double</a:t>
            </a:r>
            <a:r>
              <a:rPr>
                <a:solidFill>
                  <a:srgbClr val="FFFFFF"/>
                </a:solidFill>
              </a:rPr>
              <a:t> s = 0;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C678DD"/>
                </a:solidFill>
              </a:rPr>
              <a:t>  for</a:t>
            </a:r>
            <a:r>
              <a:rPr>
                <a:solidFill>
                  <a:srgbClr val="FFFFFF"/>
                </a:solidFill>
              </a:rPr>
              <a:t> (Number n : list)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FFFFF"/>
                </a:solidFill>
              </a:rPr>
              <a:t>    s += n.</a:t>
            </a:r>
            <a:r>
              <a:rPr>
                <a:solidFill>
                  <a:srgbClr val="98C379"/>
                </a:solidFill>
              </a:rPr>
              <a:t>doubleValue</a:t>
            </a:r>
            <a:r>
              <a:rPr>
                <a:solidFill>
                  <a:srgbClr val="FFFFFF"/>
                </a:solidFill>
              </a:rPr>
              <a:t>();</a:t>
            </a:r>
            <a:endParaRPr>
              <a:solidFill>
                <a:srgbClr val="FFFFFF"/>
              </a:solidFill>
            </a:endParaRPr>
          </a:p>
          <a:p>
            <a:pPr>
              <a:defRPr sz="11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C678DD"/>
                </a:solidFill>
              </a:rPr>
              <a:t>  return</a:t>
            </a:r>
            <a:r>
              <a:rPr>
                <a:solidFill>
                  <a:srgbClr val="FFFFFF"/>
                </a:solidFill>
              </a:rPr>
              <a:t> s;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136" name="Text 17"/>
          <p:cNvSpPr txBox="1"/>
          <p:nvPr/>
        </p:nvSpPr>
        <p:spPr>
          <a:xfrm>
            <a:off x="5486400" y="2721786"/>
            <a:ext cx="33832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50C878"/>
                </a:solidFill>
              </a:defRPr>
            </a:lvl1pPr>
          </a:lstStyle>
          <a:p>
            <a:pPr/>
            <a:r>
              <a:t>Вызов и вывод</a:t>
            </a:r>
          </a:p>
        </p:txBody>
      </p:sp>
      <p:sp>
        <p:nvSpPr>
          <p:cNvPr id="137" name="Shape 18"/>
          <p:cNvSpPr/>
          <p:nvPr/>
        </p:nvSpPr>
        <p:spPr>
          <a:xfrm>
            <a:off x="5486400" y="2926079"/>
            <a:ext cx="3383280" cy="1920241"/>
          </a:xfrm>
          <a:prstGeom prst="rect">
            <a:avLst/>
          </a:prstGeom>
          <a:solidFill>
            <a:srgbClr val="001400"/>
          </a:solidFill>
          <a:ln w="12700">
            <a:solidFill>
              <a:srgbClr val="50C87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19"/>
          <p:cNvSpPr txBox="1"/>
          <p:nvPr/>
        </p:nvSpPr>
        <p:spPr>
          <a:xfrm>
            <a:off x="5614415" y="3017520"/>
            <a:ext cx="3200401" cy="1325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sum(List.of(1, 2, 3));</a:t>
            </a:r>
          </a:p>
          <a:p>
            <a:pPr>
              <a:defRPr sz="11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C6370"/>
                </a:solidFill>
              </a:rPr>
              <a:t>// вывод 6.0</a:t>
            </a:r>
            <a:endParaRPr>
              <a:solidFill>
                <a:srgbClr val="5C6370"/>
              </a:solidFill>
            </a:endParaRPr>
          </a:p>
          <a:p>
            <a:pPr>
              <a:defRPr sz="11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5C6370"/>
              </a:solidFill>
            </a:endParaRPr>
          </a:p>
          <a:p>
            <a:pPr>
              <a:defRPr sz="11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sum(List.of(1.5, 2.5));</a:t>
            </a:r>
          </a:p>
          <a:p>
            <a:pPr>
              <a:defRPr sz="11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5C6370"/>
                </a:solidFill>
              </a:rPr>
              <a:t>// вывод 4.0</a:t>
            </a:r>
            <a:endParaRPr>
              <a:solidFill>
                <a:srgbClr val="5C6370"/>
              </a:solidFill>
            </a:endParaRPr>
          </a:p>
          <a:p>
            <a:pPr>
              <a:defRPr sz="11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5C6370"/>
              </a:solidFill>
            </a:endParaRPr>
          </a:p>
          <a:p>
            <a:pPr>
              <a:defRPr sz="11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88888"/>
                </a:solidFill>
              </a:rPr>
              <a:t>// Integer, Double, Float...</a:t>
            </a:r>
          </a:p>
          <a:p>
            <a:pPr>
              <a:defRPr sz="11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// всё работает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 txBox="1"/>
          <p:nvPr/>
        </p:nvSpPr>
        <p:spPr>
          <a:xfrm>
            <a:off x="457200" y="346099"/>
            <a:ext cx="8229600" cy="45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F89820"/>
                </a:solidFill>
              </a:defRPr>
            </a:lvl1pPr>
          </a:lstStyle>
          <a:p>
            <a:pPr/>
            <a:r>
              <a:t>Заключение</a:t>
            </a:r>
          </a:p>
        </p:txBody>
      </p:sp>
      <p:sp>
        <p:nvSpPr>
          <p:cNvPr id="141" name="Shape 1"/>
          <p:cNvSpPr/>
          <p:nvPr/>
        </p:nvSpPr>
        <p:spPr>
          <a:xfrm>
            <a:off x="457200" y="950975"/>
            <a:ext cx="8229600" cy="36577"/>
          </a:xfrm>
          <a:prstGeom prst="rect">
            <a:avLst/>
          </a:prstGeom>
          <a:solidFill>
            <a:srgbClr val="F89820"/>
          </a:solidFill>
          <a:ln w="12700">
            <a:solidFill>
              <a:srgbClr val="F8982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Shape 2"/>
          <p:cNvSpPr/>
          <p:nvPr/>
        </p:nvSpPr>
        <p:spPr>
          <a:xfrm>
            <a:off x="411480" y="1078991"/>
            <a:ext cx="4251960" cy="960121"/>
          </a:xfrm>
          <a:prstGeom prst="rect">
            <a:avLst/>
          </a:prstGeom>
          <a:solidFill>
            <a:srgbClr val="0D1B33"/>
          </a:solidFill>
          <a:ln w="12700">
            <a:solidFill>
              <a:srgbClr val="2D3F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4"/>
          <p:cNvSpPr txBox="1"/>
          <p:nvPr/>
        </p:nvSpPr>
        <p:spPr>
          <a:xfrm>
            <a:off x="800100" y="1423084"/>
            <a:ext cx="347472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pPr/>
            <a:r>
              <a:t>Типобезопасность — ошибки типов ловятся при компиляции, не в рантайме</a:t>
            </a:r>
          </a:p>
        </p:txBody>
      </p:sp>
      <p:sp>
        <p:nvSpPr>
          <p:cNvPr id="144" name="Shape 5"/>
          <p:cNvSpPr/>
          <p:nvPr/>
        </p:nvSpPr>
        <p:spPr>
          <a:xfrm>
            <a:off x="4937759" y="1078991"/>
            <a:ext cx="4251961" cy="960121"/>
          </a:xfrm>
          <a:prstGeom prst="rect">
            <a:avLst/>
          </a:prstGeom>
          <a:solidFill>
            <a:srgbClr val="0D1B33"/>
          </a:solidFill>
          <a:ln w="12700">
            <a:solidFill>
              <a:srgbClr val="2D3F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7"/>
          <p:cNvSpPr txBox="1"/>
          <p:nvPr/>
        </p:nvSpPr>
        <p:spPr>
          <a:xfrm>
            <a:off x="5326379" y="1423084"/>
            <a:ext cx="347472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pPr/>
            <a:r>
              <a:t>Один класс/метод работает с любым типом — не нужны дубликаты кода</a:t>
            </a:r>
          </a:p>
        </p:txBody>
      </p:sp>
      <p:sp>
        <p:nvSpPr>
          <p:cNvPr id="146" name="Shape 8"/>
          <p:cNvSpPr/>
          <p:nvPr/>
        </p:nvSpPr>
        <p:spPr>
          <a:xfrm>
            <a:off x="411480" y="2176272"/>
            <a:ext cx="4251960" cy="960120"/>
          </a:xfrm>
          <a:prstGeom prst="rect">
            <a:avLst/>
          </a:prstGeom>
          <a:solidFill>
            <a:srgbClr val="0D1B33"/>
          </a:solidFill>
          <a:ln w="12700">
            <a:solidFill>
              <a:srgbClr val="2D3F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10"/>
          <p:cNvSpPr txBox="1"/>
          <p:nvPr/>
        </p:nvSpPr>
        <p:spPr>
          <a:xfrm>
            <a:off x="800100" y="2520363"/>
            <a:ext cx="347472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pPr/>
            <a:r>
              <a:t>Нельзя: new T(), static T поля, static методы с T, примитивные типы</a:t>
            </a:r>
          </a:p>
        </p:txBody>
      </p:sp>
      <p:sp>
        <p:nvSpPr>
          <p:cNvPr id="148" name="Shape 11"/>
          <p:cNvSpPr/>
          <p:nvPr/>
        </p:nvSpPr>
        <p:spPr>
          <a:xfrm>
            <a:off x="4937759" y="2176272"/>
            <a:ext cx="4251961" cy="960120"/>
          </a:xfrm>
          <a:prstGeom prst="rect">
            <a:avLst/>
          </a:prstGeom>
          <a:solidFill>
            <a:srgbClr val="0D1B33"/>
          </a:solidFill>
          <a:ln w="12700">
            <a:solidFill>
              <a:srgbClr val="2D3F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13"/>
          <p:cNvSpPr txBox="1"/>
          <p:nvPr/>
        </p:nvSpPr>
        <p:spPr>
          <a:xfrm>
            <a:off x="5326379" y="2520363"/>
            <a:ext cx="347472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pPr/>
            <a:r>
              <a:t>extends / super задают допустимый диапазон типов для параметра</a:t>
            </a:r>
          </a:p>
        </p:txBody>
      </p:sp>
      <p:sp>
        <p:nvSpPr>
          <p:cNvPr id="150" name="Shape 14"/>
          <p:cNvSpPr/>
          <p:nvPr/>
        </p:nvSpPr>
        <p:spPr>
          <a:xfrm>
            <a:off x="411480" y="3273552"/>
            <a:ext cx="4251960" cy="960121"/>
          </a:xfrm>
          <a:prstGeom prst="rect">
            <a:avLst/>
          </a:prstGeom>
          <a:solidFill>
            <a:srgbClr val="0D1B33"/>
          </a:solidFill>
          <a:ln w="12700">
            <a:solidFill>
              <a:srgbClr val="2D3F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16"/>
          <p:cNvSpPr txBox="1"/>
          <p:nvPr/>
        </p:nvSpPr>
        <p:spPr>
          <a:xfrm>
            <a:off x="800100" y="3617643"/>
            <a:ext cx="347472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pPr/>
            <a:r>
              <a:t>Wildcard &lt;?&gt; и его варианты дают гибкость при работе с коллекциями</a:t>
            </a:r>
          </a:p>
        </p:txBody>
      </p:sp>
      <p:sp>
        <p:nvSpPr>
          <p:cNvPr id="152" name="Shape 17"/>
          <p:cNvSpPr/>
          <p:nvPr/>
        </p:nvSpPr>
        <p:spPr>
          <a:xfrm>
            <a:off x="4937759" y="3273552"/>
            <a:ext cx="4251961" cy="960121"/>
          </a:xfrm>
          <a:prstGeom prst="rect">
            <a:avLst/>
          </a:prstGeom>
          <a:solidFill>
            <a:srgbClr val="0D1B33"/>
          </a:solidFill>
          <a:ln w="12700">
            <a:solidFill>
              <a:srgbClr val="2D3F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19"/>
          <p:cNvSpPr txBox="1"/>
          <p:nvPr/>
        </p:nvSpPr>
        <p:spPr>
          <a:xfrm>
            <a:off x="5326379" y="3617643"/>
            <a:ext cx="347472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pPr/>
            <a:r>
              <a:t>Type Erasure: в рантайме T → Object — источник большинства ограничений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