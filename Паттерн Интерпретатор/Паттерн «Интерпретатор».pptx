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5" r:id="rId7"/>
    <p:sldId id="263" r:id="rId8"/>
    <p:sldId id="258" r:id="rId9"/>
    <p:sldId id="257" r:id="rId10"/>
    <p:sldId id="264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29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38836F-296C-439B-B877-4980412352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FED293-13C7-4A2E-AAE5-5DC77DD658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F6BFA5B-971B-4B37-A420-7C67D0E9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E8644C0-4255-4EA1-BB41-7E2C0FB6F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847C66E-B83C-4911-B951-8CB593225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8634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8C4E30-9EF5-44C4-A378-DA850A3A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D1E60EA-AFB5-46CF-B323-0A5AE6896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AE8FD4-6200-4378-9043-55B9D55A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A3124F-6D23-4C76-A017-FD6A717CD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E2E9F97-10C7-4E9C-8AD5-CB05229B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18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FE4A59-9CA8-4ECC-B202-B7899FF1E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316234F-B691-4871-B4AC-4601B8056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8404570-2718-4288-8AF9-646D3904E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5E35C63-A3DE-4E88-8494-92F3AA9A4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056460-69AB-4D92-8643-8407BD23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4606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1953E1-A90A-46AD-A17C-8BC3F3D16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0337D22-B68E-47F3-8103-F0F06055D9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8489723-DADD-4E16-9CAD-A7F6A57A9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939AFE0-E926-466D-A636-B0DCC3811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D3F2E0A-48B1-4DBF-B872-77C0438E5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7675E0-9C8E-41DB-81CF-FB0DD912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00743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8D894-3CAF-4394-AD5B-D745C4311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0F374A7-9F44-473A-A9A0-88C71AE7A6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B94F18-9205-4371-89BB-5CD2309904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31E3C90-94B5-4127-AC2B-CC105856C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3CDCFD7-625E-45A0-800E-C9DFFDA0D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9241379-E3F2-412E-A61B-73DDD721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4470893-AE43-46B0-B714-7C9F13767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8DA4571-B79A-4691-966F-A56B93E19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4702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559517-3402-42CF-A919-3BA614656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1BC8946-C6D5-426C-A1C8-6BDAE9E69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EACAF88-57F0-4973-BA19-89A3BDA47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1AC86B-46F5-4A21-9F37-3C78EC816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817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EACACDD-5814-4A09-A66B-477A7F24C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AD0D7AD-7C6C-4116-A602-AB2DE7601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540FD1D-5DF0-4F5D-A5BD-5BF2CC260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091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BC3820-7534-4DB2-98C6-115D2733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62DF95-1777-4CE2-AA16-D85BAC95B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4B92AA2-9910-4969-AF9D-09ED996A6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8213B51-0A2D-47FF-BB3E-3B99B779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AFDA6B4-BF5D-4715-9820-709FC7593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49CAAC-C8F6-4DAC-BD2C-C43205530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108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D63754-EBD1-42E8-B8FC-1330CDC6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1A1FA10F-9027-455C-B150-F390FCFC3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7824E64-6F56-4D44-BD33-0BA6AC06ED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F370705-A96B-4827-8D9D-A454A03B4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E7AC688-52EB-4391-AC8A-976FF5A20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88DF43-780D-4A27-91BE-6D01EC877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1416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52FA12-9043-4638-96A2-80C4473D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1203302-BD26-40ED-9123-A8786EBBFE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F141DFD-F731-4FD8-A89E-E332C817F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F12A8C-0EFE-462A-A3D8-8C4E76C24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75C560-F96F-4303-97D7-4FFC374C7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8195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5B763B7-D86A-4B0E-81D1-EC55511481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8056CD5-A9B8-4BC1-B142-D8EF22E98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6EA5A5-051A-45BF-B778-1C18324C7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544836-EC0C-49A9-954D-E69BF9AC3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F2D04F2-38FF-4846-818E-3FD8FB7A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2040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61D020-0E8E-488C-9216-CFA79ABF6F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0F9A69-DC79-4837-BF9F-0E56FE210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0C848-5C42-4687-9FFC-0A279CB8D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44486-41F0-4A1D-B1CA-C04602EC2E5B}" type="datetimeFigureOut">
              <a:rPr lang="ru-RU" smtClean="0"/>
              <a:t>22.05.2026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24CFB31-66DC-4EF5-BB6A-E257E1D45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C8873A-36A2-4B35-A86C-168466BB60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19676-1437-43FA-84DE-9D898912779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194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0D469E-E94B-4A39-BA76-3CEF79973C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 «Интерпретатор»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0A87EF8-79DE-4176-919C-E977D522C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Найденович Д. А., группа 5030102/40001</a:t>
            </a:r>
          </a:p>
        </p:txBody>
      </p:sp>
    </p:spTree>
    <p:extLst>
      <p:ext uri="{BB962C8B-B14F-4D97-AF65-F5344CB8AC3E}">
        <p14:creationId xmlns:p14="http://schemas.microsoft.com/office/powerpoint/2010/main" val="6708927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9C7A2C-468D-4242-9650-DBD715781C1F}"/>
              </a:ext>
            </a:extLst>
          </p:cNvPr>
          <p:cNvSpPr txBox="1"/>
          <p:nvPr/>
        </p:nvSpPr>
        <p:spPr>
          <a:xfrm>
            <a:off x="3918585" y="4779051"/>
            <a:ext cx="43548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Интерпретатор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поведенческий паттерн.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DE6FBB-255D-4869-878F-B6FA507BAB09}"/>
              </a:ext>
            </a:extLst>
          </p:cNvPr>
          <p:cNvSpPr txBox="1"/>
          <p:nvPr/>
        </p:nvSpPr>
        <p:spPr>
          <a:xfrm>
            <a:off x="4030980" y="356364"/>
            <a:ext cx="4130040" cy="1200329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 проектирования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Типовые решения частых проблем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E70382-5707-48D3-89D5-E4608CB42537}"/>
              </a:ext>
            </a:extLst>
          </p:cNvPr>
          <p:cNvSpPr txBox="1"/>
          <p:nvPr/>
        </p:nvSpPr>
        <p:spPr>
          <a:xfrm>
            <a:off x="1304544" y="2625804"/>
            <a:ext cx="2334768" cy="92333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Порождающие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Управляют созданием объектов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4ACE29-130F-4A33-B11D-66F183441378}"/>
              </a:ext>
            </a:extLst>
          </p:cNvPr>
          <p:cNvSpPr txBox="1"/>
          <p:nvPr/>
        </p:nvSpPr>
        <p:spPr>
          <a:xfrm>
            <a:off x="4772406" y="2630328"/>
            <a:ext cx="2647188" cy="92333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Структурные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Организуют взаимосвязи классов и объектов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A56E00-7247-46DD-ADB7-C4E84FC85424}"/>
              </a:ext>
            </a:extLst>
          </p:cNvPr>
          <p:cNvSpPr txBox="1"/>
          <p:nvPr/>
        </p:nvSpPr>
        <p:spPr>
          <a:xfrm>
            <a:off x="8552688" y="2625804"/>
            <a:ext cx="2938272" cy="92333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Поведенческие</a:t>
            </a:r>
          </a:p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Описывают взаимодействие объектов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92A51F58-F4CC-44EB-A8D2-CEE940F9852A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2471928" y="1556693"/>
            <a:ext cx="3624072" cy="10691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9062B7E5-FCF9-4A13-970E-A8A5ED692CDB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6096000" y="1556693"/>
            <a:ext cx="0" cy="107363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F3C6E69F-247D-437D-AB2C-D2204602A7C2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6096000" y="1556693"/>
            <a:ext cx="3925824" cy="10691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41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F3D55A-82D6-474F-A9F0-FBB9330B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9211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«Интерпретатор»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CB818C-9EDE-456E-833D-5CE63CE304ED}"/>
              </a:ext>
            </a:extLst>
          </p:cNvPr>
          <p:cNvSpPr txBox="1"/>
          <p:nvPr/>
        </p:nvSpPr>
        <p:spPr>
          <a:xfrm>
            <a:off x="2508504" y="1164336"/>
            <a:ext cx="71749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Для заданного языка определить представление его грамматики, а также интерпретатор предложений этого языка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E36BF-3EAD-479C-8CB4-7DE1CACDE5E5}"/>
              </a:ext>
            </a:extLst>
          </p:cNvPr>
          <p:cNvSpPr txBox="1"/>
          <p:nvPr/>
        </p:nvSpPr>
        <p:spPr>
          <a:xfrm>
            <a:off x="1146507" y="2313128"/>
            <a:ext cx="98989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Объяснение: Пусть некоторая часто встречающаяся задача представима как предложения на простом языке.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Можно создать интерпретатор, который решает задачу, анализируя предложения этого языка.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9D117-8C28-4213-94E4-753B7523435C}"/>
              </a:ext>
            </a:extLst>
          </p:cNvPr>
          <p:cNvSpPr txBox="1"/>
          <p:nvPr/>
        </p:nvSpPr>
        <p:spPr>
          <a:xfrm>
            <a:off x="1146507" y="3738919"/>
            <a:ext cx="3926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Математические выражения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AD3F02-1897-495C-A83D-F90A59E3A8C4}"/>
              </a:ext>
            </a:extLst>
          </p:cNvPr>
          <p:cNvSpPr txBox="1"/>
          <p:nvPr/>
        </p:nvSpPr>
        <p:spPr>
          <a:xfrm>
            <a:off x="1146507" y="5116882"/>
            <a:ext cx="51106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Грамматика языка: символы операций (+, -, *, /, !), константы (1, 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5, 70), переменные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x, y, a, b, c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8A0EE2-F356-49E5-820B-E182ACA0E70B}"/>
              </a:ext>
            </a:extLst>
          </p:cNvPr>
          <p:cNvSpPr txBox="1"/>
          <p:nvPr/>
        </p:nvSpPr>
        <p:spPr>
          <a:xfrm>
            <a:off x="1146507" y="4426046"/>
            <a:ext cx="436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Предложения: Математические формулы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9A6BED4-A975-45C3-9B02-839B12357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7334" y="3262428"/>
            <a:ext cx="2629154" cy="269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33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C7703F-1FEB-4BF2-AB2E-2C1EF18BF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5851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Особенности реализации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9FC1A-5274-47FB-B3CE-468F91D16F31}"/>
              </a:ext>
            </a:extLst>
          </p:cNvPr>
          <p:cNvSpPr txBox="1"/>
          <p:nvPr/>
        </p:nvSpPr>
        <p:spPr>
          <a:xfrm>
            <a:off x="819912" y="1164621"/>
            <a:ext cx="93665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элемент грамматики называется правилом.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Правила бывают терминальными и нетерминальными.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 «Интерпретатор» представляет каждое правило как отдельный класс.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5E8ACC-88FE-42FC-B641-83DB6CF04987}"/>
              </a:ext>
            </a:extLst>
          </p:cNvPr>
          <p:cNvSpPr txBox="1"/>
          <p:nvPr/>
        </p:nvSpPr>
        <p:spPr>
          <a:xfrm>
            <a:off x="1371600" y="2097738"/>
            <a:ext cx="32308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05DC2-1184-4022-8DAD-2AB3884DC964}"/>
              </a:ext>
            </a:extLst>
          </p:cNvPr>
          <p:cNvSpPr txBox="1"/>
          <p:nvPr/>
        </p:nvSpPr>
        <p:spPr>
          <a:xfrm>
            <a:off x="2685288" y="2098013"/>
            <a:ext cx="134721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AddExpression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C241B9C4-8A7D-450D-92D8-C2088BF562A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694688" y="2251627"/>
            <a:ext cx="990600" cy="27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26458DB-91A0-453B-B657-5DC180BE69E1}"/>
              </a:ext>
            </a:extLst>
          </p:cNvPr>
          <p:cNvSpPr txBox="1"/>
          <p:nvPr/>
        </p:nvSpPr>
        <p:spPr>
          <a:xfrm>
            <a:off x="1371600" y="2558406"/>
            <a:ext cx="323088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53A811-B7ED-4AD0-BBB0-11FE2B8D796E}"/>
              </a:ext>
            </a:extLst>
          </p:cNvPr>
          <p:cNvSpPr txBox="1"/>
          <p:nvPr/>
        </p:nvSpPr>
        <p:spPr>
          <a:xfrm>
            <a:off x="2685288" y="2558479"/>
            <a:ext cx="169773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SubtractExpression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0E24FFB5-F095-4EBD-8EA9-6E7FB922AD2B}"/>
              </a:ext>
            </a:extLst>
          </p:cNvPr>
          <p:cNvCxnSpPr>
            <a:stCxn id="8" idx="3"/>
            <a:endCxn id="9" idx="1"/>
          </p:cNvCxnSpPr>
          <p:nvPr/>
        </p:nvCxnSpPr>
        <p:spPr>
          <a:xfrm>
            <a:off x="1694688" y="2712295"/>
            <a:ext cx="990600" cy="73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8A33874-2D7C-4EA8-8CBB-3123B6AA14DB}"/>
              </a:ext>
            </a:extLst>
          </p:cNvPr>
          <p:cNvSpPr txBox="1"/>
          <p:nvPr/>
        </p:nvSpPr>
        <p:spPr>
          <a:xfrm>
            <a:off x="816864" y="3020637"/>
            <a:ext cx="87782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FF6AEED-8023-44A5-B148-FBB6C5269262}"/>
              </a:ext>
            </a:extLst>
          </p:cNvPr>
          <p:cNvSpPr txBox="1"/>
          <p:nvPr/>
        </p:nvSpPr>
        <p:spPr>
          <a:xfrm>
            <a:off x="2685288" y="3018873"/>
            <a:ext cx="169773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NumberExpression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15F437BF-B22A-4F43-B24B-9F00FEC7192D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 flipV="1">
            <a:off x="1694688" y="3172762"/>
            <a:ext cx="990600" cy="1764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008DB9-FD67-45D0-BCDD-4666BEE67736}"/>
              </a:ext>
            </a:extLst>
          </p:cNvPr>
          <p:cNvSpPr txBox="1"/>
          <p:nvPr/>
        </p:nvSpPr>
        <p:spPr>
          <a:xfrm>
            <a:off x="816864" y="3484501"/>
            <a:ext cx="877824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3EAB61-4C42-4512-9904-974BEDC2C623}"/>
              </a:ext>
            </a:extLst>
          </p:cNvPr>
          <p:cNvSpPr txBox="1"/>
          <p:nvPr/>
        </p:nvSpPr>
        <p:spPr>
          <a:xfrm>
            <a:off x="2685288" y="3486098"/>
            <a:ext cx="134721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VarExpression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5A195AC9-0987-4536-A31D-FBC378027E2D}"/>
              </a:ext>
            </a:extLst>
          </p:cNvPr>
          <p:cNvCxnSpPr>
            <a:stCxn id="17" idx="3"/>
            <a:endCxn id="18" idx="1"/>
          </p:cNvCxnSpPr>
          <p:nvPr/>
        </p:nvCxnSpPr>
        <p:spPr>
          <a:xfrm>
            <a:off x="1694688" y="3638390"/>
            <a:ext cx="990600" cy="1597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8279C9F0-2F4E-4FE9-92A5-7826075E4EAA}"/>
              </a:ext>
            </a:extLst>
          </p:cNvPr>
          <p:cNvSpPr txBox="1"/>
          <p:nvPr/>
        </p:nvSpPr>
        <p:spPr>
          <a:xfrm>
            <a:off x="816864" y="4482115"/>
            <a:ext cx="9491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Объекты этих классов формируют рекурсивное абстрактное синтаксическое дерево (нетерминальные правила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узлах, терминальные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листьях)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Каждый объект способен интерпретировать себя через метод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2CD82D8-C4D4-4963-AC4E-78004E7A747E}"/>
              </a:ext>
            </a:extLst>
          </p:cNvPr>
          <p:cNvSpPr txBox="1"/>
          <p:nvPr/>
        </p:nvSpPr>
        <p:spPr>
          <a:xfrm>
            <a:off x="5737860" y="3141983"/>
            <a:ext cx="120091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* (1 + 3)</a:t>
            </a:r>
          </a:p>
        </p:txBody>
      </p:sp>
      <p:sp>
        <p:nvSpPr>
          <p:cNvPr id="56" name="Стрелка: влево-вправо 55">
            <a:extLst>
              <a:ext uri="{FF2B5EF4-FFF2-40B4-BE49-F238E27FC236}">
                <a16:creationId xmlns:a16="http://schemas.microsoft.com/office/drawing/2014/main" id="{5BE4E707-70CA-4B2F-947A-0E67EA22A3F4}"/>
              </a:ext>
            </a:extLst>
          </p:cNvPr>
          <p:cNvSpPr/>
          <p:nvPr/>
        </p:nvSpPr>
        <p:spPr>
          <a:xfrm>
            <a:off x="7132320" y="3274023"/>
            <a:ext cx="481584" cy="105253"/>
          </a:xfrm>
          <a:prstGeom prst="left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E1A09A0-16BC-4C11-B3D9-7761849FE108}"/>
              </a:ext>
            </a:extLst>
          </p:cNvPr>
          <p:cNvSpPr txBox="1"/>
          <p:nvPr/>
        </p:nvSpPr>
        <p:spPr>
          <a:xfrm>
            <a:off x="8845296" y="2389698"/>
            <a:ext cx="169773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MultiplyExpression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04E88D2-2902-4E08-A23E-E2DE9E71BBAD}"/>
              </a:ext>
            </a:extLst>
          </p:cNvPr>
          <p:cNvSpPr txBox="1"/>
          <p:nvPr/>
        </p:nvSpPr>
        <p:spPr>
          <a:xfrm>
            <a:off x="9721596" y="3111810"/>
            <a:ext cx="1347216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AddExpression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C5D4C9-6581-444E-9567-FF1390F016BE}"/>
              </a:ext>
            </a:extLst>
          </p:cNvPr>
          <p:cNvSpPr txBox="1"/>
          <p:nvPr/>
        </p:nvSpPr>
        <p:spPr>
          <a:xfrm>
            <a:off x="7802880" y="3107607"/>
            <a:ext cx="169773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NumberExpression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9585F5-C3E6-4468-A52A-46ED0C56CCC7}"/>
              </a:ext>
            </a:extLst>
          </p:cNvPr>
          <p:cNvSpPr txBox="1"/>
          <p:nvPr/>
        </p:nvSpPr>
        <p:spPr>
          <a:xfrm>
            <a:off x="10387584" y="3849878"/>
            <a:ext cx="169773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NumberExpression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3580D99-297C-49C8-92DC-FDB23DF2A714}"/>
              </a:ext>
            </a:extLst>
          </p:cNvPr>
          <p:cNvSpPr txBox="1"/>
          <p:nvPr/>
        </p:nvSpPr>
        <p:spPr>
          <a:xfrm>
            <a:off x="8488680" y="3849878"/>
            <a:ext cx="1697736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NumberExpression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endParaRPr lang="ru-RU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3" name="Прямая со стрелкой 62">
            <a:extLst>
              <a:ext uri="{FF2B5EF4-FFF2-40B4-BE49-F238E27FC236}">
                <a16:creationId xmlns:a16="http://schemas.microsoft.com/office/drawing/2014/main" id="{FAB2EB4F-946A-4EDB-9CEB-9590F802D084}"/>
              </a:ext>
            </a:extLst>
          </p:cNvPr>
          <p:cNvCxnSpPr>
            <a:stCxn id="57" idx="2"/>
            <a:endCxn id="59" idx="0"/>
          </p:cNvCxnSpPr>
          <p:nvPr/>
        </p:nvCxnSpPr>
        <p:spPr>
          <a:xfrm flipH="1">
            <a:off x="8651748" y="2697475"/>
            <a:ext cx="1042416" cy="4101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5" name="Прямая со стрелкой 64">
            <a:extLst>
              <a:ext uri="{FF2B5EF4-FFF2-40B4-BE49-F238E27FC236}">
                <a16:creationId xmlns:a16="http://schemas.microsoft.com/office/drawing/2014/main" id="{3FC7746C-1768-4067-8377-C3B9240732CE}"/>
              </a:ext>
            </a:extLst>
          </p:cNvPr>
          <p:cNvCxnSpPr>
            <a:stCxn id="57" idx="2"/>
            <a:endCxn id="58" idx="0"/>
          </p:cNvCxnSpPr>
          <p:nvPr/>
        </p:nvCxnSpPr>
        <p:spPr>
          <a:xfrm>
            <a:off x="9694164" y="2697475"/>
            <a:ext cx="701040" cy="414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Прямая со стрелкой 66">
            <a:extLst>
              <a:ext uri="{FF2B5EF4-FFF2-40B4-BE49-F238E27FC236}">
                <a16:creationId xmlns:a16="http://schemas.microsoft.com/office/drawing/2014/main" id="{3BB906C8-7633-482C-BF36-0CF8824184B9}"/>
              </a:ext>
            </a:extLst>
          </p:cNvPr>
          <p:cNvCxnSpPr>
            <a:stCxn id="58" idx="2"/>
            <a:endCxn id="61" idx="0"/>
          </p:cNvCxnSpPr>
          <p:nvPr/>
        </p:nvCxnSpPr>
        <p:spPr>
          <a:xfrm flipH="1">
            <a:off x="9337548" y="3419587"/>
            <a:ext cx="1057656" cy="430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Прямая со стрелкой 68">
            <a:extLst>
              <a:ext uri="{FF2B5EF4-FFF2-40B4-BE49-F238E27FC236}">
                <a16:creationId xmlns:a16="http://schemas.microsoft.com/office/drawing/2014/main" id="{D1E81C40-013D-4A3E-811A-3FC19ECCEF71}"/>
              </a:ext>
            </a:extLst>
          </p:cNvPr>
          <p:cNvCxnSpPr>
            <a:stCxn id="58" idx="2"/>
            <a:endCxn id="60" idx="0"/>
          </p:cNvCxnSpPr>
          <p:nvPr/>
        </p:nvCxnSpPr>
        <p:spPr>
          <a:xfrm>
            <a:off x="10395204" y="3419587"/>
            <a:ext cx="841248" cy="4302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4098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6E8C2-B2F6-41E3-BDDA-9373B974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46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UML: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9780D89-C4B3-4D63-B2D8-0296440544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60" y="1174250"/>
            <a:ext cx="9174480" cy="5046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590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56E8C2-B2F6-41E3-BDDA-9373B974C0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61467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UML: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классов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304D7ED-8BA7-42FC-AF0B-16F809CE58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00" y="2717917"/>
            <a:ext cx="11741599" cy="142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399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7D3DB-CF99-43A9-B140-12B087576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804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UML: </a:t>
            </a: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Диаграмма последовательности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791FA6E-2F01-45EE-94F6-C75BB4F0E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168" y="1137935"/>
            <a:ext cx="11027664" cy="51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9074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D71D3F-3445-407B-A271-0617962D8D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8731"/>
          </a:xfrm>
        </p:spPr>
        <p:txBody>
          <a:bodyPr>
            <a:normAutofit/>
          </a:bodyPr>
          <a:lstStyle/>
          <a:p>
            <a:pPr algn="ctr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Применения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D05DA4-647C-48BC-8A45-74873A7E9B64}"/>
              </a:ext>
            </a:extLst>
          </p:cNvPr>
          <p:cNvSpPr txBox="1"/>
          <p:nvPr/>
        </p:nvSpPr>
        <p:spPr>
          <a:xfrm>
            <a:off x="1018032" y="1511808"/>
            <a:ext cx="2840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Регулярные выражения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CF3A6-8D23-4B7B-80B6-345E0DD8BC42}"/>
              </a:ext>
            </a:extLst>
          </p:cNvPr>
          <p:cNvSpPr txBox="1"/>
          <p:nvPr/>
        </p:nvSpPr>
        <p:spPr>
          <a:xfrm>
            <a:off x="7699248" y="1511808"/>
            <a:ext cx="3121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Калькуляторы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62AFA1-6257-4FF7-8A37-9E7EEAFCD5BF}"/>
              </a:ext>
            </a:extLst>
          </p:cNvPr>
          <p:cNvSpPr txBox="1"/>
          <p:nvPr/>
        </p:nvSpPr>
        <p:spPr>
          <a:xfrm>
            <a:off x="1018032" y="4181856"/>
            <a:ext cx="2767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парсеры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74878-5141-4899-B60C-5FEAA0E0E7DA}"/>
              </a:ext>
            </a:extLst>
          </p:cNvPr>
          <p:cNvSpPr txBox="1"/>
          <p:nvPr/>
        </p:nvSpPr>
        <p:spPr>
          <a:xfrm>
            <a:off x="7699248" y="4181856"/>
            <a:ext cx="34198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фильтрации данных</a:t>
            </a:r>
          </a:p>
        </p:txBody>
      </p:sp>
    </p:spTree>
    <p:extLst>
      <p:ext uri="{BB962C8B-B14F-4D97-AF65-F5344CB8AC3E}">
        <p14:creationId xmlns:p14="http://schemas.microsoft.com/office/powerpoint/2010/main" val="2927801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E706F2-109F-455A-9743-B41921C185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5307"/>
          </a:xfrm>
        </p:spPr>
        <p:txBody>
          <a:bodyPr>
            <a:normAutofit/>
          </a:bodyPr>
          <a:lstStyle/>
          <a:p>
            <a:pPr algn="ctr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 и недостатки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FE33622-99FD-4613-86DC-D045BF372370}"/>
              </a:ext>
            </a:extLst>
          </p:cNvPr>
          <p:cNvSpPr txBox="1"/>
          <p:nvPr/>
        </p:nvSpPr>
        <p:spPr>
          <a:xfrm>
            <a:off x="1267969" y="2072640"/>
            <a:ext cx="3797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Преимущества: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 расширять грамматику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Легко менять реализацию правил грамматики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Структура кода логична и проста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10D4F4-7F81-4D9C-BB02-465D303E75D7}"/>
              </a:ext>
            </a:extLst>
          </p:cNvPr>
          <p:cNvSpPr txBox="1"/>
          <p:nvPr/>
        </p:nvSpPr>
        <p:spPr>
          <a:xfrm>
            <a:off x="7126224" y="2072640"/>
            <a:ext cx="415137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Недостатки: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Взрывной рост классов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Для сложных грамматик необходимы сложные парсеры выражений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Низкая производительность, если сравнивать со специализированными парсерами</a:t>
            </a:r>
          </a:p>
        </p:txBody>
      </p:sp>
    </p:spTree>
    <p:extLst>
      <p:ext uri="{BB962C8B-B14F-4D97-AF65-F5344CB8AC3E}">
        <p14:creationId xmlns:p14="http://schemas.microsoft.com/office/powerpoint/2010/main" val="32302422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A5E6A8-C448-4E32-B158-8A376D3DF3A9}"/>
              </a:ext>
            </a:extLst>
          </p:cNvPr>
          <p:cNvSpPr txBox="1"/>
          <p:nvPr/>
        </p:nvSpPr>
        <p:spPr>
          <a:xfrm>
            <a:off x="3855720" y="2844225"/>
            <a:ext cx="4480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02075079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5364</TotalTime>
  <Words>269</Words>
  <Application>Microsoft Office PowerPoint</Application>
  <PresentationFormat>Широкоэкранный</PresentationFormat>
  <Paragraphs>55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Тема Office</vt:lpstr>
      <vt:lpstr>Паттерн «Интерпретатор»</vt:lpstr>
      <vt:lpstr>Презентация PowerPoint</vt:lpstr>
      <vt:lpstr>«Интерпретатор»</vt:lpstr>
      <vt:lpstr>Особенности реализации</vt:lpstr>
      <vt:lpstr>UML: Диаграмма классов</vt:lpstr>
      <vt:lpstr>UML: Диаграмма классов</vt:lpstr>
      <vt:lpstr>UML: Диаграмма последовательности</vt:lpstr>
      <vt:lpstr>Применения</vt:lpstr>
      <vt:lpstr>Преимущества и недостатки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Паттерн «Интерпретатор»</dc:title>
  <dc:creator>nda0906@mail.ru</dc:creator>
  <cp:lastModifiedBy>nda0906@mail.ru</cp:lastModifiedBy>
  <cp:revision>47</cp:revision>
  <dcterms:created xsi:type="dcterms:W3CDTF">2026-05-14T21:35:57Z</dcterms:created>
  <dcterms:modified xsi:type="dcterms:W3CDTF">2026-05-22T17:10:13Z</dcterms:modified>
</cp:coreProperties>
</file>