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67DF0C3-9A68-4249-A3B1-E338F4B59BE1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254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217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167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362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514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22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358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5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349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166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799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2" r:id="rId6"/>
    <p:sldLayoutId id="2147483698" r:id="rId7"/>
    <p:sldLayoutId id="2147483699" r:id="rId8"/>
    <p:sldLayoutId id="2147483700" r:id="rId9"/>
    <p:sldLayoutId id="2147483701" r:id="rId10"/>
    <p:sldLayoutId id="214748370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03DF22D4-085C-4DEA-A8C9-ABB25DD1144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0">
            <a:extLst>
              <a:ext uri="{FF2B5EF4-FFF2-40B4-BE49-F238E27FC236}">
                <a16:creationId xmlns:a16="http://schemas.microsoft.com/office/drawing/2014/main" id="{1103FDB8-D911-F8F8-F9EC-FB7FF5435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4324"/>
            <a:ext cx="12192000" cy="2573677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17000"/>
                </a:schemeClr>
              </a:gs>
              <a:gs pos="65000">
                <a:schemeClr val="bg1">
                  <a:alpha val="29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F2DC00-F18B-40D0-9B7A-3EE02731C6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2113611"/>
            <a:ext cx="7983068" cy="974347"/>
          </a:xfrm>
          <a:ln>
            <a:noFill/>
          </a:ln>
        </p:spPr>
        <p:txBody>
          <a:bodyPr anchor="ctr">
            <a:normAutofit/>
          </a:bodyPr>
          <a:lstStyle/>
          <a:p>
            <a:r>
              <a:rPr lang="en-US" sz="3600" dirty="0"/>
              <a:t>Java – </a:t>
            </a:r>
            <a:r>
              <a:rPr lang="ru-RU" sz="3600" dirty="0"/>
              <a:t>командная строка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6F1B3A8-EC35-4FB4-96F8-109B8D2B8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971" y="5740842"/>
            <a:ext cx="3633535" cy="938255"/>
          </a:xfrm>
        </p:spPr>
        <p:txBody>
          <a:bodyPr anchor="b">
            <a:normAutofit fontScale="47500" lnSpcReduction="20000"/>
          </a:bodyPr>
          <a:lstStyle/>
          <a:p>
            <a:r>
              <a:rPr lang="ru-RU" sz="2300" dirty="0"/>
              <a:t>Работу выполнили:</a:t>
            </a:r>
            <a:br>
              <a:rPr lang="ru-RU" sz="2300" dirty="0"/>
            </a:br>
            <a:r>
              <a:rPr lang="ru-RU" sz="2300" dirty="0"/>
              <a:t>Зорина Алиса</a:t>
            </a:r>
            <a:br>
              <a:rPr lang="ru-RU" sz="2300" dirty="0"/>
            </a:br>
            <a:r>
              <a:rPr lang="ru-RU" sz="2300" dirty="0"/>
              <a:t>Дейснер Полина</a:t>
            </a:r>
            <a:br>
              <a:rPr lang="ru-RU" sz="2300" dirty="0"/>
            </a:br>
            <a:r>
              <a:rPr lang="ru-RU" sz="2300" dirty="0"/>
              <a:t>группа 5030102/40001</a:t>
            </a:r>
            <a:br>
              <a:rPr lang="ru-RU" sz="1600" dirty="0"/>
            </a:b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7898894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0024EA-6B7B-4359-9D7E-95775DB6F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>
              <a:spcBef>
                <a:spcPts val="0"/>
              </a:spcBef>
              <a:spcAft>
                <a:spcPts val="1200"/>
              </a:spcAft>
            </a:pPr>
            <a:r>
              <a:rPr lang="ru-RU" sz="2700" b="0" i="0" u="none" strike="noStrike" dirty="0">
                <a:solidFill>
                  <a:srgbClr val="0F1115"/>
                </a:solidFill>
                <a:effectLst/>
              </a:rPr>
              <a:t>Командная строка — это текстовый способ взаимодействия с компьютером. </a:t>
            </a:r>
            <a:br>
              <a:rPr lang="ru-RU" sz="5300" b="0" dirty="0">
                <a:effectLst/>
              </a:rPr>
            </a:br>
            <a:br>
              <a:rPr lang="ru-RU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36A506-4030-4C1A-BFAF-FA55BA6D3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99180" y="1921631"/>
            <a:ext cx="2193640" cy="60072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Применение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2CD7AD-099F-41D6-A93D-2E049DA1465C}"/>
              </a:ext>
            </a:extLst>
          </p:cNvPr>
          <p:cNvSpPr txBox="1"/>
          <p:nvPr/>
        </p:nvSpPr>
        <p:spPr>
          <a:xfrm>
            <a:off x="1017767" y="2584174"/>
            <a:ext cx="20037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Компиляция и </a:t>
            </a:r>
            <a:br>
              <a:rPr lang="ru-RU" dirty="0"/>
            </a:br>
            <a:r>
              <a:rPr lang="ru-RU" dirty="0"/>
              <a:t>запуск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139C06-CD36-444E-8B16-696D9156C53B}"/>
              </a:ext>
            </a:extLst>
          </p:cNvPr>
          <p:cNvSpPr txBox="1"/>
          <p:nvPr/>
        </p:nvSpPr>
        <p:spPr>
          <a:xfrm>
            <a:off x="2385391" y="3681454"/>
            <a:ext cx="20037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Кодировка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2949B-79E3-4B76-B1E8-034B5B866541}"/>
              </a:ext>
            </a:extLst>
          </p:cNvPr>
          <p:cNvSpPr txBox="1"/>
          <p:nvPr/>
        </p:nvSpPr>
        <p:spPr>
          <a:xfrm>
            <a:off x="3625795" y="4431152"/>
            <a:ext cx="21936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Предупреждения и ошибки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71237B-2D04-4D44-9746-2273D0DE36D9}"/>
              </a:ext>
            </a:extLst>
          </p:cNvPr>
          <p:cNvSpPr txBox="1"/>
          <p:nvPr/>
        </p:nvSpPr>
        <p:spPr>
          <a:xfrm>
            <a:off x="6392849" y="3737113"/>
            <a:ext cx="2107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Сохранение в другую папку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699AB2-34B2-400A-9803-3C68F6A78A47}"/>
              </a:ext>
            </a:extLst>
          </p:cNvPr>
          <p:cNvSpPr txBox="1"/>
          <p:nvPr/>
        </p:nvSpPr>
        <p:spPr>
          <a:xfrm>
            <a:off x="8825948" y="3058746"/>
            <a:ext cx="1637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Версия </a:t>
            </a:r>
            <a:r>
              <a:rPr lang="en-US" dirty="0"/>
              <a:t>java</a:t>
            </a:r>
            <a:r>
              <a:rPr lang="ru-RU" dirty="0"/>
              <a:t> и ключ</a:t>
            </a:r>
            <a:r>
              <a:rPr lang="en-US" dirty="0"/>
              <a:t> -source 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B60C33-AD33-4941-A9FF-218687499C44}"/>
              </a:ext>
            </a:extLst>
          </p:cNvPr>
          <p:cNvSpPr txBox="1"/>
          <p:nvPr/>
        </p:nvSpPr>
        <p:spPr>
          <a:xfrm>
            <a:off x="8388627" y="1809980"/>
            <a:ext cx="691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JAR</a:t>
            </a:r>
            <a:endParaRPr lang="ru-RU" dirty="0"/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676D5AFD-E7C1-4A93-8E1B-B3B1E63DA766}"/>
              </a:ext>
            </a:extLst>
          </p:cNvPr>
          <p:cNvCxnSpPr/>
          <p:nvPr/>
        </p:nvCxnSpPr>
        <p:spPr>
          <a:xfrm flipH="1">
            <a:off x="3021496" y="2417197"/>
            <a:ext cx="1701119" cy="31010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A4CB0C86-CB9F-47E8-AF3B-F5F25D84722F}"/>
              </a:ext>
            </a:extLst>
          </p:cNvPr>
          <p:cNvCxnSpPr>
            <a:cxnSpLocks/>
          </p:cNvCxnSpPr>
          <p:nvPr/>
        </p:nvCxnSpPr>
        <p:spPr>
          <a:xfrm flipH="1">
            <a:off x="3872056" y="2569597"/>
            <a:ext cx="1255526" cy="11118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CE88EE0-9AEE-479C-9BB0-F91CBBA3A885}"/>
              </a:ext>
            </a:extLst>
          </p:cNvPr>
          <p:cNvCxnSpPr>
            <a:cxnSpLocks/>
          </p:cNvCxnSpPr>
          <p:nvPr/>
        </p:nvCxnSpPr>
        <p:spPr>
          <a:xfrm flipH="1">
            <a:off x="5136543" y="2602358"/>
            <a:ext cx="436632" cy="16846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F7FAA767-663D-4F11-890E-1972C7795A74}"/>
              </a:ext>
            </a:extLst>
          </p:cNvPr>
          <p:cNvCxnSpPr>
            <a:cxnSpLocks/>
          </p:cNvCxnSpPr>
          <p:nvPr/>
        </p:nvCxnSpPr>
        <p:spPr>
          <a:xfrm>
            <a:off x="6209279" y="2569597"/>
            <a:ext cx="803773" cy="1167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>
            <a:extLst>
              <a:ext uri="{FF2B5EF4-FFF2-40B4-BE49-F238E27FC236}">
                <a16:creationId xmlns:a16="http://schemas.microsoft.com/office/drawing/2014/main" id="{C0B0543C-EE66-411B-ACC7-5F46EA08987D}"/>
              </a:ext>
            </a:extLst>
          </p:cNvPr>
          <p:cNvCxnSpPr>
            <a:cxnSpLocks/>
          </p:cNvCxnSpPr>
          <p:nvPr/>
        </p:nvCxnSpPr>
        <p:spPr>
          <a:xfrm flipV="1">
            <a:off x="6822219" y="2045602"/>
            <a:ext cx="1455089" cy="13371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>
            <a:extLst>
              <a:ext uri="{FF2B5EF4-FFF2-40B4-BE49-F238E27FC236}">
                <a16:creationId xmlns:a16="http://schemas.microsoft.com/office/drawing/2014/main" id="{ACFF3227-07FE-461A-929F-ACFCA46A07B6}"/>
              </a:ext>
            </a:extLst>
          </p:cNvPr>
          <p:cNvCxnSpPr>
            <a:cxnSpLocks/>
          </p:cNvCxnSpPr>
          <p:nvPr/>
        </p:nvCxnSpPr>
        <p:spPr>
          <a:xfrm>
            <a:off x="6611165" y="2441791"/>
            <a:ext cx="1777462" cy="78743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347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000865-007D-4CED-97D3-F4875A68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Запуск программы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5EDD70-CA70-48A0-AC91-8323B3FF8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0635" y="3836106"/>
            <a:ext cx="5212080" cy="1069848"/>
          </a:xfr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pPr marL="0" indent="0" algn="ctr">
              <a:buNone/>
            </a:pPr>
            <a:r>
              <a:rPr lang="en-US" sz="2800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 HelloWorld.java</a:t>
            </a:r>
            <a:b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java HelloWorld.java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CA9849FA-F1EE-45FB-A509-CD8043943E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9820" y="3918601"/>
            <a:ext cx="5212080" cy="904858"/>
          </a:xfr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solidFill>
                  <a:schemeClr val="bg1"/>
                </a:solidFill>
                <a:latin typeface="Consolas" panose="020B0609020204030204" pitchFamily="49" charset="0"/>
              </a:rPr>
              <a:t>Java HelloWorld.java</a:t>
            </a:r>
            <a:endParaRPr lang="ru-RU" sz="28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2BA1F-217F-4408-A11F-AA07EA0CCEE3}"/>
              </a:ext>
            </a:extLst>
          </p:cNvPr>
          <p:cNvSpPr txBox="1"/>
          <p:nvPr/>
        </p:nvSpPr>
        <p:spPr>
          <a:xfrm>
            <a:off x="2181702" y="2221992"/>
            <a:ext cx="251857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На версиях до </a:t>
            </a:r>
            <a:r>
              <a:rPr lang="en-US" dirty="0"/>
              <a:t>Java11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32CE86-2DD8-478B-8753-EECCFF168B5B}"/>
              </a:ext>
            </a:extLst>
          </p:cNvPr>
          <p:cNvSpPr txBox="1"/>
          <p:nvPr/>
        </p:nvSpPr>
        <p:spPr>
          <a:xfrm>
            <a:off x="7491725" y="2221992"/>
            <a:ext cx="28604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dirty="0"/>
              <a:t>На версии </a:t>
            </a:r>
            <a:r>
              <a:rPr lang="en-US" dirty="0"/>
              <a:t>Java11</a:t>
            </a:r>
          </a:p>
        </p:txBody>
      </p:sp>
    </p:spTree>
    <p:extLst>
      <p:ext uri="{BB962C8B-B14F-4D97-AF65-F5344CB8AC3E}">
        <p14:creationId xmlns:p14="http://schemas.microsoft.com/office/powerpoint/2010/main" val="2371520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7955BA-3D1D-4043-8C25-E29206EB7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Команды кодировки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111F4050-A655-4672-96CB-6F3C2D5255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221992"/>
            <a:ext cx="8968151" cy="3137187"/>
          </a:xfrm>
          <a:solidFill>
            <a:schemeClr val="tx1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-encoding UTF-8 DemoEncoding.java</a:t>
            </a:r>
            <a:b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java -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Dfile.encoding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=UTF-8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DemoEncoding.javaJavac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–encoding 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-encoding CP1251 DemoEncoding.java</a:t>
            </a:r>
            <a:b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chcp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1251</a:t>
            </a:r>
            <a:b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java DemoEncoding.java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-encoding UTF-8 DemoEncoding.java</a:t>
            </a:r>
            <a:b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chcp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65001</a:t>
            </a:r>
            <a:b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</a:b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java DemoEncoding.java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9588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8DBCC2-27D0-40DA-B28A-ED83F419C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Предупреждения компилятора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FCD396B-A6E4-4AC4-A1E6-7720C501E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1721" y="3168197"/>
            <a:ext cx="5310551" cy="648429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- компиляция со всеми предупреждениями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40D8BEC-8A81-4646-927A-B26683D7185A}"/>
              </a:ext>
            </a:extLst>
          </p:cNvPr>
          <p:cNvSpPr/>
          <p:nvPr/>
        </p:nvSpPr>
        <p:spPr>
          <a:xfrm>
            <a:off x="564543" y="2727297"/>
            <a:ext cx="5247860" cy="1307592"/>
          </a:xfrm>
          <a:prstGeom prst="rect">
            <a:avLst/>
          </a:prstGeom>
          <a:solidFill>
            <a:schemeClr val="tx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miter lim="800000"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BDFEE6-C6AF-4654-8DC7-33E96D897681}"/>
              </a:ext>
            </a:extLst>
          </p:cNvPr>
          <p:cNvSpPr txBox="1"/>
          <p:nvPr/>
        </p:nvSpPr>
        <p:spPr>
          <a:xfrm>
            <a:off x="852778" y="3196427"/>
            <a:ext cx="60946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-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Xlint:all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DemoWarnings.java</a:t>
            </a:r>
            <a:r>
              <a:rPr lang="ru-RU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99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40254D-53F9-44AA-8288-EA5345AD2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Выходная директория для .</a:t>
            </a:r>
            <a:r>
              <a:rPr lang="en-US" dirty="0"/>
              <a:t>class</a:t>
            </a:r>
            <a:r>
              <a:rPr lang="ru-RU" dirty="0"/>
              <a:t>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CD85721-0DAC-4B66-A6CD-0ECD476E9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639" y="2468483"/>
            <a:ext cx="4952742" cy="2414017"/>
          </a:xfr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rmdir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/s /q out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mkdir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out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-d ./out DemoOutputDir.java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dir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out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java -cp ./out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DemoOutputDir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F1CD6C-F25E-4C33-8F5B-D3DDDF748906}"/>
              </a:ext>
            </a:extLst>
          </p:cNvPr>
          <p:cNvSpPr txBox="1"/>
          <p:nvPr/>
        </p:nvSpPr>
        <p:spPr>
          <a:xfrm>
            <a:off x="6504167" y="3429000"/>
            <a:ext cx="4269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Компиляция в другую папку</a:t>
            </a:r>
          </a:p>
        </p:txBody>
      </p:sp>
    </p:spTree>
    <p:extLst>
      <p:ext uri="{BB962C8B-B14F-4D97-AF65-F5344CB8AC3E}">
        <p14:creationId xmlns:p14="http://schemas.microsoft.com/office/powerpoint/2010/main" val="544846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BF3234-C7EA-4B05-88BC-2F219324E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Версия </a:t>
            </a:r>
            <a:r>
              <a:rPr lang="en-US" dirty="0"/>
              <a:t>Java </a:t>
            </a:r>
            <a:r>
              <a:rPr lang="ru-RU" dirty="0"/>
              <a:t>и ключ -</a:t>
            </a:r>
            <a:r>
              <a:rPr lang="en-US" dirty="0"/>
              <a:t>source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D0A02A7-6B13-4A7B-A4C6-4C91CEC2E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320" y="2397119"/>
            <a:ext cx="4873229" cy="2063761"/>
          </a:xfr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-version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DemoVersion.java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-source 8 DemoVersion.java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-help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8DDF02-D1A8-4576-866E-2D77EA427F36}"/>
              </a:ext>
            </a:extLst>
          </p:cNvPr>
          <p:cNvSpPr txBox="1"/>
          <p:nvPr/>
        </p:nvSpPr>
        <p:spPr>
          <a:xfrm>
            <a:off x="6241774" y="2743200"/>
            <a:ext cx="46753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b="0" i="0" dirty="0">
                <a:solidFill>
                  <a:srgbClr val="0F1115"/>
                </a:solidFill>
                <a:effectLst/>
              </a:rPr>
              <a:t>Узнать версии </a:t>
            </a:r>
            <a:r>
              <a:rPr lang="ru-RU" sz="2000" b="0" i="0" dirty="0" err="1">
                <a:solidFill>
                  <a:srgbClr val="0F1115"/>
                </a:solidFill>
                <a:effectLst/>
              </a:rPr>
              <a:t>Java</a:t>
            </a:r>
            <a:r>
              <a:rPr lang="ru-RU" sz="2000" b="0" i="0" dirty="0">
                <a:solidFill>
                  <a:srgbClr val="0F1115"/>
                </a:solidFill>
                <a:effectLst/>
              </a:rPr>
              <a:t>-инструментов и понять, как компилировать код с учётом ограничений по версии.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151318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95D2E1-704D-43DD-8D91-4B12499C1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890" y="739472"/>
            <a:ext cx="10691265" cy="1307592"/>
          </a:xfrm>
        </p:spPr>
        <p:txBody>
          <a:bodyPr/>
          <a:lstStyle/>
          <a:p>
            <a:pPr algn="ctr"/>
            <a:r>
              <a:rPr lang="ru-RU" dirty="0"/>
              <a:t>Запуск с опциями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C39D1A-0CB9-4C91-9DA5-7A98D6322232}"/>
              </a:ext>
            </a:extLst>
          </p:cNvPr>
          <p:cNvSpPr txBox="1"/>
          <p:nvPr/>
        </p:nvSpPr>
        <p:spPr>
          <a:xfrm>
            <a:off x="2513532" y="2280240"/>
            <a:ext cx="3267986" cy="400110"/>
          </a:xfrm>
          <a:prstGeom prst="rect">
            <a:avLst/>
          </a:prstGeo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java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JavaOptionsDemo</a:t>
            </a:r>
            <a:endParaRPr lang="ru-RU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B2C2C5-CB5E-417A-9ACD-006C0ECE269C}"/>
              </a:ext>
            </a:extLst>
          </p:cNvPr>
          <p:cNvSpPr txBox="1"/>
          <p:nvPr/>
        </p:nvSpPr>
        <p:spPr>
          <a:xfrm>
            <a:off x="2832909" y="2913526"/>
            <a:ext cx="4776488" cy="400110"/>
          </a:xfrm>
          <a:prstGeom prst="rect">
            <a:avLst/>
          </a:prstGeo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Menlo"/>
              </a:rPr>
              <a:t>java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Menlo"/>
              </a:rPr>
              <a:t>JavaOptionsDemo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Menlo"/>
              </a:rPr>
              <a:t> one two "three four"</a:t>
            </a:r>
            <a:endParaRPr lang="ru-RU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AB0048-AB42-44B0-B209-6FF851593285}"/>
              </a:ext>
            </a:extLst>
          </p:cNvPr>
          <p:cNvSpPr txBox="1"/>
          <p:nvPr/>
        </p:nvSpPr>
        <p:spPr>
          <a:xfrm>
            <a:off x="3381291" y="3546812"/>
            <a:ext cx="5548023" cy="400110"/>
          </a:xfrm>
          <a:prstGeom prst="rect">
            <a:avLst/>
          </a:prstGeo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java -Xms32m -Xmx128m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JavaOptionsDemo</a:t>
            </a:r>
            <a:endParaRPr lang="ru-RU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0F6199-5346-41E6-8C19-297DAF3DF98F}"/>
              </a:ext>
            </a:extLst>
          </p:cNvPr>
          <p:cNvSpPr txBox="1"/>
          <p:nvPr/>
        </p:nvSpPr>
        <p:spPr>
          <a:xfrm>
            <a:off x="4074380" y="4180098"/>
            <a:ext cx="4974204" cy="400110"/>
          </a:xfrm>
          <a:prstGeom prst="rect">
            <a:avLst/>
          </a:prstGeo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Menlo"/>
              </a:rPr>
              <a:t>java -Xmx256m </a:t>
            </a:r>
            <a:r>
              <a:rPr lang="en-US" sz="2000" b="0" i="0" dirty="0" err="1">
                <a:solidFill>
                  <a:schemeClr val="bg1"/>
                </a:solidFill>
                <a:effectLst/>
                <a:latin typeface="Menlo"/>
              </a:rPr>
              <a:t>JavaOptionsDemo</a:t>
            </a:r>
            <a:r>
              <a:rPr lang="en-US" sz="2000" b="0" i="0" dirty="0">
                <a:solidFill>
                  <a:schemeClr val="bg1"/>
                </a:solidFill>
                <a:effectLst/>
                <a:latin typeface="Menlo"/>
              </a:rPr>
              <a:t> arg1 arg2</a:t>
            </a:r>
            <a:endParaRPr lang="ru-RU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7D3CA-4E74-47EF-B758-C8E863D5D41B}"/>
              </a:ext>
            </a:extLst>
          </p:cNvPr>
          <p:cNvSpPr txBox="1"/>
          <p:nvPr/>
        </p:nvSpPr>
        <p:spPr>
          <a:xfrm>
            <a:off x="5901523" y="4898004"/>
            <a:ext cx="1319917" cy="400110"/>
          </a:xfrm>
          <a:prstGeom prst="rect">
            <a:avLst/>
          </a:prstGeo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java -?</a:t>
            </a:r>
            <a:endParaRPr lang="ru-RU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F71B74-0BC1-46D4-98C4-2D43CE8604FB}"/>
              </a:ext>
            </a:extLst>
          </p:cNvPr>
          <p:cNvSpPr txBox="1"/>
          <p:nvPr/>
        </p:nvSpPr>
        <p:spPr>
          <a:xfrm>
            <a:off x="7908897" y="4898004"/>
            <a:ext cx="1319917" cy="400110"/>
          </a:xfrm>
          <a:prstGeom prst="rect">
            <a:avLst/>
          </a:prstGeo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0" i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java -x</a:t>
            </a:r>
            <a:endParaRPr lang="ru-RU" sz="20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7917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C4A3865-3796-4FFC-A0E3-4B5B747F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Calculator.java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C1CB0E-D396-42A3-B0C3-D17DFCEC7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594" y="2118625"/>
            <a:ext cx="3728242" cy="3415483"/>
          </a:xfrm>
          <a:solidFill>
            <a:schemeClr val="tx1"/>
          </a:solidFill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javac Calculator.java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java Calculator 10 + 5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java Calculator 20 / 4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java Calculator 15 x 3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java Calculator 10 - 7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java Calculator 10 / 0</a:t>
            </a:r>
          </a:p>
          <a:p>
            <a:pPr marL="0" indent="0">
              <a:buNone/>
            </a:pPr>
            <a:r>
              <a:rPr lang="pt-BR" dirty="0">
                <a:solidFill>
                  <a:schemeClr val="bg1"/>
                </a:solidFill>
                <a:latin typeface="Consolas" panose="020B0609020204030204" pitchFamily="49" charset="0"/>
              </a:rPr>
              <a:t>java Calculator 5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952836-85B1-44C7-8F18-CD56D2E19C9E}"/>
              </a:ext>
            </a:extLst>
          </p:cNvPr>
          <p:cNvSpPr txBox="1"/>
          <p:nvPr/>
        </p:nvSpPr>
        <p:spPr>
          <a:xfrm>
            <a:off x="6734755" y="2862470"/>
            <a:ext cx="37282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Выполнение базовых математических операций</a:t>
            </a:r>
          </a:p>
        </p:txBody>
      </p:sp>
    </p:spTree>
    <p:extLst>
      <p:ext uri="{BB962C8B-B14F-4D97-AF65-F5344CB8AC3E}">
        <p14:creationId xmlns:p14="http://schemas.microsoft.com/office/powerpoint/2010/main" val="3727588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F0DACF-70CC-4C90-8183-F2763F0BD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JAR (Java </a:t>
            </a:r>
            <a:r>
              <a:rPr lang="en-US" b="0" i="0" dirty="0" err="1">
                <a:solidFill>
                  <a:srgbClr val="0F1115"/>
                </a:solidFill>
                <a:effectLst/>
                <a:latin typeface="quote-cjk-patch"/>
              </a:rPr>
              <a:t>ARchive</a:t>
            </a:r>
            <a:r>
              <a:rPr lang="en-US" b="0" i="0" dirty="0">
                <a:solidFill>
                  <a:srgbClr val="0F1115"/>
                </a:solidFill>
                <a:effectLst/>
                <a:latin typeface="quote-cjk-patch"/>
              </a:rPr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0FB623-BEA3-45B5-A17E-2896543244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6840" y="1967550"/>
            <a:ext cx="8308193" cy="3739896"/>
          </a:xfrm>
          <a:solidFill>
            <a:schemeClr val="tx1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javac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HelloWorld.java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jar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cf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helloworld.jar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HelloWorld.class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jar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tf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helloworld.jar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jar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cfe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helloworld-exec.jar HelloWorld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HelloWorld.class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java -jar helloworld-exec.jar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java -jar helloworld-exec.jar arg1 arg2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jar </a:t>
            </a:r>
            <a:r>
              <a:rPr lang="en-US" dirty="0" err="1">
                <a:solidFill>
                  <a:schemeClr val="bg1"/>
                </a:solidFill>
                <a:latin typeface="Consolas" panose="020B0609020204030204" pitchFamily="49" charset="0"/>
              </a:rPr>
              <a:t>xf</a:t>
            </a: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 helloworld.jar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  <a:latin typeface="Consolas" panose="020B0609020204030204" pitchFamily="49" charset="0"/>
              </a:rPr>
              <a:t>jar --help</a:t>
            </a:r>
            <a:endParaRPr lang="ru-RU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0261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C13807D-3C94-4CD0-82C5-EC2A552C3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7" y="2496710"/>
            <a:ext cx="10691265" cy="1307592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78233558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336</Words>
  <Application>Microsoft Office PowerPoint</Application>
  <PresentationFormat>Широкоэкранный</PresentationFormat>
  <Paragraphs>61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Calisto MT</vt:lpstr>
      <vt:lpstr>Consolas</vt:lpstr>
      <vt:lpstr>Menlo</vt:lpstr>
      <vt:lpstr>quote-cjk-patch</vt:lpstr>
      <vt:lpstr>Univers Condensed</vt:lpstr>
      <vt:lpstr>ChronicleVTI</vt:lpstr>
      <vt:lpstr>Java – командная строка</vt:lpstr>
      <vt:lpstr>Командная строка — это текстовый способ взаимодействия с компьютером.   </vt:lpstr>
      <vt:lpstr>Запуск программы</vt:lpstr>
      <vt:lpstr>Команды кодировки</vt:lpstr>
      <vt:lpstr>Предупреждения компилятора</vt:lpstr>
      <vt:lpstr>Выходная директория для .class файлов</vt:lpstr>
      <vt:lpstr>Версия Java и ключ -source</vt:lpstr>
      <vt:lpstr>Запуск с опциями</vt:lpstr>
      <vt:lpstr>Calculator.java</vt:lpstr>
      <vt:lpstr>JAR (Java ARchive)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– командная строка</dc:title>
  <dc:creator>Полина Дейснер</dc:creator>
  <cp:lastModifiedBy>Полина Дейснер</cp:lastModifiedBy>
  <cp:revision>1</cp:revision>
  <dcterms:created xsi:type="dcterms:W3CDTF">2026-05-07T22:33:07Z</dcterms:created>
  <dcterms:modified xsi:type="dcterms:W3CDTF">2026-05-07T23:22:41Z</dcterms:modified>
</cp:coreProperties>
</file>