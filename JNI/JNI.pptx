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8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824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382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788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358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26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479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714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062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7622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856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4397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2456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1547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057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951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929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896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CAD6F-1BB8-4343-A238-5019A0ABD51A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5A310-2AEF-4895-828C-15E1380124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5560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2B75CB-986D-9534-E161-B26B5920B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1925638"/>
          </a:xfrm>
        </p:spPr>
        <p:txBody>
          <a:bodyPr/>
          <a:lstStyle/>
          <a:p>
            <a:pPr algn="ctr"/>
            <a:r>
              <a:rPr lang="en-US" dirty="0"/>
              <a:t>Java Native Interface (JNI)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B5F95B-DD84-7EBF-B86B-AF06C0700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3809999"/>
            <a:ext cx="5585012" cy="1062318"/>
          </a:xfrm>
        </p:spPr>
        <p:txBody>
          <a:bodyPr/>
          <a:lstStyle/>
          <a:p>
            <a:r>
              <a:rPr lang="ru-RU" dirty="0"/>
              <a:t>Александров Александр 5030102/40002</a:t>
            </a:r>
          </a:p>
          <a:p>
            <a:r>
              <a:rPr lang="ru-RU" dirty="0"/>
              <a:t>Перетятько Дмитрий 5030102/40002</a:t>
            </a:r>
          </a:p>
        </p:txBody>
      </p:sp>
    </p:spTree>
    <p:extLst>
      <p:ext uri="{BB962C8B-B14F-4D97-AF65-F5344CB8AC3E}">
        <p14:creationId xmlns:p14="http://schemas.microsoft.com/office/powerpoint/2010/main" val="3817409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A86D3-92C4-FA9E-5721-82FB96367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effectLst/>
              </a:rPr>
              <a:t>Что такое </a:t>
            </a:r>
            <a:r>
              <a:rPr lang="en-US" b="1" dirty="0">
                <a:effectLst/>
              </a:rPr>
              <a:t>JNI?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4943EA-019D-2C74-ECF4-B7746640F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4563640" cy="4058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effectLst/>
              </a:rPr>
              <a:t>Java </a:t>
            </a:r>
            <a:r>
              <a:rPr lang="ru-RU" b="1" dirty="0" err="1">
                <a:effectLst/>
              </a:rPr>
              <a:t>Native</a:t>
            </a:r>
            <a:r>
              <a:rPr lang="ru-RU" b="1" dirty="0">
                <a:effectLst/>
              </a:rPr>
              <a:t> Interface </a:t>
            </a:r>
            <a:r>
              <a:rPr lang="ru-RU" dirty="0">
                <a:effectLst/>
              </a:rPr>
              <a:t>-</a:t>
            </a:r>
            <a:r>
              <a:rPr lang="ru-RU" b="1" dirty="0">
                <a:effectLst/>
              </a:rPr>
              <a:t> </a:t>
            </a:r>
            <a:r>
              <a:rPr lang="ru-RU" dirty="0">
                <a:effectLst/>
              </a:rPr>
              <a:t>это</a:t>
            </a:r>
            <a:r>
              <a:rPr lang="ru-RU" b="1" dirty="0">
                <a:effectLst/>
              </a:rPr>
              <a:t> </a:t>
            </a:r>
            <a:r>
              <a:rPr lang="ru-RU" dirty="0"/>
              <a:t>стандартный механизм JVM,</a:t>
            </a:r>
            <a:r>
              <a:rPr lang="ru-RU" dirty="0">
                <a:effectLst/>
              </a:rPr>
              <a:t> программный интерфейс в языке программирования Java, который позволяет взаимодействовать с приложениями и библиотеками, написанными на других языках программирования</a:t>
            </a:r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EBC567C8-20F0-57D2-28BF-3DDD2F0F3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676" y="2376487"/>
            <a:ext cx="5715000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264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26EE74-BC81-4F24-1F94-AC2B9DB9B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Когда использовать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E8C83A9-6E9B-2BE2-B5D2-40E81ED89F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311758"/>
              </p:ext>
            </p:extLst>
          </p:nvPr>
        </p:nvGraphicFramePr>
        <p:xfrm>
          <a:off x="1141413" y="1882587"/>
          <a:ext cx="9906000" cy="4150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281119317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595751343"/>
                    </a:ext>
                  </a:extLst>
                </a:gridCol>
              </a:tblGrid>
              <a:tr h="83013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Причина использования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Пример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933236"/>
                  </a:ext>
                </a:extLst>
              </a:tr>
              <a:tr h="830132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Доступ к системному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Чтение реестра Windows, сигналы Linux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12430"/>
                  </a:ext>
                </a:extLst>
              </a:tr>
              <a:tr h="830132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Переиспользование легаси кода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Старая финансовая библиотека на C++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28139"/>
                  </a:ext>
                </a:extLst>
              </a:tr>
              <a:tr h="830132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Критическая по скорости секция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Шифрование, обработка видео, нейросети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795903"/>
                  </a:ext>
                </a:extLst>
              </a:tr>
              <a:tr h="830132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Работа с железом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USB-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устройством, камерой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779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8666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39808-8EDD-47AB-B5E8-B8211154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/>
              <a:t>Архитектура и ключевые компоненты</a:t>
            </a:r>
            <a:br>
              <a:rPr lang="ru-RU" b="1" dirty="0"/>
            </a:br>
            <a:br>
              <a:rPr lang="en-US" b="1" dirty="0"/>
            </a:b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DA2A3C4-227D-1E28-A9D3-CFD7AFDF91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109" y="3845860"/>
            <a:ext cx="954018" cy="511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uilding Java Native Interface (JNI) Projects">
            <a:extLst>
              <a:ext uri="{FF2B5EF4-FFF2-40B4-BE49-F238E27FC236}">
                <a16:creationId xmlns:a16="http://schemas.microsoft.com/office/drawing/2014/main" id="{68CCDC03-6271-AE99-23D1-F9E66D4F6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887601" y="4760912"/>
            <a:ext cx="193862" cy="14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F807AFE-B9DC-AA2D-47BC-B89BACB2D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966" y="1166286"/>
            <a:ext cx="6412304" cy="2905500"/>
          </a:xfrm>
          <a:prstGeom prst="rect">
            <a:avLst/>
          </a:prstGeom>
        </p:spPr>
      </p:pic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0AC5FA21-6383-C985-613C-315B334D9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744563"/>
              </p:ext>
            </p:extLst>
          </p:nvPr>
        </p:nvGraphicFramePr>
        <p:xfrm>
          <a:off x="1643118" y="4071786"/>
          <a:ext cx="81280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8784548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55655322"/>
                    </a:ext>
                  </a:extLst>
                </a:gridCol>
              </a:tblGrid>
              <a:tr h="40918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Компонент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Назначение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11723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native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Ключевое слово в 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Java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613989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 err="1">
                          <a:effectLst/>
                          <a:latin typeface="Menlo"/>
                        </a:rPr>
                        <a:t>JNIEnv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Указатель на таблицу функций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63113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jobject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 / </a:t>
                      </a:r>
                      <a:r>
                        <a:rPr lang="en-US" b="0">
                          <a:effectLst/>
                          <a:latin typeface="Menlo"/>
                        </a:rPr>
                        <a:t>jclass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Ссылки на 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Java-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объекты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311049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jint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b="0">
                          <a:effectLst/>
                          <a:latin typeface="Menlo"/>
                        </a:rPr>
                        <a:t>jlong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b="0">
                          <a:effectLst/>
                          <a:latin typeface="Menlo"/>
                        </a:rPr>
                        <a:t>jstring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Маппинг типов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148348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System.loadLibrary()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Загрузка .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dll/.so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36165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681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3FACE-E485-4C1D-FCA0-9A43CBCAA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63435"/>
          </a:xfrm>
        </p:spPr>
        <p:txBody>
          <a:bodyPr/>
          <a:lstStyle/>
          <a:p>
            <a:pPr algn="ctr"/>
            <a:r>
              <a:rPr lang="ru-RU" b="1" dirty="0"/>
              <a:t>Типы данных в </a:t>
            </a:r>
            <a:r>
              <a:rPr lang="en-US" b="1" dirty="0"/>
              <a:t>JNI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FA35C4-3B76-B336-CF37-531F8722E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7294" y="5656729"/>
            <a:ext cx="200117" cy="13447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D3FC32D-51FD-BF2D-B5DD-D2539677B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878176"/>
              </p:ext>
            </p:extLst>
          </p:nvPr>
        </p:nvGraphicFramePr>
        <p:xfrm>
          <a:off x="1003951" y="1281952"/>
          <a:ext cx="10043460" cy="5134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0865">
                  <a:extLst>
                    <a:ext uri="{9D8B030D-6E8A-4147-A177-3AD203B41FA5}">
                      <a16:colId xmlns:a16="http://schemas.microsoft.com/office/drawing/2014/main" val="2639304458"/>
                    </a:ext>
                  </a:extLst>
                </a:gridCol>
                <a:gridCol w="2510865">
                  <a:extLst>
                    <a:ext uri="{9D8B030D-6E8A-4147-A177-3AD203B41FA5}">
                      <a16:colId xmlns:a16="http://schemas.microsoft.com/office/drawing/2014/main" val="989705304"/>
                    </a:ext>
                  </a:extLst>
                </a:gridCol>
                <a:gridCol w="2510865">
                  <a:extLst>
                    <a:ext uri="{9D8B030D-6E8A-4147-A177-3AD203B41FA5}">
                      <a16:colId xmlns:a16="http://schemas.microsoft.com/office/drawing/2014/main" val="2791267459"/>
                    </a:ext>
                  </a:extLst>
                </a:gridCol>
                <a:gridCol w="2510865">
                  <a:extLst>
                    <a:ext uri="{9D8B030D-6E8A-4147-A177-3AD203B41FA5}">
                      <a16:colId xmlns:a16="http://schemas.microsoft.com/office/drawing/2014/main" val="2020882445"/>
                    </a:ext>
                  </a:extLst>
                </a:gridCol>
              </a:tblGrid>
              <a:tr h="49575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Java </a:t>
                      </a:r>
                      <a:r>
                        <a:rPr lang="ru-RU" b="0">
                          <a:effectLst/>
                          <a:latin typeface="quote-cjk-patch"/>
                        </a:rPr>
                        <a:t>тип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quote-cjk-patch"/>
                        </a:rPr>
                        <a:t>JNI </a:t>
                      </a:r>
                      <a:r>
                        <a:rPr lang="ru-RU" sz="1600" b="0" dirty="0">
                          <a:effectLst/>
                          <a:latin typeface="quote-cjk-patch"/>
                        </a:rPr>
                        <a:t>тип </a:t>
                      </a:r>
                      <a:r>
                        <a:rPr lang="ru-RU" sz="16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(определён в </a:t>
                      </a:r>
                      <a:r>
                        <a:rPr lang="en-US" sz="16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jni.h</a:t>
                      </a:r>
                      <a:r>
                        <a:rPr lang="en-US" sz="16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C/C++ </a:t>
                      </a:r>
                      <a:r>
                        <a:rPr lang="ru-RU" b="0">
                          <a:effectLst/>
                          <a:latin typeface="quote-cjk-patch"/>
                        </a:rPr>
                        <a:t>тип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Размер (байт)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99292001"/>
                  </a:ext>
                </a:extLst>
              </a:tr>
              <a:tr h="49575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boolean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jboolean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unsigned char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878121778"/>
                  </a:ext>
                </a:extLst>
              </a:tr>
              <a:tr h="49575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byte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jbyte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signed char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873086459"/>
                  </a:ext>
                </a:extLst>
              </a:tr>
              <a:tr h="49575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char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jchar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unsigned short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16639942"/>
                  </a:ext>
                </a:extLst>
              </a:tr>
              <a:tr h="49575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short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jshort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short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526388207"/>
                  </a:ext>
                </a:extLst>
              </a:tr>
              <a:tr h="49575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int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jint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int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 / </a:t>
                      </a:r>
                      <a:r>
                        <a:rPr lang="en-US" b="0">
                          <a:effectLst/>
                          <a:latin typeface="Menlo"/>
                        </a:rPr>
                        <a:t>long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299384083"/>
                  </a:ext>
                </a:extLst>
              </a:tr>
              <a:tr h="49575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long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jlong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long long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 / </a:t>
                      </a:r>
                      <a:r>
                        <a:rPr lang="en-US" b="0">
                          <a:effectLst/>
                          <a:latin typeface="Menlo"/>
                        </a:rPr>
                        <a:t>__int64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130793280"/>
                  </a:ext>
                </a:extLst>
              </a:tr>
              <a:tr h="49575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float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jfloat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float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52999913"/>
                  </a:ext>
                </a:extLst>
              </a:tr>
              <a:tr h="49575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double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jdouble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double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75942701"/>
                  </a:ext>
                </a:extLst>
              </a:tr>
              <a:tr h="49575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void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void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void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—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830064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8362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EC72C3-C8C6-84B9-A3E8-6FBAF4A7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Жизненный цикл </a:t>
            </a:r>
            <a:r>
              <a:rPr lang="en-US" b="1" dirty="0"/>
              <a:t>JNI</a:t>
            </a:r>
            <a:r>
              <a:rPr lang="ru-RU" b="1" dirty="0"/>
              <a:t> вызова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5482A3-9A8D-7580-77FA-1A928BCCF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DF2A51-7096-9F9A-AD23-D2D336E92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611" y="1883656"/>
            <a:ext cx="6758778" cy="435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160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7EFC5D-107E-8326-C09A-49EC00F42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30988"/>
          </a:xfrm>
        </p:spPr>
        <p:txBody>
          <a:bodyPr/>
          <a:lstStyle/>
          <a:p>
            <a:pPr algn="ctr"/>
            <a:r>
              <a:rPr lang="ru-RU" dirty="0"/>
              <a:t>Возможные сложности </a:t>
            </a:r>
            <a:r>
              <a:rPr lang="en-US" dirty="0"/>
              <a:t>JNI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8F0A05-12E1-7D90-9C85-49CF6A296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2F1D48-639D-13B1-323B-5C1B99033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44" y="1766047"/>
            <a:ext cx="11738333" cy="389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113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70E614-11CC-9649-F92C-6AB0AAB99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59976"/>
            <a:ext cx="9905998" cy="92271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Исключения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E06CB6-2E84-0436-8A19-CBB1CD94C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1103E7-E52C-0F8B-61F6-833347FE4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496" y="1265659"/>
            <a:ext cx="6805829" cy="515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611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CE8C0F-E0CA-9B5D-3E04-3D7068F08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Альтернативы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8C3C8F-E700-0D62-2398-A916CEDE9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859" y="1944034"/>
            <a:ext cx="4667717" cy="4007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1) </a:t>
            </a:r>
            <a:r>
              <a:rPr lang="ru-RU" sz="1600" b="1" dirty="0"/>
              <a:t>JNA (Java </a:t>
            </a:r>
            <a:r>
              <a:rPr lang="ru-RU" sz="1600" b="1" dirty="0" err="1"/>
              <a:t>Native</a:t>
            </a:r>
            <a:r>
              <a:rPr lang="ru-RU" sz="1600" b="1" dirty="0"/>
              <a:t> Access)</a:t>
            </a:r>
            <a:br>
              <a:rPr lang="ru-RU" sz="1600" dirty="0"/>
            </a:br>
            <a:r>
              <a:rPr lang="ru-RU" sz="1600" dirty="0"/>
              <a:t>Вызов нативных библиотек без написания C-кода.</a:t>
            </a:r>
            <a:br>
              <a:rPr lang="ru-RU" sz="1600" dirty="0"/>
            </a:br>
            <a:r>
              <a:rPr lang="ru-RU" sz="1600" dirty="0"/>
              <a:t>Плюс: не нужно компилировать под каждую платформу.</a:t>
            </a:r>
            <a:br>
              <a:rPr lang="ru-RU" sz="1600" dirty="0"/>
            </a:br>
            <a:r>
              <a:rPr lang="ru-RU" sz="1600" dirty="0"/>
              <a:t>Минус: медленнее JNI.</a:t>
            </a:r>
            <a:endParaRPr lang="en-US" sz="1600" dirty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en-US" sz="1600" b="1" dirty="0"/>
              <a:t>2) </a:t>
            </a:r>
            <a:r>
              <a:rPr lang="ru-RU" sz="1600" b="1" dirty="0"/>
              <a:t>Project </a:t>
            </a:r>
            <a:r>
              <a:rPr lang="ru-RU" sz="1600" b="1" dirty="0" err="1"/>
              <a:t>Panama</a:t>
            </a:r>
            <a:r>
              <a:rPr lang="ru-RU" sz="1600" b="1" dirty="0"/>
              <a:t> (FFM API) — Java 22+</a:t>
            </a:r>
            <a:br>
              <a:rPr lang="ru-RU" sz="1600" dirty="0"/>
            </a:br>
            <a:r>
              <a:rPr lang="ru-RU" sz="1600" dirty="0"/>
              <a:t>Официальная замена JNI от Oracle.</a:t>
            </a:r>
            <a:br>
              <a:rPr lang="ru-RU" sz="1600" dirty="0"/>
            </a:br>
            <a:r>
              <a:rPr lang="ru-RU" sz="1600" dirty="0"/>
              <a:t>Безопасный доступ к памяти и вызовам функций прямо из Java.</a:t>
            </a:r>
            <a:br>
              <a:rPr lang="ru-RU" sz="1600" dirty="0"/>
            </a:br>
            <a:r>
              <a:rPr lang="ru-RU" sz="1600" dirty="0"/>
              <a:t>Быстрее JNA, удобнее и безопаснее JNI.</a:t>
            </a:r>
          </a:p>
          <a:p>
            <a:pPr marL="0" indent="0">
              <a:buNone/>
            </a:pPr>
            <a:endParaRPr lang="ru-RU" sz="16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378854AC-E306-110B-537F-DF12CBA5DB1A}"/>
              </a:ext>
            </a:extLst>
          </p:cNvPr>
          <p:cNvSpPr txBox="1">
            <a:spLocks/>
          </p:cNvSpPr>
          <p:nvPr/>
        </p:nvSpPr>
        <p:spPr>
          <a:xfrm>
            <a:off x="5928565" y="1962617"/>
            <a:ext cx="4667717" cy="39892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3) </a:t>
            </a:r>
            <a:r>
              <a:rPr lang="ru-RU" sz="1600" b="1" dirty="0" err="1"/>
              <a:t>GraalVM</a:t>
            </a:r>
            <a:r>
              <a:rPr lang="ru-RU" sz="1600" b="1" dirty="0"/>
              <a:t> </a:t>
            </a:r>
            <a:r>
              <a:rPr lang="ru-RU" sz="1600" b="1" dirty="0" err="1"/>
              <a:t>Native</a:t>
            </a:r>
            <a:r>
              <a:rPr lang="ru-RU" sz="1600" b="1" dirty="0"/>
              <a:t> Image</a:t>
            </a:r>
            <a:br>
              <a:rPr lang="ru-RU" sz="1600" dirty="0"/>
            </a:br>
            <a:r>
              <a:rPr lang="ru-RU" sz="1600" dirty="0"/>
              <a:t>Компиляция Java в нативный исполняемый файл.</a:t>
            </a:r>
            <a:br>
              <a:rPr lang="ru-RU" sz="1600" dirty="0"/>
            </a:br>
            <a:r>
              <a:rPr lang="ru-RU" sz="1600" dirty="0"/>
              <a:t>Прямые вызовы C-функций в одном процессе.</a:t>
            </a:r>
            <a:br>
              <a:rPr lang="ru-RU" sz="1600" dirty="0"/>
            </a:br>
            <a:r>
              <a:rPr lang="ru-RU" sz="1600" dirty="0"/>
              <a:t>Максимальная производительность и быстрый старт.</a:t>
            </a:r>
            <a:endParaRPr lang="en-US" sz="1600" dirty="0"/>
          </a:p>
          <a:p>
            <a:pPr marL="0" indent="0">
              <a:buNone/>
            </a:pPr>
            <a:br>
              <a:rPr lang="ru-RU" sz="1600" dirty="0"/>
            </a:br>
            <a:r>
              <a:rPr lang="en-US" sz="1600" dirty="0"/>
              <a:t>4) </a:t>
            </a:r>
            <a:r>
              <a:rPr lang="ru-RU" sz="1600" b="1" dirty="0" err="1"/>
              <a:t>ProcessBuilder</a:t>
            </a:r>
            <a:br>
              <a:rPr lang="ru-RU" sz="1600" dirty="0"/>
            </a:br>
            <a:r>
              <a:rPr lang="ru-RU" sz="1600" dirty="0"/>
              <a:t>Запуск нативной программы как отдельного процесса.</a:t>
            </a:r>
            <a:br>
              <a:rPr lang="ru-RU" sz="1600" dirty="0"/>
            </a:br>
            <a:r>
              <a:rPr lang="ru-RU" sz="1600" dirty="0"/>
              <a:t>Чтение </a:t>
            </a:r>
            <a:r>
              <a:rPr lang="ru-RU" sz="1600" dirty="0" err="1"/>
              <a:t>stdout</a:t>
            </a:r>
            <a:r>
              <a:rPr lang="ru-RU" sz="1600" dirty="0"/>
              <a:t> и обработка результата.</a:t>
            </a:r>
            <a:br>
              <a:rPr lang="ru-RU" sz="1600" dirty="0"/>
            </a:br>
            <a:r>
              <a:rPr lang="ru-RU" sz="1600" dirty="0"/>
              <a:t>Плюс: крах нативной программы не роняет Java.</a:t>
            </a:r>
            <a:br>
              <a:rPr lang="ru-RU" sz="1600" dirty="0"/>
            </a:br>
            <a:r>
              <a:rPr lang="ru-RU" sz="1600" dirty="0"/>
              <a:t>Минус: медленно из-за </a:t>
            </a:r>
            <a:r>
              <a:rPr lang="ru-RU" sz="1600" dirty="0" err="1"/>
              <a:t>межпроцессного</a:t>
            </a:r>
            <a:r>
              <a:rPr lang="ru-RU" sz="1600" dirty="0"/>
              <a:t> взаимодействия.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717548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922</TotalTime>
  <Words>345</Words>
  <Application>Microsoft Office PowerPoint</Application>
  <PresentationFormat>Широкоэкранный</PresentationFormat>
  <Paragraphs>81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Menlo</vt:lpstr>
      <vt:lpstr>quote-cjk-patch</vt:lpstr>
      <vt:lpstr>Tw Cen MT</vt:lpstr>
      <vt:lpstr>Контур</vt:lpstr>
      <vt:lpstr>Java Native Interface (JNI)</vt:lpstr>
      <vt:lpstr>Что такое JNI?</vt:lpstr>
      <vt:lpstr>Когда использовать</vt:lpstr>
      <vt:lpstr>Архитектура и ключевые компоненты  </vt:lpstr>
      <vt:lpstr>Типы данных в JNI</vt:lpstr>
      <vt:lpstr>Жизненный цикл JNI вызова</vt:lpstr>
      <vt:lpstr>Возможные сложности JNI</vt:lpstr>
      <vt:lpstr>Исключения </vt:lpstr>
      <vt:lpstr>Альтернативы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ivanovijt@gmail.com</dc:creator>
  <cp:lastModifiedBy>ivanovijt@gmail.com</cp:lastModifiedBy>
  <cp:revision>11</cp:revision>
  <dcterms:created xsi:type="dcterms:W3CDTF">2026-04-07T13:58:58Z</dcterms:created>
  <dcterms:modified xsi:type="dcterms:W3CDTF">2026-04-10T12:44:48Z</dcterms:modified>
</cp:coreProperties>
</file>