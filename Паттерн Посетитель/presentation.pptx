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image" Target="../media/image-4-22.png"/><Relationship Id="rId23" Type="http://schemas.openxmlformats.org/officeDocument/2006/relationships/image" Target="../media/image-4-23.svg"/><Relationship Id="rId24" Type="http://schemas.openxmlformats.org/officeDocument/2006/relationships/image" Target="../media/image-4-24.png"/><Relationship Id="rId25" Type="http://schemas.openxmlformats.org/officeDocument/2006/relationships/image" Target="../media/image-4-25.svg"/><Relationship Id="rId26" Type="http://schemas.openxmlformats.org/officeDocument/2006/relationships/image" Target="../media/image-4-26.png"/><Relationship Id="rId27" Type="http://schemas.openxmlformats.org/officeDocument/2006/relationships/image" Target="../media/image-4-27.svg"/><Relationship Id="rId28" Type="http://schemas.openxmlformats.org/officeDocument/2006/relationships/image" Target="../media/image-4-28.png"/><Relationship Id="rId29" Type="http://schemas.openxmlformats.org/officeDocument/2006/relationships/image" Target="../media/image-4-29.svg"/><Relationship Id="rId30" Type="http://schemas.openxmlformats.org/officeDocument/2006/relationships/image" Target="../media/image-4-30.png"/><Relationship Id="rId31" Type="http://schemas.openxmlformats.org/officeDocument/2006/relationships/image" Target="../media/image-4-31.svg"/><Relationship Id="rId32" Type="http://schemas.openxmlformats.org/officeDocument/2006/relationships/image" Target="../media/image-4-32.png"/><Relationship Id="rId33" Type="http://schemas.openxmlformats.org/officeDocument/2006/relationships/image" Target="../media/image-4-33.svg"/><Relationship Id="rId34" Type="http://schemas.openxmlformats.org/officeDocument/2006/relationships/image" Target="../media/image-4-34.png"/><Relationship Id="rId35" Type="http://schemas.openxmlformats.org/officeDocument/2006/relationships/image" Target="../media/image-4-35.sv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60883" y="3784600"/>
            <a:ext cx="19941492" cy="2692400"/>
          </a:xfrm>
          <a:prstGeom prst="roundRect">
            <a:avLst>
              <a:gd name="adj" fmla="val 23434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933641" y="7594600"/>
            <a:ext cx="8040105" cy="3771900"/>
          </a:xfrm>
          <a:prstGeom prst="roundRect">
            <a:avLst>
              <a:gd name="adj" fmla="val 16727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80035" y="4381500"/>
            <a:ext cx="20424153" cy="288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Паттерн проектирования Visitor 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4505213" y="8026400"/>
            <a:ext cx="7968129" cy="425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Докладчики: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Абрамов Ярослав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Мокосеев Роман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95" y="3733800"/>
            <a:ext cx="22862858" cy="6781800"/>
          </a:xfrm>
          <a:prstGeom prst="roundRect">
            <a:avLst>
              <a:gd name="adj" fmla="val 9303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972" y="1066800"/>
            <a:ext cx="11799775" cy="2133600"/>
          </a:xfrm>
          <a:prstGeom prst="roundRect">
            <a:avLst>
              <a:gd name="adj" fmla="val 29571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20752" y="1320800"/>
            <a:ext cx="11139292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Что такое Visitor?</a:t>
            </a:r>
            <a:endParaRPr lang="en-US" sz="9600" dirty="0"/>
          </a:p>
        </p:txBody>
      </p:sp>
      <p:pic>
        <p:nvPicPr>
          <p:cNvPr id="5" name="Image 0" descr=" 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026" y="12204700"/>
            <a:ext cx="304838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3667" y="4419600"/>
            <a:ext cx="16478193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-Поведенческий паттерн;</a:t>
            </a:r>
            <a:endParaRPr lang="en-US" sz="7000" dirty="0"/>
          </a:p>
          <a:p>
            <a:pPr algn="l" indent="0" marL="0">
              <a:buNone/>
            </a:pPr>
            <a:r>
              <a:rPr lang="en-US" sz="7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endParaRPr lang="en-US" sz="7000" dirty="0"/>
          </a:p>
        </p:txBody>
      </p:sp>
      <p:sp>
        <p:nvSpPr>
          <p:cNvPr id="7" name="Text 4"/>
          <p:cNvSpPr/>
          <p:nvPr/>
        </p:nvSpPr>
        <p:spPr>
          <a:xfrm>
            <a:off x="1333667" y="8166100"/>
            <a:ext cx="16363879" cy="150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-Использует accept() и visit()</a:t>
            </a:r>
            <a:endParaRPr lang="en-US" sz="7000" dirty="0"/>
          </a:p>
        </p:txBody>
      </p:sp>
      <p:sp>
        <p:nvSpPr>
          <p:cNvPr id="8" name="Text 5"/>
          <p:cNvSpPr/>
          <p:nvPr/>
        </p:nvSpPr>
        <p:spPr>
          <a:xfrm>
            <a:off x="1333667" y="6273800"/>
            <a:ext cx="19043914" cy="1477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-Выносит операции в отдельные классы;</a:t>
            </a:r>
            <a:endParaRPr lang="en-US" sz="7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32" y="3619500"/>
            <a:ext cx="11939492" cy="7302500"/>
          </a:xfrm>
          <a:prstGeom prst="roundRect">
            <a:avLst>
              <a:gd name="adj" fmla="val 8640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8346" y="762000"/>
            <a:ext cx="12638080" cy="1905000"/>
          </a:xfrm>
          <a:prstGeom prst="roundRect">
            <a:avLst>
              <a:gd name="adj" fmla="val 33120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0483" y="800100"/>
            <a:ext cx="12371346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Как работает Visitor</a:t>
            </a:r>
            <a:endParaRPr lang="en-US" sz="9600" dirty="0"/>
          </a:p>
        </p:txBody>
      </p:sp>
      <p:pic>
        <p:nvPicPr>
          <p:cNvPr id="5" name="Image 0" descr=" 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7556" y="3238500"/>
            <a:ext cx="11939492" cy="825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273" y="4470400"/>
            <a:ext cx="11956428" cy="1068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- Shape (абстрактный) +accept(ShapeVisitor) - Circle и Rectangle наследуют Shape, реализуют accept - ShapeVisitor (интерфейс): visit(Circle), visit(Rectangle) - AreaCalculator реализует ShapeVisitor, накапливает totalArea - VisitorPatternDemo: создаёт фигуры, вызывает accept(areaCalc)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16" y="3200400"/>
            <a:ext cx="24145718" cy="10223500"/>
          </a:xfrm>
          <a:prstGeom prst="roundRect">
            <a:avLst>
              <a:gd name="adj" fmla="val 6171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97975" y="762000"/>
            <a:ext cx="15013276" cy="1828800"/>
          </a:xfrm>
          <a:prstGeom prst="roundRect">
            <a:avLst>
              <a:gd name="adj" fmla="val 34500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93337" y="825500"/>
            <a:ext cx="1459412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Плюсы и минусы Visitor </a:t>
            </a:r>
            <a:endParaRPr lang="en-US" sz="9600" dirty="0"/>
          </a:p>
        </p:txBody>
      </p:sp>
      <p:pic>
        <p:nvPicPr>
          <p:cNvPr id="5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30016" y="3200400"/>
            <a:ext cx="127016" cy="9753600"/>
          </a:xfrm>
          <a:prstGeom prst="rect">
            <a:avLst/>
          </a:prstGeom>
        </p:spPr>
      </p:pic>
      <p:pic>
        <p:nvPicPr>
          <p:cNvPr id="6" name="Image 1" descr=" 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3441" y="7010400"/>
            <a:ext cx="596975" cy="596900"/>
          </a:xfrm>
          <a:prstGeom prst="rect">
            <a:avLst/>
          </a:prstGeom>
        </p:spPr>
      </p:pic>
      <p:pic>
        <p:nvPicPr>
          <p:cNvPr id="7" name="Image 2" descr=" 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58845" y="7086600"/>
            <a:ext cx="495362" cy="495300"/>
          </a:xfrm>
          <a:prstGeom prst="rect">
            <a:avLst/>
          </a:prstGeom>
        </p:spPr>
      </p:pic>
      <p:pic>
        <p:nvPicPr>
          <p:cNvPr id="8" name="Image 3" descr=" 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85861" y="7302500"/>
            <a:ext cx="249796" cy="50800"/>
          </a:xfrm>
          <a:prstGeom prst="rect">
            <a:avLst/>
          </a:prstGeom>
        </p:spPr>
      </p:pic>
      <p:pic>
        <p:nvPicPr>
          <p:cNvPr id="9" name="Image 4" descr=" 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33441" y="9537700"/>
            <a:ext cx="596975" cy="596900"/>
          </a:xfrm>
          <a:prstGeom prst="rect">
            <a:avLst/>
          </a:prstGeom>
        </p:spPr>
      </p:pic>
      <p:pic>
        <p:nvPicPr>
          <p:cNvPr id="10" name="Image 5" descr=" 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58845" y="9613900"/>
            <a:ext cx="495362" cy="495300"/>
          </a:xfrm>
          <a:prstGeom prst="rect">
            <a:avLst/>
          </a:prstGeom>
        </p:spPr>
      </p:pic>
      <p:pic>
        <p:nvPicPr>
          <p:cNvPr id="11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285861" y="9842500"/>
            <a:ext cx="249796" cy="508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3717715" y="4241800"/>
            <a:ext cx="11342518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Трудно добавлять новые типы;</a:t>
            </a:r>
            <a:endParaRPr lang="en-US" sz="6000" dirty="0"/>
          </a:p>
        </p:txBody>
      </p:sp>
      <p:sp>
        <p:nvSpPr>
          <p:cNvPr id="13" name="Text 4"/>
          <p:cNvSpPr/>
          <p:nvPr/>
        </p:nvSpPr>
        <p:spPr>
          <a:xfrm>
            <a:off x="13717715" y="6858000"/>
            <a:ext cx="11685461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Избыточность для простых структур;</a:t>
            </a:r>
            <a:endParaRPr lang="en-US" sz="6000" dirty="0"/>
          </a:p>
        </p:txBody>
      </p:sp>
      <p:sp>
        <p:nvSpPr>
          <p:cNvPr id="14" name="Text 5"/>
          <p:cNvSpPr/>
          <p:nvPr/>
        </p:nvSpPr>
        <p:spPr>
          <a:xfrm>
            <a:off x="13717715" y="9334500"/>
            <a:ext cx="1002155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Нарушение инкапсуляции</a:t>
            </a:r>
            <a:endParaRPr lang="en-US" sz="6000" dirty="0"/>
          </a:p>
        </p:txBody>
      </p:sp>
      <p:pic>
        <p:nvPicPr>
          <p:cNvPr id="15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20740" y="4406900"/>
            <a:ext cx="596975" cy="596900"/>
          </a:xfrm>
          <a:prstGeom prst="rect">
            <a:avLst/>
          </a:prstGeom>
        </p:spPr>
      </p:pic>
      <p:pic>
        <p:nvPicPr>
          <p:cNvPr id="16" name="Image 8" descr=" 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146143" y="4483100"/>
            <a:ext cx="495362" cy="495300"/>
          </a:xfrm>
          <a:prstGeom prst="rect">
            <a:avLst/>
          </a:prstGeom>
        </p:spPr>
      </p:pic>
      <p:pic>
        <p:nvPicPr>
          <p:cNvPr id="17" name="Image 9" descr=" 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273159" y="4699000"/>
            <a:ext cx="249796" cy="50800"/>
          </a:xfrm>
          <a:prstGeom prst="rect">
            <a:avLst/>
          </a:prstGeom>
        </p:spPr>
      </p:pic>
      <p:pic>
        <p:nvPicPr>
          <p:cNvPr id="18" name="Image 10" descr=" 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1854" y="4521200"/>
            <a:ext cx="495362" cy="495300"/>
          </a:xfrm>
          <a:prstGeom prst="rect">
            <a:avLst/>
          </a:prstGeom>
        </p:spPr>
      </p:pic>
      <p:pic>
        <p:nvPicPr>
          <p:cNvPr id="19" name="Image 11" descr=" 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8368" y="4635500"/>
            <a:ext cx="50806" cy="249767"/>
          </a:xfrm>
          <a:prstGeom prst="rect">
            <a:avLst/>
          </a:prstGeom>
        </p:spPr>
      </p:pic>
      <p:pic>
        <p:nvPicPr>
          <p:cNvPr id="20" name="Image 12" descr=" 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8870" y="4734983"/>
            <a:ext cx="249796" cy="50800"/>
          </a:xfrm>
          <a:prstGeom prst="rect">
            <a:avLst/>
          </a:prstGeom>
        </p:spPr>
      </p:pic>
      <p:pic>
        <p:nvPicPr>
          <p:cNvPr id="21" name="Image 13" descr=" 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31854" y="7150100"/>
            <a:ext cx="495362" cy="495300"/>
          </a:xfrm>
          <a:prstGeom prst="rect">
            <a:avLst/>
          </a:prstGeom>
        </p:spPr>
      </p:pic>
      <p:pic>
        <p:nvPicPr>
          <p:cNvPr id="22" name="Image 14" descr=" 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8368" y="7264400"/>
            <a:ext cx="50806" cy="249767"/>
          </a:xfrm>
          <a:prstGeom prst="rect">
            <a:avLst/>
          </a:prstGeom>
        </p:spPr>
      </p:pic>
      <p:pic>
        <p:nvPicPr>
          <p:cNvPr id="23" name="Image 15" descr=" 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58870" y="7363883"/>
            <a:ext cx="249796" cy="50800"/>
          </a:xfrm>
          <a:prstGeom prst="rect">
            <a:avLst/>
          </a:prstGeom>
        </p:spPr>
      </p:pic>
      <p:pic>
        <p:nvPicPr>
          <p:cNvPr id="24" name="Image 16" descr=" 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33467" y="9613900"/>
            <a:ext cx="495362" cy="495300"/>
          </a:xfrm>
          <a:prstGeom prst="rect">
            <a:avLst/>
          </a:prstGeom>
        </p:spPr>
      </p:pic>
      <p:pic>
        <p:nvPicPr>
          <p:cNvPr id="25" name="Image 17" descr=" 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9980" y="9728200"/>
            <a:ext cx="50806" cy="249767"/>
          </a:xfrm>
          <a:prstGeom prst="rect">
            <a:avLst/>
          </a:prstGeom>
        </p:spPr>
      </p:pic>
      <p:pic>
        <p:nvPicPr>
          <p:cNvPr id="26" name="Image 18" descr=" 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60483" y="9827683"/>
            <a:ext cx="249796" cy="50800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1193949" y="4267200"/>
            <a:ext cx="1063122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Легко добавлять операции;</a:t>
            </a:r>
            <a:endParaRPr lang="en-US" sz="6000" dirty="0"/>
          </a:p>
        </p:txBody>
      </p:sp>
      <p:sp>
        <p:nvSpPr>
          <p:cNvPr id="28" name="Text 7"/>
          <p:cNvSpPr/>
          <p:nvPr/>
        </p:nvSpPr>
        <p:spPr>
          <a:xfrm>
            <a:off x="1193949" y="6883400"/>
            <a:ext cx="10415302" cy="300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Удобство для сложных иерархий;</a:t>
            </a:r>
            <a:endParaRPr lang="en-US" sz="6000" dirty="0"/>
          </a:p>
        </p:txBody>
      </p:sp>
      <p:sp>
        <p:nvSpPr>
          <p:cNvPr id="29" name="Text 8"/>
          <p:cNvSpPr/>
          <p:nvPr/>
        </p:nvSpPr>
        <p:spPr>
          <a:xfrm>
            <a:off x="1193949" y="9359900"/>
            <a:ext cx="10415302" cy="356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Соответствуют Open-Closed Principle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6086" y="3200400"/>
            <a:ext cx="21516489" cy="10096500"/>
          </a:xfrm>
          <a:prstGeom prst="roundRect">
            <a:avLst>
              <a:gd name="adj" fmla="val 6249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86086" y="3200400"/>
            <a:ext cx="21516489" cy="10096500"/>
          </a:xfrm>
          <a:prstGeom prst="roundRect">
            <a:avLst>
              <a:gd name="adj" fmla="val 6249"/>
            </a:avLst>
          </a:prstGeom>
          <a:noFill/>
          <a:ln w="635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6086" y="3200400"/>
            <a:ext cx="21516489" cy="20574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 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086" y="3663950"/>
            <a:ext cx="5379122" cy="1130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26053" y="3765550"/>
            <a:ext cx="335321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Паттерн</a:t>
            </a:r>
            <a:endParaRPr lang="en-US" sz="6000" dirty="0"/>
          </a:p>
        </p:txBody>
      </p:sp>
      <p:pic>
        <p:nvPicPr>
          <p:cNvPr id="7" name="Image 1" descr=" 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208" y="3200400"/>
            <a:ext cx="5379122" cy="2057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5682" y="3302000"/>
            <a:ext cx="5398175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Когда 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использовать</a:t>
            </a:r>
            <a:endParaRPr lang="en-US" sz="6000" dirty="0"/>
          </a:p>
        </p:txBody>
      </p:sp>
      <p:pic>
        <p:nvPicPr>
          <p:cNvPr id="9" name="Image 2" descr=" 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4330" y="3663950"/>
            <a:ext cx="5379122" cy="1130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625628" y="3765550"/>
            <a:ext cx="287055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Плюсы</a:t>
            </a:r>
            <a:endParaRPr lang="en-US" sz="6000" dirty="0"/>
          </a:p>
        </p:txBody>
      </p:sp>
      <p:pic>
        <p:nvPicPr>
          <p:cNvPr id="11" name="Image 3" descr=" 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3453" y="3663950"/>
            <a:ext cx="5379122" cy="1130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826928" y="3765550"/>
            <a:ext cx="322620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Минусы</a:t>
            </a:r>
            <a:endParaRPr lang="en-US" sz="6000" dirty="0"/>
          </a:p>
        </p:txBody>
      </p:sp>
      <p:sp>
        <p:nvSpPr>
          <p:cNvPr id="13" name="Shape 7"/>
          <p:cNvSpPr/>
          <p:nvPr/>
        </p:nvSpPr>
        <p:spPr>
          <a:xfrm>
            <a:off x="1486086" y="5257800"/>
            <a:ext cx="21516489" cy="1422400"/>
          </a:xfrm>
          <a:prstGeom prst="rect">
            <a:avLst/>
          </a:prstGeom>
          <a:noFill/>
          <a:ln/>
        </p:spPr>
      </p:sp>
      <p:pic>
        <p:nvPicPr>
          <p:cNvPr id="14" name="Image 4" descr=" 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086" y="5562600"/>
            <a:ext cx="5379122" cy="8128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03021" y="5664200"/>
            <a:ext cx="5345251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Visitor</a:t>
            </a:r>
            <a:endParaRPr lang="en-US" sz="4000" dirty="0"/>
          </a:p>
        </p:txBody>
      </p:sp>
      <p:pic>
        <p:nvPicPr>
          <p:cNvPr id="16" name="Image 5" descr=" 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208" y="5257800"/>
            <a:ext cx="5379122" cy="14224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82143" y="53594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Много типов, часто новые операции</a:t>
            </a:r>
            <a:endParaRPr lang="en-US" sz="4000" dirty="0"/>
          </a:p>
        </p:txBody>
      </p:sp>
      <p:pic>
        <p:nvPicPr>
          <p:cNvPr id="18" name="Image 6" descr=" 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4330" y="5257800"/>
            <a:ext cx="5379122" cy="14224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261266" y="53594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Гибкость, OCP для операций</a:t>
            </a:r>
            <a:endParaRPr lang="en-US" sz="4000" dirty="0"/>
          </a:p>
        </p:txBody>
      </p:sp>
      <p:pic>
        <p:nvPicPr>
          <p:cNvPr id="20" name="Image 7" descr=" 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23453" y="5257800"/>
            <a:ext cx="5379122" cy="14224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7640388" y="53594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Сложно добавлять новые типы</a:t>
            </a:r>
            <a:endParaRPr lang="en-US" sz="4000" dirty="0"/>
          </a:p>
        </p:txBody>
      </p:sp>
      <p:sp>
        <p:nvSpPr>
          <p:cNvPr id="22" name="Shape 12"/>
          <p:cNvSpPr/>
          <p:nvPr/>
        </p:nvSpPr>
        <p:spPr>
          <a:xfrm>
            <a:off x="1486086" y="6680200"/>
            <a:ext cx="21516489" cy="20320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23" name="Image 8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6086" y="7289800"/>
            <a:ext cx="5379122" cy="8128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503021" y="7391400"/>
            <a:ext cx="5345251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Command</a:t>
            </a:r>
            <a:endParaRPr lang="en-US" sz="4000" dirty="0"/>
          </a:p>
        </p:txBody>
      </p:sp>
      <p:pic>
        <p:nvPicPr>
          <p:cNvPr id="25" name="Image 9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5208" y="6680200"/>
            <a:ext cx="5379122" cy="20320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882143" y="6781800"/>
            <a:ext cx="5345251" cy="199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Нужно параметризовать действия</a:t>
            </a:r>
            <a:endParaRPr lang="en-US" sz="4000" dirty="0"/>
          </a:p>
        </p:txBody>
      </p:sp>
      <p:pic>
        <p:nvPicPr>
          <p:cNvPr id="27" name="Image 10" descr=" 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44330" y="6985000"/>
            <a:ext cx="5379122" cy="14224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2261266" y="70866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Простота, отмена операций</a:t>
            </a:r>
            <a:endParaRPr lang="en-US" sz="4000" dirty="0"/>
          </a:p>
        </p:txBody>
      </p:sp>
      <p:pic>
        <p:nvPicPr>
          <p:cNvPr id="29" name="Image 11" descr=" 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3453" y="6985000"/>
            <a:ext cx="5379122" cy="14224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7640388" y="70866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Неудобен для иерархий объектов</a:t>
            </a:r>
            <a:endParaRPr lang="en-US" sz="4000" dirty="0"/>
          </a:p>
        </p:txBody>
      </p:sp>
      <p:sp>
        <p:nvSpPr>
          <p:cNvPr id="31" name="Shape 17"/>
          <p:cNvSpPr/>
          <p:nvPr/>
        </p:nvSpPr>
        <p:spPr>
          <a:xfrm>
            <a:off x="1486086" y="8712200"/>
            <a:ext cx="21516489" cy="264160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32" name="Image 12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6086" y="9626600"/>
            <a:ext cx="5379122" cy="81280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1503021" y="9728200"/>
            <a:ext cx="5345251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Strategy</a:t>
            </a:r>
            <a:endParaRPr lang="en-US" sz="4000" dirty="0"/>
          </a:p>
        </p:txBody>
      </p:sp>
      <p:pic>
        <p:nvPicPr>
          <p:cNvPr id="34" name="Image 13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5208" y="9017000"/>
            <a:ext cx="5379122" cy="203200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882143" y="9118600"/>
            <a:ext cx="5345251" cy="199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Изменение поведения одного объекта</a:t>
            </a:r>
            <a:endParaRPr lang="en-US" sz="4000" dirty="0"/>
          </a:p>
        </p:txBody>
      </p:sp>
      <p:pic>
        <p:nvPicPr>
          <p:cNvPr id="36" name="Image 14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244330" y="9321800"/>
            <a:ext cx="5379122" cy="142240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12261266" y="94234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Гибкая замена алгоритма</a:t>
            </a:r>
            <a:endParaRPr lang="en-US" sz="4000" dirty="0"/>
          </a:p>
        </p:txBody>
      </p:sp>
      <p:pic>
        <p:nvPicPr>
          <p:cNvPr id="38" name="Image 15" descr=" 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623453" y="8712200"/>
            <a:ext cx="5379122" cy="264160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17640388" y="8813800"/>
            <a:ext cx="5345251" cy="260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Не подходит для работы с семейством классов</a:t>
            </a:r>
            <a:endParaRPr lang="en-US" sz="4000" dirty="0"/>
          </a:p>
        </p:txBody>
      </p:sp>
      <p:sp>
        <p:nvSpPr>
          <p:cNvPr id="40" name="Shape 22"/>
          <p:cNvSpPr/>
          <p:nvPr/>
        </p:nvSpPr>
        <p:spPr>
          <a:xfrm>
            <a:off x="1486086" y="11353800"/>
            <a:ext cx="21516489" cy="1422400"/>
          </a:xfrm>
          <a:prstGeom prst="rect">
            <a:avLst/>
          </a:prstGeom>
          <a:noFill/>
          <a:ln/>
        </p:spPr>
      </p:sp>
      <p:pic>
        <p:nvPicPr>
          <p:cNvPr id="41" name="Image 16" descr=" 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86086" y="11658600"/>
            <a:ext cx="5379122" cy="81280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1503021" y="11760200"/>
            <a:ext cx="5345251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Instanceof + if</a:t>
            </a:r>
            <a:endParaRPr lang="en-US" sz="4000" dirty="0"/>
          </a:p>
        </p:txBody>
      </p:sp>
      <p:pic>
        <p:nvPicPr>
          <p:cNvPr id="43" name="Image 17" descr=" 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5208" y="11353800"/>
            <a:ext cx="5379122" cy="142240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6882143" y="114554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Очень маленький проект</a:t>
            </a:r>
            <a:endParaRPr lang="en-US" sz="4000" dirty="0"/>
          </a:p>
        </p:txBody>
      </p:sp>
      <p:pic>
        <p:nvPicPr>
          <p:cNvPr id="45" name="Image 18" descr=" 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44330" y="11353800"/>
            <a:ext cx="5379122" cy="1422400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12261266" y="11455400"/>
            <a:ext cx="5345251" cy="138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Никаких интерфейсов</a:t>
            </a:r>
            <a:endParaRPr lang="en-US" sz="4000" dirty="0"/>
          </a:p>
        </p:txBody>
      </p:sp>
      <p:pic>
        <p:nvPicPr>
          <p:cNvPr id="47" name="Image 19" descr=" 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23453" y="11658600"/>
            <a:ext cx="5379122" cy="812800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17640388" y="11760200"/>
            <a:ext cx="5345251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Нарушение OCP</a:t>
            </a:r>
            <a:endParaRPr lang="en-US" sz="4000" dirty="0"/>
          </a:p>
        </p:txBody>
      </p:sp>
      <p:sp>
        <p:nvSpPr>
          <p:cNvPr id="49" name="Shape 27"/>
          <p:cNvSpPr/>
          <p:nvPr/>
        </p:nvSpPr>
        <p:spPr>
          <a:xfrm>
            <a:off x="2794349" y="762000"/>
            <a:ext cx="18544318" cy="1739900"/>
          </a:xfrm>
          <a:prstGeom prst="roundRect">
            <a:avLst>
              <a:gd name="adj" fmla="val 36263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50" name="Text 28"/>
          <p:cNvSpPr/>
          <p:nvPr/>
        </p:nvSpPr>
        <p:spPr>
          <a:xfrm>
            <a:off x="3010276" y="762000"/>
            <a:ext cx="1816327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Сравнение с альтернативами</a:t>
            </a:r>
            <a:endParaRPr lang="en-US" sz="9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0829" y="762000"/>
            <a:ext cx="6160270" cy="1663700"/>
          </a:xfrm>
          <a:prstGeom prst="roundRect">
            <a:avLst>
              <a:gd name="adj" fmla="val 37924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9706" y="3200400"/>
            <a:ext cx="10576598" cy="9753600"/>
          </a:xfrm>
          <a:prstGeom prst="roundRect">
            <a:avLst>
              <a:gd name="adj" fmla="val 6469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57" y="4267200"/>
            <a:ext cx="10740232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    Использовать:</a:t>
            </a:r>
            <a:endParaRPr lang="en-US" sz="6000" dirty="0"/>
          </a:p>
          <a:p>
            <a:pPr algn="l" lvl="1" marL="685800" indent="-342900">
              <a:buSzPct val="100000"/>
              <a:buChar char="•"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стабильная структура;</a:t>
            </a:r>
            <a:endParaRPr lang="en-US" sz="6000" dirty="0"/>
          </a:p>
          <a:p>
            <a:pPr algn="l" lvl="1" marL="685800" indent="-342900">
              <a:buSzPct val="100000"/>
              <a:buChar char="•"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много операций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57" y="8953500"/>
            <a:ext cx="9074321" cy="303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    Не использовать:</a:t>
            </a:r>
            <a:endParaRPr lang="en-US" sz="6000" dirty="0"/>
          </a:p>
          <a:p>
            <a:pPr algn="l" lvl="1" marL="685800" indent="-342900">
              <a:buSzPct val="100000"/>
              <a:buChar char="•"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часто меняют типы;</a:t>
            </a:r>
            <a:endParaRPr lang="en-US" sz="6000" dirty="0"/>
          </a:p>
          <a:p>
            <a:pPr algn="l" lvl="1" marL="685800" indent="-342900">
              <a:buSzPct val="100000"/>
              <a:buChar char="•"/>
            </a:pPr>
            <a:r>
              <a:rPr lang="en-US" sz="6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простые задачи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212076" y="850900"/>
            <a:ext cx="4358147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Вывод</a:t>
            </a:r>
            <a:endParaRPr lang="en-US" sz="9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95" y="914400"/>
            <a:ext cx="22900962" cy="1828800"/>
          </a:xfrm>
          <a:prstGeom prst="roundRect">
            <a:avLst>
              <a:gd name="adj" fmla="val 34500"/>
            </a:avLst>
          </a:prstGeom>
          <a:solidFill>
            <a:srgbClr val="D9D9D9">
              <a:alpha val="100000"/>
            </a:srgbClr>
          </a:solidFill>
          <a:ln/>
        </p:spPr>
      </p:sp>
      <p:pic>
        <p:nvPicPr>
          <p:cNvPr id="3" name="Image 0" descr=" 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264" y="3657600"/>
            <a:ext cx="584273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1489" y="6121400"/>
            <a:ext cx="5592932" cy="519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Ограничивают наследование</a:t>
            </a:r>
            <a:endParaRPr lang="en-US" sz="4000" dirty="0"/>
          </a:p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Явно задают допустимые типы</a:t>
            </a:r>
            <a:endParaRPr lang="en-US" sz="4000" dirty="0"/>
          </a:p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Компилятор знает всю иерархию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81448" y="4406900"/>
            <a:ext cx="468688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Sealed classes</a:t>
            </a:r>
            <a:endParaRPr lang="en-US" sz="4500" dirty="0"/>
          </a:p>
        </p:txBody>
      </p:sp>
      <p:pic>
        <p:nvPicPr>
          <p:cNvPr id="6" name="Image 1" descr=" 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819" y="3657600"/>
            <a:ext cx="5652206" cy="8229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9657" y="6197600"/>
            <a:ext cx="4932450" cy="44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Проверка типа + работа с ним</a:t>
            </a:r>
            <a:endParaRPr lang="en-US" sz="4000" dirty="0"/>
          </a:p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Без instanceof и приведения</a:t>
            </a:r>
            <a:endParaRPr lang="en-US" sz="4000" dirty="0"/>
          </a:p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Более компактный код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10123165" y="4406900"/>
            <a:ext cx="4826603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Pattern matching </a:t>
            </a:r>
            <a:endParaRPr lang="en-US" sz="4500" dirty="0"/>
          </a:p>
        </p:txBody>
      </p:sp>
      <p:pic>
        <p:nvPicPr>
          <p:cNvPr id="9" name="Image 2" descr=" 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3835" y="3657600"/>
            <a:ext cx="5779222" cy="8229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55307" y="4432300"/>
            <a:ext cx="5436279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Комбирвоанный метод</a:t>
            </a:r>
            <a:endParaRPr lang="en-US" sz="4500" dirty="0"/>
          </a:p>
        </p:txBody>
      </p:sp>
      <p:sp>
        <p:nvSpPr>
          <p:cNvPr id="11" name="Text 6"/>
          <p:cNvSpPr/>
          <p:nvPr/>
        </p:nvSpPr>
        <p:spPr>
          <a:xfrm>
            <a:off x="18569721" y="6197600"/>
            <a:ext cx="5084869" cy="423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Компилятор проверяет все случаи</a:t>
            </a:r>
            <a:endParaRPr lang="en-US" sz="4000" dirty="0"/>
          </a:p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Меньше кода</a:t>
            </a:r>
            <a:endParaRPr lang="en-US" sz="4000" dirty="0"/>
          </a:p>
          <a:p>
            <a:pPr algn="l" lvl="1" marL="685800" indent="-342900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Проще поддержка</a:t>
            </a:r>
            <a:endParaRPr lang="en-US" sz="4000" dirty="0"/>
          </a:p>
        </p:txBody>
      </p:sp>
      <p:sp>
        <p:nvSpPr>
          <p:cNvPr id="12" name="Text 7"/>
          <p:cNvSpPr/>
          <p:nvPr/>
        </p:nvSpPr>
        <p:spPr>
          <a:xfrm>
            <a:off x="863708" y="1079500"/>
            <a:ext cx="23066083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Современная альтернатива (JDK 17+)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2026-05-15T13:09:59Z</dcterms:created>
  <dcterms:modified xsi:type="dcterms:W3CDTF">2026-05-15T13:09:59Z</dcterms:modified>
</cp:coreProperties>
</file>