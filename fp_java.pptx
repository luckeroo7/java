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540"/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7315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457200"/>
            <a:ext cx="2103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766560" y="3474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6492240" cy="10972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0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Java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· Stream API · Optional · Чистые функции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6492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8737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  | 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Введение — Что такое ФП?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503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4114800" cy="1600200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91440" cy="16002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16152" y="1170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Иммутабельность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6152" y="15179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изменяются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создания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36592" y="1005840"/>
            <a:ext cx="4114800" cy="1600200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05840"/>
            <a:ext cx="91440" cy="16002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05272" y="1170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функции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05272" y="15179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побочных эффектов,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только от входа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4114800" cy="1600200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34640"/>
            <a:ext cx="91440" cy="16002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16152" y="2999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— значения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16152" y="33467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передаются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аргументы и результаты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36592" y="2834640"/>
            <a:ext cx="4114800" cy="1600200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834640"/>
            <a:ext cx="91440" cy="16002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05272" y="2999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Декларативность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05272" y="33467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Описываем ЧТО,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КАК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4663440"/>
            <a:ext cx="8503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 поддерживает ФП с версии 8 (2014) — лямбды, Stream API, Optional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 Функциональные интерфейсы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65836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 интерфейс — интерфейс ровно с одним абстрактным методом (SAM). Аннотация @FunctionalInterface необязательна, но рекомендуется.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512064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8653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6537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653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39112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@FunctionalInterface
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Greeter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name);
}
</a:t>
            </a:r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Лямбда — реализация интерфейса в одну строку
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Greeter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name -&gt; 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"Привет, "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name + 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(g.greet(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"Мир"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434840"/>
            <a:ext cx="512064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44897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Вывод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47091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Привет, Мир!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783080"/>
            <a:ext cx="3200400" cy="256032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свойства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2331720"/>
            <a:ext cx="182880" cy="182880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295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абстрактный метод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2834640"/>
            <a:ext cx="182880" cy="182880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798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Могут иметь default-методы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337560"/>
            <a:ext cx="182880" cy="182880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300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с λ и method references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3840480"/>
            <a:ext cx="182880" cy="182880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Применяются как типы параметров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 Основные встроенные функциональные интерфейсы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503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Function&lt;T,R&gt;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apply(T 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Преобразование: T → 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s -&gt; s.length()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005840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005840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42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Predicate&lt;T&gt;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test(T 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условия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n -&gt; n &gt;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313432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313432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50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Consumer&lt;T&gt;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33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accept(T 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без результата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System.out::println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313432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2313432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50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Supplier&lt;T&gt;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633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get()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значения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() -&gt; new ArrayList&lt;&gt;()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621024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621024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57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BiFunction&lt;T,U,R&gt;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941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apply(T t, U u)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87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входа, один выход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(a,b) -&gt; a + 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621024"/>
            <a:ext cx="4114800" cy="1170432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3621024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57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UnaryOperator&lt;T&gt;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941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apply(T 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  (частный Function)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443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s -&gt; s.toUpperCase()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 Ссылки на методы (Method References)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91440" cy="74980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Статический метод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ClassName::staticMethod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4356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Math::abs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850392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11096"/>
            <a:ext cx="91440" cy="74980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экземпляра (объект)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984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instance::method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3225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str::toUpperCase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850392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98064"/>
            <a:ext cx="91440" cy="74980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экземпляра (класс)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ClassName::instanceMethod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2095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String::toLowerCase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85032"/>
            <a:ext cx="850392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85032"/>
            <a:ext cx="91440" cy="74980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ClassName::new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096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ArrayList::new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).forEach(System.out::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// то же, что s -&gt; System.out.println(s)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 Stream API — Что такое Stream?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503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85039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— это последовательность элементов, поддерживающая цепочечные (pipeline) операции. Сам стрим данные не хранит.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560320" cy="2377440"/>
          </a:xfrm>
          <a:prstGeom prst="rect">
            <a:avLst/>
          </a:prstGeom>
          <a:solidFill>
            <a:srgbClr val="162540"/>
          </a:solidFill>
          <a:ln w="12700">
            <a:solidFill>
              <a:srgbClr val="E853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55648"/>
            <a:ext cx="2560320" cy="384048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Stream.of()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834640"/>
            <a:ext cx="256032" cy="54864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7432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755648"/>
            <a:ext cx="2560320" cy="2377440"/>
          </a:xfrm>
          <a:prstGeom prst="rect">
            <a:avLst/>
          </a:prstGeom>
          <a:solidFill>
            <a:srgbClr val="162540"/>
          </a:solidFill>
          <a:ln w="12700">
            <a:solidFill>
              <a:srgbClr val="1FA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755648"/>
            <a:ext cx="2560320" cy="384048"/>
          </a:xfrm>
          <a:prstGeom prst="rect">
            <a:avLst/>
          </a:prstGeom>
          <a:solidFill>
            <a:srgbClr val="1FA2D4"/>
          </a:solidFill>
          <a:ln w="12700">
            <a:solidFill>
              <a:srgbClr val="1FA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2128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834640"/>
            <a:ext cx="256032" cy="54864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7432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1755648"/>
            <a:ext cx="2560320" cy="2377440"/>
          </a:xfrm>
          <a:prstGeom prst="rect">
            <a:avLst/>
          </a:prstGeom>
          <a:solidFill>
            <a:srgbClr val="162540"/>
          </a:solidFill>
          <a:ln w="12700">
            <a:solidFill>
              <a:srgbClr val="28C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755648"/>
            <a:ext cx="2560320" cy="384048"/>
          </a:xfrm>
          <a:prstGeom prst="rect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Терминальная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2128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4297680"/>
            <a:ext cx="8503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342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Ленивые вычисления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промежуточные операции не выполняются до вызова терминальной
</a:t>
            </a:r>
            <a:pPr indent="0" marL="0">
              <a:buNone/>
            </a:pPr>
            <a:r>
              <a:rPr lang="en-US" sz="11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Одноразовые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после терминальной операции стрим нельзя использовать повторно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 Цепочки операций — один пример от начала до конца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509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из списка сотрудников найти имена тех, кто старше 30 лет, отсортировать и вывести через запятую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850392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54533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453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54533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List&lt;Employee&gt; employees = List.of(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"Анна"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28),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"Борис"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35),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"Виктор"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42),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"Галина"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31)
);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employees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.stream()             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Создать стрим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.filter(e -&gt; e.getAge() &gt; 30) 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Промежуточная: фильтр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.map(Employee::getName)       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Промежуточная: map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.sorted()                     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Промежуточная: сортировка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.collect(Collectors.joining(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Терминальная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System.out.println(result);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681728"/>
            <a:ext cx="850392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Вывод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49560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Борис, Виктор, Галина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 Параллельные стримы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503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51206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698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069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43584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Обычный стрим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IntStream.rangeClosed(1, 1_000_000)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.filter(n -&gt; n % 2 == 0)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.count();
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Параллельный стрим (добавить .parallel())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countP = IntStream.rangeClosed(1, 1_000_000)
</a:t>
            </a:r>
            <a:pPr indent="0" marL="0">
              <a:buNone/>
            </a:pPr>
            <a:r>
              <a:rPr lang="en-US" sz="1050" dirty="0">
                <a:solidFill>
                  <a:srgbClr val="E853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.parallel()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.filter(n -&gt; n % 2 == 0)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.count();
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Или сразу из коллекции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list.parallelStream().map(...).collect(...);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977640"/>
            <a:ext cx="5120640" cy="822960"/>
          </a:xfrm>
          <a:prstGeom prst="rect">
            <a:avLst/>
          </a:prstGeom>
          <a:solidFill>
            <a:srgbClr val="1C2333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325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Вывод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= 500000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countP = 500000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987552"/>
            <a:ext cx="3200400" cy="1828800"/>
          </a:xfrm>
          <a:prstGeom prst="rect">
            <a:avLst/>
          </a:prstGeom>
          <a:solidFill>
            <a:srgbClr val="1625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Когда использовать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Большие объёмы данных (&gt;10k эл.)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865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Независимые операции над элементами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267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Задачи, требующие CPU-ресурсов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3044952"/>
            <a:ext cx="3200400" cy="1828800"/>
          </a:xfrm>
          <a:prstGeom prst="rect">
            <a:avLst/>
          </a:prstGeom>
          <a:solidFill>
            <a:srgbClr val="162540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Осторожно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3520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Не для I/O-bound задач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922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Операции должны быть thread-safe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4325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Порядок элементов не гарантирован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Optional — борьба с null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Без Optional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 Optional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380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8074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380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user.getName();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 !=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  System.out.println(name.toUpperCase());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"Неизвестно"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11480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380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38074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8072" y="1380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5448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Optional.ofNullable(user.getName())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.map(String::toUpperCase)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.ifPresentOrElse(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System.out::println,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-&gt; System.out.println(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"Неизвестно"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1821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методы Optional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11296"/>
          <a:ext cx="8503920" cy="1481328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Optional.of(value)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Создать, если не null (иначе NPE)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Optional.ofNullable(value)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Создать, допускает null; Optional.empty() — пустой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isPresent() / isEmpty()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Проверить наличие значения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orElse(d) / orElseGet(fn)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 или значение по умолчанию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map(fn) / flatMap(fn)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Трансформация значения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Неизменяемость и чистые функции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503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Неизменяемость (Immutability)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512064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996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996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7335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Изменяемый список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mutable =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ArrayList&lt;&gt;(List.of(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mutable.add(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ОК
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Неизменяемый список (Java 9+)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immutable = List.of(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immutable.add(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UnsupportedOperationException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функции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200400" cy="2148840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Результат зависит только от входных параметров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9933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Нет побочных эффектов (не меняет состояние)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4780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Легко тестируются и отлаживаются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9626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Можно кэшировать (мемоизация)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703320"/>
            <a:ext cx="8522208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856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856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7856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959352"/>
            <a:ext cx="82478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Нечистая — меняет внешнее состояние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0;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addToTotal(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 total += n; }
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Чистая — нет побочных эффектов
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{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b; 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540"/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0"/>
            <a:ext cx="73152" cy="514350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457200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A30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" cy="402336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896112"/>
            <a:ext cx="5577840" cy="475488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9875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интерфейсы + λ — основа ФП в 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402336" cy="402336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1655064"/>
            <a:ext cx="5577840" cy="475488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465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API: лаконичные пайплайны над коллекциями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450592"/>
            <a:ext cx="402336" cy="402336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2414016"/>
            <a:ext cx="5577840" cy="475488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5054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parallelStream() — масштабирование на CPU с одной строки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209544"/>
            <a:ext cx="402336" cy="402336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3172968"/>
            <a:ext cx="5577840" cy="475488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264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устраняет NullPointerException декларативно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968496"/>
            <a:ext cx="402336" cy="402336"/>
          </a:xfrm>
          <a:prstGeom prst="ellipse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3931920"/>
            <a:ext cx="5577840" cy="475488"/>
          </a:xfrm>
          <a:prstGeom prst="rect">
            <a:avLst/>
          </a:prstGeom>
          <a:solidFill>
            <a:srgbClr val="16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23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функции + иммутабельность = предсказуемый код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31C"/>
          </a:solidFill>
          <a:ln w="12700">
            <a:solidFill>
              <a:srgbClr val="E853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8737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программирование в Java  •  Java 8+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Функциональное программирование в Java</dc:title>
  <dc:subject>PptxGenJS Presentation</dc:subject>
  <dc:creator>PptxGenJS</dc:creator>
  <cp:lastModifiedBy>PptxGenJS</cp:lastModifiedBy>
  <cp:revision>1</cp:revision>
  <dcterms:created xsi:type="dcterms:W3CDTF">2026-04-02T22:47:32Z</dcterms:created>
  <dcterms:modified xsi:type="dcterms:W3CDTF">2026-04-02T22:47:32Z</dcterms:modified>
</cp:coreProperties>
</file>