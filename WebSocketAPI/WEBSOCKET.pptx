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60" r:id="rId6"/>
    <p:sldId id="262" r:id="rId7"/>
    <p:sldId id="265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D9F99"/>
    <a:srgbClr val="F39A95"/>
    <a:srgbClr val="FAB2B9"/>
    <a:srgbClr val="F9B4E0"/>
    <a:srgbClr val="FFB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7"/>
  </p:normalViewPr>
  <p:slideViewPr>
    <p:cSldViewPr snapToGrid="0">
      <p:cViewPr>
        <p:scale>
          <a:sx n="97" d="100"/>
          <a:sy n="97" d="100"/>
        </p:scale>
        <p:origin x="106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D3FA0-40DD-8B41-A5D6-614FC5562D66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9F1C7-8C7B-3D4D-9C87-15CD199F16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06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9F1C7-8C7B-3D4D-9C87-15CD199F160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5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34D12-9660-C67A-D966-09A961B72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E415CF8-839E-7868-DDEC-F3FB04AC3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AAD0AD-DD02-0F59-D765-B8164847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EF9B29-447A-B5C3-AF9D-72104FA9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B22FA4-76A5-C750-79D5-05C8B60B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8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EAB8C-8FC2-85D7-8B45-B44C908C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A27D26-CA72-885D-CB88-46C2F82E8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90F393-5036-ECE2-65A0-D0493AB9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E0FED-DBE8-3C01-CCF0-54279D016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A673D9-32DF-5EEC-8970-C28D9B9C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90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1359D-B549-6010-7EFB-3DDE473B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E0E73-EE16-DB8F-898F-2A75CF8B3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EDDE6-383B-6D58-0B85-57A51697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F5BD16-EAC9-487F-09C9-057EEEFC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8FA4C0-B59E-FDBE-31A5-00544ACB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77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F4ABF-47AA-26F8-65E9-B1897F86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A373CD-E696-6873-476C-DDD2F062A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CFC566-9F11-51B4-AEDC-3A466C15C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C5533C-420C-E4E3-1376-4112527C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55EE6-343E-E72A-92C7-10747C3F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860F6E-437B-1154-0A80-6AB25361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71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FF82E-C505-433B-2D27-D0C97EE4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8DF692-E4CD-4325-81AC-C8BD4FA7B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C7C86B-0BCF-0142-3B56-E92D96EC7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44D887-6222-9C39-D3D0-28232E6E8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357E370-AEEA-A86E-66D4-CBDB1352F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ED8B88-717C-4BC9-44F0-FB55C74F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A6916F-6C1A-4214-E229-95C52342D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9B63CD-4631-F60B-6E86-D41B322C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17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90AD3-ABD8-35E1-0409-6BAE55EF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A7D992-62DC-322E-D92E-38E81141E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087E16E-0FC5-8902-F406-52182021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E5B259-4CD4-7555-805B-AC339F52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64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F9E64C-BF2F-EEFB-729C-6465223A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DB1367-E60A-58F4-03A0-50710728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9E3AA3-DDDF-3081-660A-4BFD199D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12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E84BA4-F5F0-B098-919D-A4E4624F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F08B78-C5F1-71DD-043B-0300F8E4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98BFDCB-FE1B-62DC-82DA-906F744F5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B8A69A-6624-C962-995F-7D0EDBB8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F81D8-4795-A9C3-20B5-0D4FB52D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05A522-7588-E049-8A5E-27AE1516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10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8DE4A8-61E0-48FA-11C1-B8A05E63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C1EF5D8-603C-821B-155F-DF69DE3CF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8F2ADC-4C9F-BADC-514B-D7851B98B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FE68AB-4E74-7341-A88C-288651D0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44B3A1-3639-F11A-8774-98E508A8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B0AEE-2CE7-36BB-989B-65F891D3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78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C9D54-CC88-8781-F20B-1A309D1D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B0F28D-D1A1-0984-F6C7-C7D78FC36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DD0237-99D4-6E15-682F-1F7C5ED7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178B5B-78D3-076B-78EB-25ADC631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F3B1BB-197E-DEAB-53B2-A0DE705A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44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C48447-FF8A-DCAE-D7D9-ECA5A1813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91E746-3575-17AD-CFCD-1146E3FE0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8B9CB6-8539-8552-EA31-E2B55E69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529F79-4A74-B8C9-33B4-E034B2F8C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D44E9F-1507-F0A5-7252-DBD66753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92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ABF71-C8FA-4D54-3E50-CEA11996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C44014-0E51-1360-48E8-B92F7B8A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6B2AC0-2909-9DA5-123C-721DF1B39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B6ED2-CA63-7748-968D-F38ABA8CF96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8181FE-5FA3-1011-07BE-081219E45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C9D05-2B77-F050-9DC5-67161DF8C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8AAF7-0353-F34E-A7D8-A0614F94C6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40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708E0-35B3-57FD-48EC-F6FCBFEE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535" y="1863726"/>
            <a:ext cx="5686697" cy="988832"/>
          </a:xfrm>
        </p:spPr>
        <p:txBody>
          <a:bodyPr/>
          <a:lstStyle/>
          <a:p>
            <a:r>
              <a:rPr lang="en-US" b="1" dirty="0"/>
              <a:t>WebSocket API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8C50C0-A6C6-F3A5-EBD3-B36D61A50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937" y="4994274"/>
            <a:ext cx="9144000" cy="1655762"/>
          </a:xfrm>
        </p:spPr>
        <p:txBody>
          <a:bodyPr/>
          <a:lstStyle/>
          <a:p>
            <a:r>
              <a:rPr lang="ru-RU" dirty="0" err="1"/>
              <a:t>Перехватова</a:t>
            </a:r>
            <a:r>
              <a:rPr lang="ru-RU" dirty="0"/>
              <a:t> Софья гр.5030102/40002</a:t>
            </a:r>
          </a:p>
        </p:txBody>
      </p:sp>
      <p:pic>
        <p:nvPicPr>
          <p:cNvPr id="1028" name="Picture 4" descr="WebSocket - Wikipedia">
            <a:extLst>
              <a:ext uri="{FF2B5EF4-FFF2-40B4-BE49-F238E27FC236}">
                <a16:creationId xmlns:a16="http://schemas.microsoft.com/office/drawing/2014/main" id="{D57ACCD3-0FB5-5077-2682-856A74CD7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437" y="152533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B5A0D3-11E8-4ED5-88D5-EF527229B1BE}"/>
              </a:ext>
            </a:extLst>
          </p:cNvPr>
          <p:cNvSpPr txBox="1"/>
          <p:nvPr/>
        </p:nvSpPr>
        <p:spPr>
          <a:xfrm>
            <a:off x="1401535" y="2856448"/>
            <a:ext cx="55821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u="none" strike="noStrike" dirty="0">
                <a:solidFill>
                  <a:srgbClr val="000000"/>
                </a:solidFill>
                <a:effectLst/>
              </a:rPr>
              <a:t>Технология двустороннего обмена данными в реальном времени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200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A0593-C087-8B55-E2D3-262863016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</a:t>
            </a:r>
            <a:r>
              <a:rPr lang="en" b="1" dirty="0"/>
              <a:t>WebSocket</a:t>
            </a:r>
            <a:r>
              <a:rPr lang="ru-RU" b="1" dirty="0"/>
              <a:t>?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DF1B290-833A-7958-5205-FF725CB4B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9630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" sz="2000" b="1" dirty="0"/>
              <a:t>WebSocket</a:t>
            </a:r>
            <a:r>
              <a:rPr lang="en" sz="2000" dirty="0"/>
              <a:t> — </a:t>
            </a:r>
            <a:r>
              <a:rPr lang="ru-RU" sz="2000" dirty="0"/>
              <a:t>это протокол связи, обеспечивающий постоянное двустороннее соединение между клиентом и сервером в режиме реального времени.</a:t>
            </a:r>
          </a:p>
          <a:p>
            <a:pPr marL="0" indent="0">
              <a:buNone/>
            </a:pPr>
            <a:r>
              <a:rPr lang="ru-RU" sz="2000" dirty="0"/>
              <a:t>В отличие от </a:t>
            </a:r>
            <a:r>
              <a:rPr lang="en" sz="2000" b="1" dirty="0"/>
              <a:t>HTTP</a:t>
            </a:r>
            <a:r>
              <a:rPr lang="en" sz="2000" dirty="0"/>
              <a:t>, </a:t>
            </a:r>
            <a:r>
              <a:rPr lang="ru-RU" sz="2000" dirty="0"/>
              <a:t>где клиент постоянно отправляет новые запросы, </a:t>
            </a:r>
            <a:r>
              <a:rPr lang="en" sz="2000" dirty="0"/>
              <a:t>WebSocket </a:t>
            </a:r>
            <a:r>
              <a:rPr lang="ru-RU" sz="2000" dirty="0"/>
              <a:t>позволяет серверу и клиенту обмениваться сообщениями без повторного установления соединения.</a:t>
            </a:r>
          </a:p>
          <a:p>
            <a:pPr marL="0" indent="0">
              <a:buNone/>
            </a:pPr>
            <a:r>
              <a:rPr lang="ru-RU" sz="2000" b="1" dirty="0"/>
              <a:t>Где применяется </a:t>
            </a:r>
            <a:r>
              <a:rPr lang="en" sz="2000" b="1" dirty="0"/>
              <a:t>WebSocket?</a:t>
            </a:r>
          </a:p>
          <a:p>
            <a:r>
              <a:rPr lang="ru-RU" sz="2000" dirty="0"/>
              <a:t>онлайн-чаты</a:t>
            </a:r>
          </a:p>
          <a:p>
            <a:r>
              <a:rPr lang="ru-RU" sz="2000" dirty="0"/>
              <a:t>игровые серверы</a:t>
            </a:r>
          </a:p>
          <a:p>
            <a:r>
              <a:rPr lang="ru-RU" sz="2000" dirty="0"/>
              <a:t>биржевые системы</a:t>
            </a:r>
          </a:p>
          <a:p>
            <a:r>
              <a:rPr lang="en" sz="2000" dirty="0"/>
              <a:t>push-</a:t>
            </a:r>
            <a:r>
              <a:rPr lang="ru-RU" sz="2000" dirty="0"/>
              <a:t>уведомления</a:t>
            </a:r>
          </a:p>
          <a:p>
            <a:r>
              <a:rPr lang="ru-RU" sz="2000" dirty="0"/>
              <a:t>совместная работа в реальном времени</a:t>
            </a:r>
          </a:p>
          <a:p>
            <a:pPr marL="0" indent="0">
              <a:buNone/>
            </a:pPr>
            <a:r>
              <a:rPr lang="ru-RU" sz="2000" b="1" dirty="0"/>
              <a:t>Основное преимущество</a:t>
            </a:r>
          </a:p>
          <a:p>
            <a:pPr marL="0" indent="0">
              <a:buNone/>
            </a:pPr>
            <a:r>
              <a:rPr lang="ru-RU" sz="2000" dirty="0"/>
              <a:t>Минимальные задержки и мгновенная передача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07988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90E73D7-D5DF-BA2D-7FB4-00DF206BD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595115"/>
              </p:ext>
            </p:extLst>
          </p:nvPr>
        </p:nvGraphicFramePr>
        <p:xfrm>
          <a:off x="838200" y="755173"/>
          <a:ext cx="10461172" cy="56064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30586">
                  <a:extLst>
                    <a:ext uri="{9D8B030D-6E8A-4147-A177-3AD203B41FA5}">
                      <a16:colId xmlns:a16="http://schemas.microsoft.com/office/drawing/2014/main" val="3189656960"/>
                    </a:ext>
                  </a:extLst>
                </a:gridCol>
                <a:gridCol w="5230586">
                  <a:extLst>
                    <a:ext uri="{9D8B030D-6E8A-4147-A177-3AD203B41FA5}">
                      <a16:colId xmlns:a16="http://schemas.microsoft.com/office/drawing/2014/main" val="651187946"/>
                    </a:ext>
                  </a:extLst>
                </a:gridCol>
              </a:tblGrid>
              <a:tr h="477144">
                <a:tc>
                  <a:txBody>
                    <a:bodyPr/>
                    <a:lstStyle/>
                    <a:p>
                      <a:pPr algn="ctr"/>
                      <a:r>
                        <a:rPr lang="en" sz="2400" b="1" dirty="0"/>
                        <a:t>HTTP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400" b="1" dirty="0"/>
                        <a:t>WebSocket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25563"/>
                  </a:ext>
                </a:extLst>
              </a:tr>
              <a:tr h="477144">
                <a:tc>
                  <a:txBody>
                    <a:bodyPr/>
                    <a:lstStyle/>
                    <a:p>
                      <a:r>
                        <a:rPr lang="en" b="1" dirty="0"/>
                        <a:t>Half-duplex</a:t>
                      </a:r>
                      <a:r>
                        <a:rPr lang="en" dirty="0"/>
                        <a:t> (</a:t>
                      </a:r>
                      <a:r>
                        <a:rPr lang="ru-RU" dirty="0"/>
                        <a:t>как рация)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b="1" dirty="0"/>
                        <a:t>Full-duplex</a:t>
                      </a:r>
                      <a:r>
                        <a:rPr lang="en" dirty="0"/>
                        <a:t> (</a:t>
                      </a:r>
                      <a:r>
                        <a:rPr lang="ru-RU" dirty="0"/>
                        <a:t>как телефонный звонок)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221590"/>
                  </a:ext>
                </a:extLst>
              </a:tr>
              <a:tr h="835001">
                <a:tc>
                  <a:txBody>
                    <a:bodyPr/>
                    <a:lstStyle/>
                    <a:p>
                      <a:r>
                        <a:rPr lang="ru-RU" dirty="0"/>
                        <a:t>Передача данных идет только </a:t>
                      </a:r>
                      <a:r>
                        <a:rPr lang="ru-RU" b="1" dirty="0"/>
                        <a:t>в одном направлении за раз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Двусторонний обмен данными в реальном времени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819805"/>
                  </a:ext>
                </a:extLst>
              </a:tr>
              <a:tr h="835001">
                <a:tc>
                  <a:txBody>
                    <a:bodyPr/>
                    <a:lstStyle/>
                    <a:p>
                      <a:r>
                        <a:rPr lang="ru-RU" dirty="0"/>
                        <a:t>Соединение обычно </a:t>
                      </a:r>
                      <a:r>
                        <a:rPr lang="ru-RU" b="1" dirty="0"/>
                        <a:t>закрывается</a:t>
                      </a:r>
                      <a:r>
                        <a:rPr lang="ru-RU" dirty="0"/>
                        <a:t> после пары </a:t>
                      </a:r>
                      <a:r>
                        <a:rPr lang="en" dirty="0"/>
                        <a:t>request/response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Соединение остается </a:t>
                      </a:r>
                      <a:r>
                        <a:rPr lang="ru-RU" b="1" dirty="0"/>
                        <a:t>постоянно открытым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370319"/>
                  </a:ext>
                </a:extLst>
              </a:tr>
              <a:tr h="835001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" dirty="0"/>
                        <a:t>Request </a:t>
                      </a:r>
                      <a:r>
                        <a:rPr lang="ru-RU" dirty="0"/>
                        <a:t>от клиента к серверу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" dirty="0"/>
                        <a:t>Response </a:t>
                      </a:r>
                      <a:r>
                        <a:rPr lang="ru-RU" dirty="0"/>
                        <a:t>от сервера клиенту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Клиент и сервер могут одновременно отправлять и получать сообщения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615218"/>
                  </a:ext>
                </a:extLst>
              </a:tr>
              <a:tr h="477144">
                <a:tc>
                  <a:txBody>
                    <a:bodyPr/>
                    <a:lstStyle/>
                    <a:p>
                      <a:r>
                        <a:rPr lang="ru-RU" dirty="0"/>
                        <a:t>Заголовки </a:t>
                      </a:r>
                      <a:r>
                        <a:rPr lang="en" dirty="0"/>
                        <a:t>HTTP (</a:t>
                      </a:r>
                      <a:r>
                        <a:rPr lang="ru-RU" b="1" dirty="0"/>
                        <a:t>сотни и тысячи байт</a:t>
                      </a:r>
                      <a:r>
                        <a:rPr lang="ru-RU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Используются компактные </a:t>
                      </a:r>
                      <a:r>
                        <a:rPr lang="en" b="1" dirty="0"/>
                        <a:t>frames</a:t>
                      </a:r>
                      <a:r>
                        <a:rPr lang="en" dirty="0"/>
                        <a:t> (~2 </a:t>
                      </a:r>
                      <a:r>
                        <a:rPr lang="ru-RU" dirty="0"/>
                        <a:t>байта)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314638"/>
                  </a:ext>
                </a:extLst>
              </a:tr>
              <a:tr h="835001">
                <a:tc>
                  <a:txBody>
                    <a:bodyPr/>
                    <a:lstStyle/>
                    <a:p>
                      <a:r>
                        <a:rPr lang="ru-RU"/>
                        <a:t>~150 мс на установку </a:t>
                      </a:r>
                      <a:r>
                        <a:rPr lang="en"/>
                        <a:t>TCP-</a:t>
                      </a:r>
                      <a:r>
                        <a:rPr lang="ru-RU"/>
                        <a:t>соединения для каждого </a:t>
                      </a:r>
                      <a:r>
                        <a:rPr lang="en"/>
                        <a:t>HTTP-</a:t>
                      </a:r>
                      <a:r>
                        <a:rPr lang="ru-RU"/>
                        <a:t>запроса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~50 мс на передачу сообщений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615494"/>
                  </a:ext>
                </a:extLst>
              </a:tr>
              <a:tr h="835001">
                <a:tc>
                  <a:txBody>
                    <a:bodyPr/>
                    <a:lstStyle/>
                    <a:p>
                      <a:r>
                        <a:rPr lang="en" b="1"/>
                        <a:t>Polling overhead</a:t>
                      </a:r>
                      <a:r>
                        <a:rPr lang="en"/>
                        <a:t> — </a:t>
                      </a:r>
                      <a:r>
                        <a:rPr lang="ru-RU"/>
                        <a:t>постоянные запросы для проверки новых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 лишних запросов — данные отправляются только при необходимости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11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573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Облако со сплошной заливкой">
            <a:extLst>
              <a:ext uri="{FF2B5EF4-FFF2-40B4-BE49-F238E27FC236}">
                <a16:creationId xmlns:a16="http://schemas.microsoft.com/office/drawing/2014/main" id="{2845E3C8-055B-70DE-D24E-70A3E2D4C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2618" y="1475652"/>
            <a:ext cx="1651361" cy="1651361"/>
          </a:xfrm>
          <a:prstGeom prst="rect">
            <a:avLst/>
          </a:prstGeom>
        </p:spPr>
      </p:pic>
      <p:pic>
        <p:nvPicPr>
          <p:cNvPr id="5" name="Рисунок 4" descr="Ноутбук со сплошной заливкой">
            <a:extLst>
              <a:ext uri="{FF2B5EF4-FFF2-40B4-BE49-F238E27FC236}">
                <a16:creationId xmlns:a16="http://schemas.microsoft.com/office/drawing/2014/main" id="{D9170426-2E74-A1EA-9EE2-2114BEA05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0638" y="1475651"/>
            <a:ext cx="1651362" cy="165136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1DF0033-BDCA-83FE-B84A-28F33C82C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241"/>
            <a:ext cx="10515600" cy="1325563"/>
          </a:xfrm>
        </p:spPr>
        <p:txBody>
          <a:bodyPr/>
          <a:lstStyle/>
          <a:p>
            <a:pPr algn="ctr"/>
            <a:r>
              <a:rPr lang="en" b="1" dirty="0"/>
              <a:t>WebSocket</a:t>
            </a:r>
            <a:endParaRPr lang="ru-RU" b="1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2C625A6-A19A-2483-9DBA-541F583F9E3D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HTTP</a:t>
            </a:r>
            <a:endParaRPr lang="ru-RU" b="1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9BB01B95-55F0-9D9C-1ADF-4F97C4D11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719" y="2868863"/>
            <a:ext cx="1327513" cy="5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Клиент</a:t>
            </a:r>
            <a:endParaRPr lang="ru-RU" sz="2000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A1784D0E-CC64-6B25-16C8-E7BF2B443E1B}"/>
              </a:ext>
            </a:extLst>
          </p:cNvPr>
          <p:cNvSpPr txBox="1">
            <a:spLocks/>
          </p:cNvSpPr>
          <p:nvPr/>
        </p:nvSpPr>
        <p:spPr>
          <a:xfrm>
            <a:off x="7620002" y="2868863"/>
            <a:ext cx="1327512" cy="5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/>
              <a:t>Сервер</a:t>
            </a:r>
            <a:endParaRPr lang="ru-RU" sz="2000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E9E8498-0853-7D34-05B0-4F2BA582B20A}"/>
              </a:ext>
            </a:extLst>
          </p:cNvPr>
          <p:cNvCxnSpPr>
            <a:cxnSpLocks/>
          </p:cNvCxnSpPr>
          <p:nvPr/>
        </p:nvCxnSpPr>
        <p:spPr>
          <a:xfrm>
            <a:off x="4946469" y="2636612"/>
            <a:ext cx="2076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9CBEB64-5523-A256-3DD3-49771DAD4B94}"/>
              </a:ext>
            </a:extLst>
          </p:cNvPr>
          <p:cNvCxnSpPr>
            <a:cxnSpLocks/>
          </p:cNvCxnSpPr>
          <p:nvPr/>
        </p:nvCxnSpPr>
        <p:spPr>
          <a:xfrm flipH="1" flipV="1">
            <a:off x="4946469" y="2336803"/>
            <a:ext cx="2076994" cy="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1F057A2-AC63-C387-285C-4A21075FAC3D}"/>
              </a:ext>
            </a:extLst>
          </p:cNvPr>
          <p:cNvCxnSpPr>
            <a:cxnSpLocks/>
          </p:cNvCxnSpPr>
          <p:nvPr/>
        </p:nvCxnSpPr>
        <p:spPr>
          <a:xfrm>
            <a:off x="4946469" y="1974761"/>
            <a:ext cx="2076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 descr="Облако со сплошной заливкой">
            <a:extLst>
              <a:ext uri="{FF2B5EF4-FFF2-40B4-BE49-F238E27FC236}">
                <a16:creationId xmlns:a16="http://schemas.microsoft.com/office/drawing/2014/main" id="{122F6EFF-0EA0-DD16-8D93-C07C9752A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2618" y="4508476"/>
            <a:ext cx="1651361" cy="1651361"/>
          </a:xfrm>
          <a:prstGeom prst="rect">
            <a:avLst/>
          </a:prstGeom>
        </p:spPr>
      </p:pic>
      <p:pic>
        <p:nvPicPr>
          <p:cNvPr id="30" name="Рисунок 29" descr="Ноутбук со сплошной заливкой">
            <a:extLst>
              <a:ext uri="{FF2B5EF4-FFF2-40B4-BE49-F238E27FC236}">
                <a16:creationId xmlns:a16="http://schemas.microsoft.com/office/drawing/2014/main" id="{29D0A6CB-4D84-0405-71EF-6D8EE0BF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0638" y="4508475"/>
            <a:ext cx="1651362" cy="1651362"/>
          </a:xfrm>
          <a:prstGeom prst="rect">
            <a:avLst/>
          </a:prstGeom>
        </p:spPr>
      </p:pic>
      <p:sp>
        <p:nvSpPr>
          <p:cNvPr id="31" name="Объект 2">
            <a:extLst>
              <a:ext uri="{FF2B5EF4-FFF2-40B4-BE49-F238E27FC236}">
                <a16:creationId xmlns:a16="http://schemas.microsoft.com/office/drawing/2014/main" id="{E9093CA6-9BF0-84E9-8374-E2CB6F2E70D4}"/>
              </a:ext>
            </a:extLst>
          </p:cNvPr>
          <p:cNvSpPr txBox="1">
            <a:spLocks/>
          </p:cNvSpPr>
          <p:nvPr/>
        </p:nvSpPr>
        <p:spPr>
          <a:xfrm>
            <a:off x="3262719" y="5901687"/>
            <a:ext cx="1327513" cy="5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/>
              <a:t>Клиент</a:t>
            </a:r>
            <a:endParaRPr lang="ru-RU" sz="2000" dirty="0"/>
          </a:p>
        </p:txBody>
      </p:sp>
      <p:sp>
        <p:nvSpPr>
          <p:cNvPr id="32" name="Объект 2">
            <a:extLst>
              <a:ext uri="{FF2B5EF4-FFF2-40B4-BE49-F238E27FC236}">
                <a16:creationId xmlns:a16="http://schemas.microsoft.com/office/drawing/2014/main" id="{1285ECE2-E6AB-C185-2E19-39B07408C903}"/>
              </a:ext>
            </a:extLst>
          </p:cNvPr>
          <p:cNvSpPr txBox="1">
            <a:spLocks/>
          </p:cNvSpPr>
          <p:nvPr/>
        </p:nvSpPr>
        <p:spPr>
          <a:xfrm>
            <a:off x="7620002" y="5901687"/>
            <a:ext cx="1327512" cy="5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/>
              <a:t>Сервер</a:t>
            </a:r>
            <a:endParaRPr lang="ru-RU" sz="2000" dirty="0"/>
          </a:p>
        </p:txBody>
      </p: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1012E83-07C1-D898-EC96-A093B0B8ADE6}"/>
              </a:ext>
            </a:extLst>
          </p:cNvPr>
          <p:cNvCxnSpPr>
            <a:cxnSpLocks/>
          </p:cNvCxnSpPr>
          <p:nvPr/>
        </p:nvCxnSpPr>
        <p:spPr>
          <a:xfrm flipH="1">
            <a:off x="4930871" y="5355044"/>
            <a:ext cx="20428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F6DFCA8C-9A8B-E3FD-9770-095B7A615CB5}"/>
              </a:ext>
            </a:extLst>
          </p:cNvPr>
          <p:cNvCxnSpPr>
            <a:cxnSpLocks/>
          </p:cNvCxnSpPr>
          <p:nvPr/>
        </p:nvCxnSpPr>
        <p:spPr>
          <a:xfrm>
            <a:off x="4946469" y="5007585"/>
            <a:ext cx="2076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BF9628F-617D-423E-3BC3-4F8EA38AF18A}"/>
              </a:ext>
            </a:extLst>
          </p:cNvPr>
          <p:cNvSpPr txBox="1"/>
          <p:nvPr/>
        </p:nvSpPr>
        <p:spPr>
          <a:xfrm>
            <a:off x="5492696" y="1646863"/>
            <a:ext cx="919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Request</a:t>
            </a:r>
            <a:endParaRPr lang="ru-RU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EE72BE-3678-13CE-8FE1-3F6D0B2AF1B1}"/>
              </a:ext>
            </a:extLst>
          </p:cNvPr>
          <p:cNvSpPr txBox="1"/>
          <p:nvPr/>
        </p:nvSpPr>
        <p:spPr>
          <a:xfrm>
            <a:off x="5380537" y="1981602"/>
            <a:ext cx="120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HandShake</a:t>
            </a:r>
            <a:endParaRPr lang="ru-RU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4CCC5-58D3-6E6D-EEA8-01648114AE35}"/>
              </a:ext>
            </a:extLst>
          </p:cNvPr>
          <p:cNvSpPr txBox="1"/>
          <p:nvPr/>
        </p:nvSpPr>
        <p:spPr>
          <a:xfrm>
            <a:off x="5394091" y="2316032"/>
            <a:ext cx="1189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WebSocket</a:t>
            </a:r>
            <a:endParaRPr lang="ru-RU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6BAB8B-D39E-18F3-2188-38470C93C14F}"/>
              </a:ext>
            </a:extLst>
          </p:cNvPr>
          <p:cNvSpPr txBox="1"/>
          <p:nvPr/>
        </p:nvSpPr>
        <p:spPr>
          <a:xfrm>
            <a:off x="5517372" y="4654986"/>
            <a:ext cx="919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Request</a:t>
            </a:r>
            <a:endParaRPr lang="ru-RU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F52CFE-5F16-2D44-1BE0-E5122B9D5C4F}"/>
              </a:ext>
            </a:extLst>
          </p:cNvPr>
          <p:cNvSpPr txBox="1"/>
          <p:nvPr/>
        </p:nvSpPr>
        <p:spPr>
          <a:xfrm>
            <a:off x="5480258" y="5005015"/>
            <a:ext cx="1066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</a:t>
            </a:r>
            <a:endParaRPr lang="ru-RU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49E717-C0A5-B302-FC9C-4E324A208F1A}"/>
              </a:ext>
            </a:extLst>
          </p:cNvPr>
          <p:cNvSpPr txBox="1"/>
          <p:nvPr/>
        </p:nvSpPr>
        <p:spPr>
          <a:xfrm>
            <a:off x="4859383" y="5343569"/>
            <a:ext cx="2284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Соединение прервано</a:t>
            </a: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6FA4414C-5E55-AA99-90A7-AA78530B4828}"/>
              </a:ext>
            </a:extLst>
          </p:cNvPr>
          <p:cNvCxnSpPr>
            <a:cxnSpLocks/>
          </p:cNvCxnSpPr>
          <p:nvPr/>
        </p:nvCxnSpPr>
        <p:spPr>
          <a:xfrm>
            <a:off x="4946469" y="5685682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589D2E29-5D65-A76B-74B4-C6B8C6454611}"/>
              </a:ext>
            </a:extLst>
          </p:cNvPr>
          <p:cNvCxnSpPr>
            <a:cxnSpLocks/>
          </p:cNvCxnSpPr>
          <p:nvPr/>
        </p:nvCxnSpPr>
        <p:spPr>
          <a:xfrm>
            <a:off x="5270798" y="5682123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2030FCB1-BF80-CB6A-8D11-5E4D4EBFED66}"/>
              </a:ext>
            </a:extLst>
          </p:cNvPr>
          <p:cNvCxnSpPr>
            <a:cxnSpLocks/>
          </p:cNvCxnSpPr>
          <p:nvPr/>
        </p:nvCxnSpPr>
        <p:spPr>
          <a:xfrm>
            <a:off x="5591031" y="5682123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FC8F4700-5AE9-1B40-9779-E44A8AD86A83}"/>
              </a:ext>
            </a:extLst>
          </p:cNvPr>
          <p:cNvCxnSpPr>
            <a:cxnSpLocks/>
          </p:cNvCxnSpPr>
          <p:nvPr/>
        </p:nvCxnSpPr>
        <p:spPr>
          <a:xfrm>
            <a:off x="5912655" y="5682123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4E694104-E3C0-7CF2-8F42-A93DA5E066EB}"/>
              </a:ext>
            </a:extLst>
          </p:cNvPr>
          <p:cNvCxnSpPr>
            <a:cxnSpLocks/>
          </p:cNvCxnSpPr>
          <p:nvPr/>
        </p:nvCxnSpPr>
        <p:spPr>
          <a:xfrm>
            <a:off x="6235074" y="5682123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7AFA4387-2E15-837D-0282-DF732C89486C}"/>
              </a:ext>
            </a:extLst>
          </p:cNvPr>
          <p:cNvCxnSpPr>
            <a:cxnSpLocks/>
          </p:cNvCxnSpPr>
          <p:nvPr/>
        </p:nvCxnSpPr>
        <p:spPr>
          <a:xfrm>
            <a:off x="6583391" y="5682123"/>
            <a:ext cx="2015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80CAE326-7CAB-27CD-59F8-1BF5434D1038}"/>
              </a:ext>
            </a:extLst>
          </p:cNvPr>
          <p:cNvCxnSpPr>
            <a:cxnSpLocks/>
          </p:cNvCxnSpPr>
          <p:nvPr/>
        </p:nvCxnSpPr>
        <p:spPr>
          <a:xfrm>
            <a:off x="6922701" y="5682123"/>
            <a:ext cx="510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9B558782-B863-845A-9755-9EB86CBEEF3B}"/>
              </a:ext>
            </a:extLst>
          </p:cNvPr>
          <p:cNvCxnSpPr>
            <a:cxnSpLocks/>
          </p:cNvCxnSpPr>
          <p:nvPr/>
        </p:nvCxnSpPr>
        <p:spPr>
          <a:xfrm flipH="1" flipV="1">
            <a:off x="4896753" y="2635687"/>
            <a:ext cx="2076994" cy="1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34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8ABA4-797D-D149-BA5B-30D69E8F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WebSocket </a:t>
            </a:r>
            <a:r>
              <a:rPr lang="en-US" b="1" dirty="0"/>
              <a:t>API </a:t>
            </a:r>
            <a:r>
              <a:rPr lang="ru-RU" b="1" dirty="0"/>
              <a:t>в </a:t>
            </a:r>
            <a:r>
              <a:rPr lang="en" b="1" dirty="0"/>
              <a:t>Java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5128E-6D0E-38B4-FF7C-2920244F2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068"/>
            <a:ext cx="10515600" cy="1325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" b="0" i="0" u="none" strike="noStrike" dirty="0">
                <a:solidFill>
                  <a:srgbClr val="000000"/>
                </a:solidFill>
                <a:effectLst/>
              </a:rPr>
              <a:t>Java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предоставляет встроенный </a:t>
            </a:r>
            <a:r>
              <a:rPr lang="en" b="0" i="0" u="none" strike="noStrike" dirty="0">
                <a:solidFill>
                  <a:srgbClr val="000000"/>
                </a:solidFill>
                <a:effectLst/>
              </a:rPr>
              <a:t>API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для создания </a:t>
            </a:r>
            <a:r>
              <a:rPr lang="en" b="0" i="0" u="none" strike="noStrike" dirty="0">
                <a:solidFill>
                  <a:srgbClr val="000000"/>
                </a:solidFill>
                <a:effectLst/>
              </a:rPr>
              <a:t>WebSocket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 клиентов и серверов. Он позволяет организовать двусторонний обмен сообщениями между клиентом и сервером в режиме реального времени.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4314270-DB7A-384E-F319-BCEA61856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78765"/>
              </p:ext>
            </p:extLst>
          </p:nvPr>
        </p:nvGraphicFramePr>
        <p:xfrm>
          <a:off x="2627243" y="3555520"/>
          <a:ext cx="6370984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97765">
                  <a:extLst>
                    <a:ext uri="{9D8B030D-6E8A-4147-A177-3AD203B41FA5}">
                      <a16:colId xmlns:a16="http://schemas.microsoft.com/office/drawing/2014/main" val="3543037630"/>
                    </a:ext>
                  </a:extLst>
                </a:gridCol>
                <a:gridCol w="4373219">
                  <a:extLst>
                    <a:ext uri="{9D8B030D-6E8A-4147-A177-3AD203B41FA5}">
                      <a16:colId xmlns:a16="http://schemas.microsoft.com/office/drawing/2014/main" val="1295240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b="1"/>
                        <a:t>Компонент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Назначение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947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@ServerEndpoint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Создание </a:t>
                      </a:r>
                      <a:r>
                        <a:rPr lang="en"/>
                        <a:t>WebSocket endpoint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280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Управление подключением клиента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0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@OnOpen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Обработка открытия соединения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297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@OnMessage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Получение сообщений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75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@OnClose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Закрытие соединения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76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@OnError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Обработка ошибок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23328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E91741-8DA0-EEE9-B3E2-353DA82472BD}"/>
              </a:ext>
            </a:extLst>
          </p:cNvPr>
          <p:cNvSpPr txBox="1"/>
          <p:nvPr/>
        </p:nvSpPr>
        <p:spPr>
          <a:xfrm>
            <a:off x="1965463" y="2919465"/>
            <a:ext cx="76945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i="0" u="none" strike="noStrike" dirty="0">
                <a:solidFill>
                  <a:srgbClr val="000000"/>
                </a:solidFill>
                <a:effectLst/>
              </a:rPr>
              <a:t>Основные компоненты </a:t>
            </a:r>
            <a:r>
              <a:rPr lang="en" sz="2800" b="1" i="0" u="none" strike="noStrike" dirty="0">
                <a:solidFill>
                  <a:srgbClr val="000000"/>
                </a:solidFill>
                <a:effectLst/>
              </a:rPr>
              <a:t>WebSocket API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08468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90113-9F3E-BF4C-7E4E-A9BB03BCD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670" y="209150"/>
            <a:ext cx="10889973" cy="1325563"/>
          </a:xfrm>
        </p:spPr>
        <p:txBody>
          <a:bodyPr>
            <a:normAutofit/>
          </a:bodyPr>
          <a:lstStyle/>
          <a:p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Создание </a:t>
            </a:r>
            <a:r>
              <a:rPr lang="en" b="1" i="0" u="none" strike="noStrike" dirty="0">
                <a:solidFill>
                  <a:srgbClr val="000000"/>
                </a:solidFill>
                <a:effectLst/>
                <a:latin typeface="+mn-lt"/>
              </a:rPr>
              <a:t>WebSocket-</a:t>
            </a:r>
            <a:r>
              <a:rPr lang="ru-RU" b="1" i="0" u="none" strike="noStrike" dirty="0">
                <a:solidFill>
                  <a:srgbClr val="000000"/>
                </a:solidFill>
                <a:effectLst/>
                <a:latin typeface="+mn-lt"/>
              </a:rPr>
              <a:t>сервера</a:t>
            </a:r>
            <a:endParaRPr lang="ru-RU" b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E23E3-A608-81AE-A3D9-9636E1F38188}"/>
              </a:ext>
            </a:extLst>
          </p:cNvPr>
          <p:cNvSpPr txBox="1"/>
          <p:nvPr/>
        </p:nvSpPr>
        <p:spPr>
          <a:xfrm>
            <a:off x="5622235" y="1534713"/>
            <a:ext cx="6119191" cy="4647426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lang="ru-RU" sz="1600" dirty="0">
                <a:latin typeface="Andale Mono" panose="020B0509000000000004" pitchFamily="49" charset="0"/>
              </a:rPr>
              <a:t>@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ServerEndpoint</a:t>
            </a:r>
            <a:r>
              <a:rPr lang="ru-RU" sz="1600" dirty="0">
                <a:latin typeface="Andale Mono" panose="020B0509000000000004" pitchFamily="49" charset="0"/>
              </a:rPr>
              <a:t>(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"/</a:t>
            </a:r>
            <a:r>
              <a:rPr lang="ru-RU" sz="1600" dirty="0" err="1">
                <a:solidFill>
                  <a:schemeClr val="accent6"/>
                </a:solidFill>
                <a:latin typeface="Andale Mono" panose="020B0509000000000004" pitchFamily="49" charset="0"/>
              </a:rPr>
              <a:t>chat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</a:t>
            </a:r>
            <a:r>
              <a:rPr lang="ru-RU" sz="1600" dirty="0">
                <a:latin typeface="Andale Mono" panose="020B0509000000000004" pitchFamily="49" charset="0"/>
              </a:rPr>
              <a:t>)</a:t>
            </a:r>
          </a:p>
          <a:p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public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class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ChatServer</a:t>
            </a:r>
            <a:r>
              <a:rPr lang="ru-RU" sz="1600" dirty="0">
                <a:latin typeface="Andale Mono" panose="020B0509000000000004" pitchFamily="49" charset="0"/>
              </a:rPr>
              <a:t> {</a:t>
            </a:r>
          </a:p>
          <a:p>
            <a:endParaRPr lang="ru-RU" sz="1600" dirty="0"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@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OnOpen</a:t>
            </a:r>
            <a:endParaRPr lang="ru-RU" sz="1600" dirty="0">
              <a:solidFill>
                <a:srgbClr val="7030A0"/>
              </a:solidFill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public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void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onOpen</a:t>
            </a:r>
            <a:r>
              <a:rPr lang="ru-RU" sz="1600" dirty="0">
                <a:latin typeface="Andale Mono" panose="020B0509000000000004" pitchFamily="49" charset="0"/>
              </a:rPr>
              <a:t>(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Session</a:t>
            </a:r>
            <a:r>
              <a:rPr lang="ru-RU" sz="1600" dirty="0">
                <a:solidFill>
                  <a:srgbClr val="7030A0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session</a:t>
            </a:r>
            <a:r>
              <a:rPr lang="ru-RU" sz="1600" dirty="0">
                <a:latin typeface="Andale Mono" panose="020B0509000000000004" pitchFamily="49" charset="0"/>
              </a:rPr>
              <a:t>) {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   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System.out.println</a:t>
            </a:r>
            <a:r>
              <a:rPr lang="ru-RU" sz="1600" dirty="0">
                <a:latin typeface="Andale Mono" panose="020B0509000000000004" pitchFamily="49" charset="0"/>
              </a:rPr>
              <a:t>(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"Client </a:t>
            </a:r>
            <a:r>
              <a:rPr lang="ru-RU" sz="1600" dirty="0" err="1">
                <a:solidFill>
                  <a:schemeClr val="accent6"/>
                </a:solidFill>
                <a:latin typeface="Andale Mono" panose="020B0509000000000004" pitchFamily="49" charset="0"/>
              </a:rPr>
              <a:t>connected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</a:t>
            </a:r>
            <a:r>
              <a:rPr lang="ru-RU" sz="1600" dirty="0">
                <a:latin typeface="Andale Mono" panose="020B0509000000000004" pitchFamily="49" charset="0"/>
              </a:rPr>
              <a:t>);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}</a:t>
            </a:r>
          </a:p>
          <a:p>
            <a:endParaRPr lang="ru-RU" sz="1600" dirty="0"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@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OnMessage</a:t>
            </a:r>
            <a:endParaRPr lang="ru-RU" sz="1600" dirty="0">
              <a:solidFill>
                <a:srgbClr val="7030A0"/>
              </a:solidFill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public</a:t>
            </a:r>
            <a:r>
              <a:rPr lang="ru-RU" sz="1600" dirty="0"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String</a:t>
            </a:r>
            <a:r>
              <a:rPr lang="ru-RU" sz="1600" dirty="0"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onMessage</a:t>
            </a:r>
            <a:r>
              <a:rPr lang="ru-RU" sz="1600" dirty="0">
                <a:latin typeface="Andale Mono" panose="020B0509000000000004" pitchFamily="49" charset="0"/>
              </a:rPr>
              <a:t>(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String</a:t>
            </a:r>
            <a:r>
              <a:rPr lang="ru-RU" sz="1600" dirty="0">
                <a:solidFill>
                  <a:srgbClr val="7030A0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message</a:t>
            </a:r>
            <a:r>
              <a:rPr lang="ru-RU" sz="1600" dirty="0">
                <a:latin typeface="Andale Mono" panose="020B0509000000000004" pitchFamily="49" charset="0"/>
              </a:rPr>
              <a:t>) {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   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return</a:t>
            </a:r>
            <a:r>
              <a:rPr lang="ru-RU" sz="1600" dirty="0">
                <a:latin typeface="Andale Mono" panose="020B0509000000000004" pitchFamily="49" charset="0"/>
              </a:rPr>
              <a:t> 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</a:t>
            </a:r>
            <a:r>
              <a:rPr lang="ru-RU" sz="1600" dirty="0" err="1">
                <a:solidFill>
                  <a:schemeClr val="accent6"/>
                </a:solidFill>
                <a:latin typeface="Andale Mono" panose="020B0509000000000004" pitchFamily="49" charset="0"/>
              </a:rPr>
              <a:t>Echo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: " </a:t>
            </a:r>
            <a:r>
              <a:rPr lang="ru-RU" sz="1600" dirty="0">
                <a:latin typeface="Andale Mono" panose="020B0509000000000004" pitchFamily="49" charset="0"/>
              </a:rPr>
              <a:t>+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message</a:t>
            </a:r>
            <a:r>
              <a:rPr lang="ru-RU" sz="1600" dirty="0">
                <a:latin typeface="Andale Mono" panose="020B0509000000000004" pitchFamily="49" charset="0"/>
              </a:rPr>
              <a:t>;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}</a:t>
            </a:r>
          </a:p>
          <a:p>
            <a:endParaRPr lang="ru-RU" sz="1600" dirty="0"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@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OnClose</a:t>
            </a:r>
            <a:endParaRPr lang="ru-RU" sz="1600" dirty="0">
              <a:solidFill>
                <a:srgbClr val="7030A0"/>
              </a:solidFill>
              <a:latin typeface="Andale Mono" panose="020B0509000000000004" pitchFamily="49" charset="0"/>
            </a:endParaRPr>
          </a:p>
          <a:p>
            <a:r>
              <a:rPr lang="ru-RU" sz="1600" dirty="0">
                <a:latin typeface="Andale Mono" panose="020B0509000000000004" pitchFamily="49" charset="0"/>
              </a:rPr>
              <a:t>   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public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void</a:t>
            </a:r>
            <a:r>
              <a:rPr lang="ru-RU" sz="16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onClose</a:t>
            </a:r>
            <a:r>
              <a:rPr lang="ru-RU" sz="1600" dirty="0">
                <a:latin typeface="Andale Mono" panose="020B0509000000000004" pitchFamily="49" charset="0"/>
              </a:rPr>
              <a:t>() {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    </a:t>
            </a:r>
            <a:r>
              <a:rPr lang="ru-RU" sz="16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System.out.println</a:t>
            </a:r>
            <a:r>
              <a:rPr lang="ru-RU" sz="1600" dirty="0">
                <a:latin typeface="Andale Mono" panose="020B0509000000000004" pitchFamily="49" charset="0"/>
              </a:rPr>
              <a:t>(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"Connection </a:t>
            </a:r>
            <a:r>
              <a:rPr lang="ru-RU" sz="1600" dirty="0" err="1">
                <a:solidFill>
                  <a:schemeClr val="accent6"/>
                </a:solidFill>
                <a:latin typeface="Andale Mono" panose="020B0509000000000004" pitchFamily="49" charset="0"/>
              </a:rPr>
              <a:t>closed</a:t>
            </a:r>
            <a:r>
              <a:rPr lang="ru-RU" sz="1600" dirty="0">
                <a:solidFill>
                  <a:schemeClr val="accent6"/>
                </a:solidFill>
                <a:latin typeface="Andale Mono" panose="020B0509000000000004" pitchFamily="49" charset="0"/>
              </a:rPr>
              <a:t>"</a:t>
            </a:r>
            <a:r>
              <a:rPr lang="ru-RU" sz="1600" dirty="0">
                <a:latin typeface="Andale Mono" panose="020B0509000000000004" pitchFamily="49" charset="0"/>
              </a:rPr>
              <a:t>);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    }</a:t>
            </a:r>
          </a:p>
          <a:p>
            <a:r>
              <a:rPr lang="ru-RU" sz="1600" dirty="0">
                <a:latin typeface="Andale Mono" panose="020B050900000000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61308-9722-3931-85E0-C563AFB8B7AE}"/>
              </a:ext>
            </a:extLst>
          </p:cNvPr>
          <p:cNvSpPr txBox="1"/>
          <p:nvPr/>
        </p:nvSpPr>
        <p:spPr>
          <a:xfrm>
            <a:off x="652670" y="2546507"/>
            <a:ext cx="44494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000000"/>
                </a:solidFill>
                <a:effectLst/>
              </a:rPr>
              <a:t>Что делает этот сервер?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создает </a:t>
            </a:r>
            <a:r>
              <a:rPr lang="en" sz="2000" b="0" i="0" dirty="0">
                <a:solidFill>
                  <a:srgbClr val="000000"/>
                </a:solidFill>
                <a:effectLst/>
              </a:rPr>
              <a:t>endpoint /chat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принимает подключения клиентов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получает сообщения от клиента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отправляет ответ обратно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00000"/>
                </a:solidFill>
                <a:effectLst/>
              </a:rPr>
              <a:t>отслеживает закрытие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595196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EE56DE-2099-936E-0FD7-1D44581A0775}"/>
              </a:ext>
            </a:extLst>
          </p:cNvPr>
          <p:cNvSpPr txBox="1"/>
          <p:nvPr/>
        </p:nvSpPr>
        <p:spPr>
          <a:xfrm>
            <a:off x="1752601" y="3997265"/>
            <a:ext cx="8464826" cy="2308324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lang="en" b="0" dirty="0">
                <a:effectLst/>
                <a:latin typeface="Menlo" panose="020B0609030804020204" pitchFamily="49" charset="0"/>
              </a:rPr>
              <a:t>@</a:t>
            </a:r>
            <a:r>
              <a:rPr lang="en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ClientEndpoint</a:t>
            </a:r>
            <a:endParaRPr lang="en" b="0" dirty="0">
              <a:solidFill>
                <a:srgbClr val="7030A0"/>
              </a:solidFill>
              <a:effectLst/>
              <a:latin typeface="Menlo" panose="020B0609030804020204" pitchFamily="49" charset="0"/>
            </a:endParaRPr>
          </a:p>
          <a:p>
            <a:r>
              <a:rPr lang="en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public class </a:t>
            </a:r>
            <a:r>
              <a:rPr lang="en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ChatClient</a:t>
            </a:r>
            <a:r>
              <a:rPr lang="en" b="0" dirty="0">
                <a:effectLst/>
                <a:latin typeface="Menlo" panose="020B0609030804020204" pitchFamily="49" charset="0"/>
              </a:rPr>
              <a:t> {</a:t>
            </a:r>
          </a:p>
          <a:p>
            <a:pPr lvl="1"/>
            <a:br>
              <a:rPr lang="en" b="0" dirty="0">
                <a:effectLst/>
                <a:latin typeface="Menlo" panose="020B0609030804020204" pitchFamily="49" charset="0"/>
              </a:rPr>
            </a:br>
            <a:r>
              <a:rPr lang="en" b="0" dirty="0">
                <a:effectLst/>
                <a:latin typeface="Menlo" panose="020B0609030804020204" pitchFamily="49" charset="0"/>
              </a:rPr>
              <a:t>@</a:t>
            </a:r>
            <a:r>
              <a:rPr lang="en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OnMessage</a:t>
            </a:r>
            <a:endParaRPr lang="en" b="0" dirty="0">
              <a:solidFill>
                <a:srgbClr val="7030A0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public void </a:t>
            </a:r>
            <a:r>
              <a:rPr lang="en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onMessage</a:t>
            </a:r>
            <a:r>
              <a:rPr lang="en" b="0" dirty="0">
                <a:effectLst/>
                <a:latin typeface="Menlo" panose="020B0609030804020204" pitchFamily="49" charset="0"/>
              </a:rPr>
              <a:t>(</a:t>
            </a:r>
            <a:r>
              <a:rPr lang="en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String message</a:t>
            </a:r>
            <a:r>
              <a:rPr lang="en" b="0" dirty="0">
                <a:effectLst/>
                <a:latin typeface="Menlo" panose="020B0609030804020204" pitchFamily="49" charset="0"/>
              </a:rPr>
              <a:t>) {</a:t>
            </a:r>
          </a:p>
          <a:p>
            <a:pPr lvl="1"/>
            <a:r>
              <a:rPr lang="ru-RU" b="0" dirty="0">
                <a:effectLst/>
                <a:latin typeface="Menlo" panose="020B0609030804020204" pitchFamily="49" charset="0"/>
              </a:rPr>
              <a:t>	</a:t>
            </a:r>
            <a:r>
              <a:rPr lang="en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System.out.println</a:t>
            </a:r>
            <a:r>
              <a:rPr lang="en" b="0" dirty="0">
                <a:effectLst/>
                <a:latin typeface="Menlo" panose="020B0609030804020204" pitchFamily="49" charset="0"/>
              </a:rPr>
              <a:t>(</a:t>
            </a:r>
            <a:r>
              <a:rPr lang="en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message</a:t>
            </a:r>
            <a:r>
              <a:rPr lang="en" b="0" dirty="0"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en" b="0" dirty="0"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" b="0" dirty="0"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0B3A0-420C-FD80-15B7-772F96E5B5D1}"/>
              </a:ext>
            </a:extLst>
          </p:cNvPr>
          <p:cNvSpPr txBox="1"/>
          <p:nvPr/>
        </p:nvSpPr>
        <p:spPr>
          <a:xfrm>
            <a:off x="2937014" y="364131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-webkit-standard"/>
              </a:rPr>
              <a:t>К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лиент получающий сообщения от сервера</a:t>
            </a:r>
            <a:endParaRPr lang="ru-RU" sz="2000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71D62BB8-FD3C-B09C-3F33-25D1BA91E0C0}"/>
              </a:ext>
            </a:extLst>
          </p:cNvPr>
          <p:cNvSpPr txBox="1">
            <a:spLocks/>
          </p:cNvSpPr>
          <p:nvPr/>
        </p:nvSpPr>
        <p:spPr>
          <a:xfrm>
            <a:off x="727214" y="1837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b="1" dirty="0"/>
              <a:t>WebSocket-</a:t>
            </a:r>
            <a:r>
              <a:rPr lang="ru-RU" b="1" dirty="0"/>
              <a:t>клиент на </a:t>
            </a:r>
            <a:r>
              <a:rPr lang="en" b="1" dirty="0"/>
              <a:t>Java</a:t>
            </a:r>
            <a:endParaRPr lang="ru-RU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B870DC-1F85-B6B9-F7EF-9CDB55892688}"/>
              </a:ext>
            </a:extLst>
          </p:cNvPr>
          <p:cNvSpPr txBox="1"/>
          <p:nvPr/>
        </p:nvSpPr>
        <p:spPr>
          <a:xfrm>
            <a:off x="1752601" y="1649530"/>
            <a:ext cx="8464826" cy="2031325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lang="en" b="0" dirty="0" err="1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WebSocketContainer</a:t>
            </a:r>
            <a:r>
              <a:rPr lang="en" b="0" dirty="0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 container =</a:t>
            </a:r>
          </a:p>
          <a:p>
            <a:r>
              <a:rPr lang="ru-RU" b="0" dirty="0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	</a:t>
            </a:r>
            <a:r>
              <a:rPr lang="en" b="0" dirty="0" err="1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ContainerProvider.getWebSocketContainer</a:t>
            </a:r>
            <a:r>
              <a:rPr lang="en" b="0" dirty="0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();</a:t>
            </a:r>
          </a:p>
          <a:p>
            <a:br>
              <a:rPr lang="en" b="0" dirty="0">
                <a:effectLst/>
                <a:latin typeface="Andale Mono" panose="020B0509000000000004" pitchFamily="49" charset="0"/>
              </a:rPr>
            </a:br>
            <a:r>
              <a:rPr lang="en" b="0" dirty="0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Session session </a:t>
            </a:r>
            <a:r>
              <a:rPr lang="en" b="0" dirty="0">
                <a:effectLst/>
                <a:latin typeface="Andale Mono" panose="020B0509000000000004" pitchFamily="49" charset="0"/>
              </a:rPr>
              <a:t>=</a:t>
            </a:r>
            <a:r>
              <a:rPr lang="ru-RU" dirty="0">
                <a:latin typeface="Andale Mono" panose="020B0509000000000004" pitchFamily="49" charset="0"/>
              </a:rPr>
              <a:t> </a:t>
            </a:r>
            <a:r>
              <a:rPr lang="en" b="0" dirty="0" err="1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container.connectToServer</a:t>
            </a:r>
            <a:r>
              <a:rPr lang="en" b="0" dirty="0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(</a:t>
            </a:r>
          </a:p>
          <a:p>
            <a:r>
              <a:rPr lang="ru-RU" b="0" dirty="0">
                <a:effectLst/>
                <a:latin typeface="Andale Mono" panose="020B0509000000000004" pitchFamily="49" charset="0"/>
              </a:rPr>
              <a:t>	</a:t>
            </a:r>
            <a:r>
              <a:rPr lang="en" b="0" dirty="0" err="1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ChatClient</a:t>
            </a:r>
            <a:r>
              <a:rPr lang="en" b="0" dirty="0" err="1">
                <a:effectLst/>
                <a:latin typeface="Andale Mono" panose="020B0509000000000004" pitchFamily="49" charset="0"/>
              </a:rPr>
              <a:t>.</a:t>
            </a:r>
            <a:r>
              <a:rPr lang="en" b="0" dirty="0" err="1">
                <a:solidFill>
                  <a:schemeClr val="accent2"/>
                </a:solidFill>
                <a:effectLst/>
                <a:latin typeface="Andale Mono" panose="020B0509000000000004" pitchFamily="49" charset="0"/>
              </a:rPr>
              <a:t>class</a:t>
            </a:r>
            <a:r>
              <a:rPr lang="en" b="0" dirty="0">
                <a:effectLst/>
                <a:latin typeface="Andale Mono" panose="020B0509000000000004" pitchFamily="49" charset="0"/>
              </a:rPr>
              <a:t>,</a:t>
            </a:r>
          </a:p>
          <a:p>
            <a:r>
              <a:rPr lang="ru-RU" b="0" dirty="0">
                <a:effectLst/>
                <a:latin typeface="Andale Mono" panose="020B0509000000000004" pitchFamily="49" charset="0"/>
              </a:rPr>
              <a:t>	</a:t>
            </a:r>
            <a:r>
              <a:rPr lang="en" b="0" dirty="0" err="1">
                <a:solidFill>
                  <a:srgbClr val="7030A0"/>
                </a:solidFill>
                <a:effectLst/>
                <a:latin typeface="Andale Mono" panose="020B0509000000000004" pitchFamily="49" charset="0"/>
              </a:rPr>
              <a:t>URI.create</a:t>
            </a:r>
            <a:r>
              <a:rPr lang="en" b="0" dirty="0">
                <a:effectLst/>
                <a:latin typeface="Andale Mono" panose="020B0509000000000004" pitchFamily="49" charset="0"/>
              </a:rPr>
              <a:t>(</a:t>
            </a:r>
            <a:r>
              <a:rPr lang="en" b="0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" b="0" dirty="0" err="1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ws</a:t>
            </a:r>
            <a:r>
              <a:rPr lang="en" b="0" dirty="0">
                <a:solidFill>
                  <a:schemeClr val="accent6"/>
                </a:solidFill>
                <a:effectLst/>
                <a:latin typeface="Andale Mono" panose="020B0509000000000004" pitchFamily="49" charset="0"/>
              </a:rPr>
              <a:t>://localhost:8080/chat"</a:t>
            </a:r>
            <a:r>
              <a:rPr lang="en" b="0" dirty="0">
                <a:effectLst/>
                <a:latin typeface="Andale Mono" panose="020B0509000000000004" pitchFamily="49" charset="0"/>
              </a:rPr>
              <a:t>)</a:t>
            </a:r>
          </a:p>
          <a:p>
            <a:r>
              <a:rPr lang="en" b="0" dirty="0">
                <a:effectLst/>
                <a:latin typeface="Andale Mono" panose="020B0509000000000004" pitchFamily="49" charset="0"/>
              </a:rPr>
              <a:t>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B8936-E508-C027-0ADB-296F28B73686}"/>
              </a:ext>
            </a:extLst>
          </p:cNvPr>
          <p:cNvSpPr txBox="1"/>
          <p:nvPr/>
        </p:nvSpPr>
        <p:spPr>
          <a:xfrm>
            <a:off x="2937014" y="126948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i="0" u="none" strike="noStrike" dirty="0">
                <a:solidFill>
                  <a:srgbClr val="000000"/>
                </a:solidFill>
                <a:effectLst/>
              </a:rPr>
              <a:t>Подключение к серверу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4479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B2AA9-B986-533A-77E3-CB0E2D61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3226" cy="1325563"/>
          </a:xfrm>
        </p:spPr>
        <p:txBody>
          <a:bodyPr/>
          <a:lstStyle/>
          <a:p>
            <a:r>
              <a:rPr lang="ru-RU" b="1" dirty="0"/>
              <a:t>Многопоточность и управление сессиями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A0AC8-3CDF-16D0-F69F-A091F860BE50}"/>
              </a:ext>
            </a:extLst>
          </p:cNvPr>
          <p:cNvSpPr txBox="1"/>
          <p:nvPr/>
        </p:nvSpPr>
        <p:spPr>
          <a:xfrm>
            <a:off x="838200" y="1635197"/>
            <a:ext cx="29154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</a:rPr>
              <a:t>Хранение активных сессий</a:t>
            </a:r>
            <a:endParaRPr lang="ru-RU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3474A-91DE-02F9-5F1B-F88028337553}"/>
              </a:ext>
            </a:extLst>
          </p:cNvPr>
          <p:cNvSpPr txBox="1"/>
          <p:nvPr/>
        </p:nvSpPr>
        <p:spPr>
          <a:xfrm>
            <a:off x="3949148" y="1690688"/>
            <a:ext cx="7580243" cy="307777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private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</a:rPr>
              <a:t>static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</a:rPr>
              <a:t>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Set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</a:rPr>
              <a:t>&lt;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</a:rPr>
              <a:t>&gt;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</a:rPr>
              <a:t>sessions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</a:rPr>
              <a:t> =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</a:rPr>
              <a:t>ConcurrentHashMap.newKeySet</a:t>
            </a:r>
            <a:r>
              <a:rPr lang="ru-RU" sz="1400" dirty="0">
                <a:latin typeface="Andale Mono" panose="020B0509000000000004" pitchFamily="49" charset="0"/>
              </a:rPr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79CA1-7BDC-C8FA-E53C-285B776107DD}"/>
              </a:ext>
            </a:extLst>
          </p:cNvPr>
          <p:cNvSpPr txBox="1"/>
          <p:nvPr/>
        </p:nvSpPr>
        <p:spPr>
          <a:xfrm>
            <a:off x="838200" y="2136338"/>
            <a:ext cx="31109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u="none" strike="noStrike" dirty="0">
                <a:solidFill>
                  <a:srgbClr val="000000"/>
                </a:solidFill>
                <a:effectLst/>
              </a:rPr>
              <a:t>Добавление и удаление клиентов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89C76-DB1E-DE5F-16D2-B6E04AEF90E9}"/>
              </a:ext>
            </a:extLst>
          </p:cNvPr>
          <p:cNvSpPr txBox="1"/>
          <p:nvPr/>
        </p:nvSpPr>
        <p:spPr>
          <a:xfrm>
            <a:off x="3949147" y="2136338"/>
            <a:ext cx="7580243" cy="2031325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@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OnOpen</a:t>
            </a:r>
            <a:endParaRPr lang="ru-RU" sz="1400" dirty="0">
              <a:solidFill>
                <a:srgbClr val="7030A0"/>
              </a:solidFill>
              <a:latin typeface="Andale Mono" panose="020B0509000000000004" pitchFamily="49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public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void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onOpen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) {</a:t>
            </a:r>
          </a:p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  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sessions.add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}</a:t>
            </a:r>
          </a:p>
          <a:p>
            <a:endParaRPr lang="ru-RU" sz="1400" dirty="0">
              <a:latin typeface="Andale Mono" panose="020B0509000000000004" pitchFamily="49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@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OnClose</a:t>
            </a:r>
            <a:endParaRPr lang="ru-RU" sz="1400" dirty="0">
              <a:solidFill>
                <a:srgbClr val="7030A0"/>
              </a:solidFill>
              <a:latin typeface="Andale Mono" panose="020B0509000000000004" pitchFamily="49" charset="0"/>
              <a:cs typeface="Times New Roman" panose="02020603050405020304" pitchFamily="18" charset="0"/>
            </a:endParaRPr>
          </a:p>
          <a:p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public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void</a:t>
            </a:r>
            <a:r>
              <a:rPr lang="ru-RU" sz="1400" dirty="0">
                <a:solidFill>
                  <a:schemeClr val="accent2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onClose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) {</a:t>
            </a:r>
          </a:p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    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sessions.remove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session</a:t>
            </a:r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ru-RU" sz="1400" dirty="0">
                <a:solidFill>
                  <a:srgbClr val="7030A0"/>
                </a:solidFill>
                <a:latin typeface="Andale Mono" panose="020B05090000000000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3DC357-C657-DAB3-E194-73FDF87A6A78}"/>
              </a:ext>
            </a:extLst>
          </p:cNvPr>
          <p:cNvSpPr txBox="1"/>
          <p:nvPr/>
        </p:nvSpPr>
        <p:spPr>
          <a:xfrm>
            <a:off x="3949147" y="4409158"/>
            <a:ext cx="7580242" cy="1349087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en" sz="14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private void </a:t>
            </a:r>
            <a: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broadcast(String message) {</a:t>
            </a:r>
            <a:br>
              <a:rPr lang="en" sz="1400" b="0" dirty="0">
                <a:effectLst/>
                <a:latin typeface="Menlo" panose="020B0609030804020204" pitchFamily="49" charset="0"/>
              </a:rPr>
            </a:br>
            <a:r>
              <a:rPr lang="ru-RU" sz="1400" dirty="0">
                <a:latin typeface="Menlo" panose="020B0609030804020204" pitchFamily="49" charset="0"/>
              </a:rPr>
              <a:t>    </a:t>
            </a:r>
            <a:r>
              <a:rPr lang="en" sz="14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sz="1400" b="0" dirty="0">
                <a:effectLst/>
                <a:latin typeface="Menlo" panose="020B0609030804020204" pitchFamily="49" charset="0"/>
              </a:rPr>
              <a:t> </a:t>
            </a:r>
            <a: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(Session session : sessions) {</a:t>
            </a:r>
            <a:br>
              <a:rPr lang="en" sz="1400" b="0" dirty="0">
                <a:effectLst/>
                <a:latin typeface="Menlo" panose="020B0609030804020204" pitchFamily="49" charset="0"/>
              </a:rPr>
            </a:br>
            <a:r>
              <a:rPr lang="ru-RU" sz="1400" b="0" dirty="0">
                <a:effectLst/>
                <a:latin typeface="Menlo" panose="020B0609030804020204" pitchFamily="49" charset="0"/>
              </a:rPr>
              <a:t>	</a:t>
            </a:r>
            <a:r>
              <a:rPr lang="en" sz="1400" b="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sz="1400" b="0" dirty="0">
                <a:effectLst/>
                <a:latin typeface="Menlo" panose="020B0609030804020204" pitchFamily="49" charset="0"/>
              </a:rPr>
              <a:t> (</a:t>
            </a:r>
            <a:r>
              <a:rPr lang="en" sz="1400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session.isOpen</a:t>
            </a:r>
            <a: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()) {</a:t>
            </a:r>
            <a:b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</a:br>
            <a:r>
              <a:rPr lang="ru-RU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	     </a:t>
            </a:r>
            <a:r>
              <a:rPr lang="en" sz="1400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session.getAsyncRemote</a:t>
            </a:r>
            <a: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().</a:t>
            </a:r>
            <a:r>
              <a:rPr lang="en" sz="1400" b="0" dirty="0" err="1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sendText</a:t>
            </a:r>
            <a:r>
              <a:rPr lang="en" sz="1400" b="0" dirty="0">
                <a:solidFill>
                  <a:srgbClr val="7030A0"/>
                </a:solidFill>
                <a:effectLst/>
                <a:latin typeface="Menlo" panose="020B0609030804020204" pitchFamily="49" charset="0"/>
              </a:rPr>
              <a:t>(message);</a:t>
            </a:r>
          </a:p>
          <a:p>
            <a:pPr lvl="1">
              <a:lnSpc>
                <a:spcPts val="1350"/>
              </a:lnSpc>
            </a:pPr>
            <a:r>
              <a:rPr lang="en" sz="1400" b="0" dirty="0"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r>
              <a:rPr lang="en" sz="1400" b="0" dirty="0"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r>
              <a:rPr lang="en" sz="1400" b="0" dirty="0"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4FBF74-17D0-E1CF-B1BD-C214B103A0EE}"/>
              </a:ext>
            </a:extLst>
          </p:cNvPr>
          <p:cNvSpPr txBox="1"/>
          <p:nvPr/>
        </p:nvSpPr>
        <p:spPr>
          <a:xfrm>
            <a:off x="838200" y="4409158"/>
            <a:ext cx="26239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0" i="0" u="none" strike="noStrike" dirty="0">
                <a:solidFill>
                  <a:srgbClr val="000000"/>
                </a:solidFill>
                <a:effectLst/>
              </a:rPr>
              <a:t>Broadcast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</a:rPr>
              <a:t>сообщений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23081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550</Words>
  <Application>Microsoft Macintosh PowerPoint</Application>
  <PresentationFormat>Широкоэкранный</PresentationFormat>
  <Paragraphs>120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-webkit-standard</vt:lpstr>
      <vt:lpstr>Andale Mono</vt:lpstr>
      <vt:lpstr>Aptos</vt:lpstr>
      <vt:lpstr>Aptos Display</vt:lpstr>
      <vt:lpstr>Arial</vt:lpstr>
      <vt:lpstr>Menlo</vt:lpstr>
      <vt:lpstr>Тема Office</vt:lpstr>
      <vt:lpstr>WebSocket API</vt:lpstr>
      <vt:lpstr>Что такое WebSocket?</vt:lpstr>
      <vt:lpstr>Презентация PowerPoint</vt:lpstr>
      <vt:lpstr>WebSocket</vt:lpstr>
      <vt:lpstr>WebSocket API в Java</vt:lpstr>
      <vt:lpstr>Создание WebSocket-сервера</vt:lpstr>
      <vt:lpstr>Презентация PowerPoint</vt:lpstr>
      <vt:lpstr>Многопоточность и управление сессиями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peresofka@outlook.com</dc:creator>
  <cp:lastModifiedBy>peresofka@outlook.com</cp:lastModifiedBy>
  <cp:revision>4</cp:revision>
  <dcterms:created xsi:type="dcterms:W3CDTF">2026-05-24T20:18:03Z</dcterms:created>
  <dcterms:modified xsi:type="dcterms:W3CDTF">2026-05-25T00:06:03Z</dcterms:modified>
</cp:coreProperties>
</file>